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sldIdLst>
    <p:sldId id="256" r:id="rId5"/>
    <p:sldId id="261" r:id="rId6"/>
    <p:sldId id="262" r:id="rId7"/>
    <p:sldId id="264" r:id="rId8"/>
    <p:sldId id="266" r:id="rId9"/>
    <p:sldId id="290" r:id="rId10"/>
    <p:sldId id="257" r:id="rId11"/>
    <p:sldId id="263" r:id="rId12"/>
    <p:sldId id="260" r:id="rId13"/>
    <p:sldId id="259" r:id="rId14"/>
    <p:sldId id="267" r:id="rId15"/>
    <p:sldId id="258" r:id="rId16"/>
    <p:sldId id="278" r:id="rId17"/>
    <p:sldId id="289" r:id="rId18"/>
    <p:sldId id="287" r:id="rId19"/>
    <p:sldId id="276" r:id="rId20"/>
    <p:sldId id="291" r:id="rId21"/>
    <p:sldId id="279" r:id="rId22"/>
    <p:sldId id="280" r:id="rId23"/>
    <p:sldId id="281" r:id="rId24"/>
    <p:sldId id="282" r:id="rId25"/>
    <p:sldId id="283" r:id="rId26"/>
    <p:sldId id="265" r:id="rId27"/>
    <p:sldId id="28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AD01229-A461-6E3F-A0F0-2380A4A60596}" name="Jau-Chian Pan" initials="JCP" userId="S::PANJ24@myunitec.ac.nz::fd9a2eee-c658-410b-a1ac-98d61e0fdc8a" providerId="AD"/>
  <p188:author id="{C01FACC5-7F5E-798C-2217-64AB1CBDC9EA}" name="Hanla Baek" initials="HB" userId="S::BAEKH05@myunitec.ac.nz::d8f69271-4278-436f-9293-355a0c7e1f5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57575"/>
    <a:srgbClr val="4D7EB5"/>
    <a:srgbClr val="83A0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646" autoAdjust="0"/>
  </p:normalViewPr>
  <p:slideViewPr>
    <p:cSldViewPr snapToGrid="0">
      <p:cViewPr varScale="1">
        <p:scale>
          <a:sx n="59" d="100"/>
          <a:sy n="59" d="100"/>
        </p:scale>
        <p:origin x="108" y="5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68B521-E279-45C6-B534-4295602F421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36F17D9-96A5-4CE2-8C97-690034C41A5C}">
      <dgm:prSet/>
      <dgm:spPr/>
      <dgm:t>
        <a:bodyPr/>
        <a:lstStyle/>
        <a:p>
          <a:pPr>
            <a:lnSpc>
              <a:spcPct val="100000"/>
            </a:lnSpc>
          </a:pPr>
          <a:r>
            <a:rPr lang="en-NZ"/>
            <a:t>This report was created at the request of 'Models Sales Company', and a database was developed that allows sales department managers to centralize access to all data and perform data analysis. </a:t>
          </a:r>
          <a:endParaRPr lang="en-US"/>
        </a:p>
      </dgm:t>
    </dgm:pt>
    <dgm:pt modelId="{23BC5147-30E4-47BA-874A-5357E04EB9ED}" type="parTrans" cxnId="{3290731A-210D-4D0E-94E3-F8216FBDDFBE}">
      <dgm:prSet/>
      <dgm:spPr/>
      <dgm:t>
        <a:bodyPr/>
        <a:lstStyle/>
        <a:p>
          <a:endParaRPr lang="en-US"/>
        </a:p>
      </dgm:t>
    </dgm:pt>
    <dgm:pt modelId="{6EC16596-8180-41B5-AC2F-4F32C61D0F0D}" type="sibTrans" cxnId="{3290731A-210D-4D0E-94E3-F8216FBDDFBE}">
      <dgm:prSet/>
      <dgm:spPr/>
      <dgm:t>
        <a:bodyPr/>
        <a:lstStyle/>
        <a:p>
          <a:endParaRPr lang="en-US"/>
        </a:p>
      </dgm:t>
    </dgm:pt>
    <dgm:pt modelId="{35AE37CA-3013-48A2-928C-8C4B1458BA3B}">
      <dgm:prSet/>
      <dgm:spPr/>
      <dgm:t>
        <a:bodyPr/>
        <a:lstStyle/>
        <a:p>
          <a:pPr>
            <a:lnSpc>
              <a:spcPct val="100000"/>
            </a:lnSpc>
          </a:pPr>
          <a:r>
            <a:rPr lang="en-NZ" dirty="0"/>
            <a:t>This data warehouse includes the values of Total Price, Total Profit, and Total Possible Profit, and data calls were set up lightly and quickly through Star Schema. Existing data and clean data were extracted and merged through DQLog.</a:t>
          </a:r>
          <a:endParaRPr lang="en-US" dirty="0"/>
        </a:p>
      </dgm:t>
    </dgm:pt>
    <dgm:pt modelId="{FC0059EE-DC03-4FF8-9B16-05674A89485A}" type="parTrans" cxnId="{059BE3DA-4121-4DB8-B21E-6A078AC64DB0}">
      <dgm:prSet/>
      <dgm:spPr/>
      <dgm:t>
        <a:bodyPr/>
        <a:lstStyle/>
        <a:p>
          <a:endParaRPr lang="en-US"/>
        </a:p>
      </dgm:t>
    </dgm:pt>
    <dgm:pt modelId="{C6EAE440-5BE0-42D6-A1AD-3682CC40838C}" type="sibTrans" cxnId="{059BE3DA-4121-4DB8-B21E-6A078AC64DB0}">
      <dgm:prSet/>
      <dgm:spPr/>
      <dgm:t>
        <a:bodyPr/>
        <a:lstStyle/>
        <a:p>
          <a:endParaRPr lang="en-US"/>
        </a:p>
      </dgm:t>
    </dgm:pt>
    <dgm:pt modelId="{3E19D540-B43D-4772-AC16-6389399C07C2}" type="pres">
      <dgm:prSet presAssocID="{1268B521-E279-45C6-B534-4295602F421F}" presName="root" presStyleCnt="0">
        <dgm:presLayoutVars>
          <dgm:dir/>
          <dgm:resizeHandles val="exact"/>
        </dgm:presLayoutVars>
      </dgm:prSet>
      <dgm:spPr/>
    </dgm:pt>
    <dgm:pt modelId="{08A8D2B0-D6B7-4ECA-BC2C-AB013E842474}" type="pres">
      <dgm:prSet presAssocID="{E36F17D9-96A5-4CE2-8C97-690034C41A5C}" presName="compNode" presStyleCnt="0"/>
      <dgm:spPr/>
    </dgm:pt>
    <dgm:pt modelId="{93792A84-9AF5-4A97-9A2D-D82345FC4416}" type="pres">
      <dgm:prSet presAssocID="{E36F17D9-96A5-4CE2-8C97-690034C41A5C}" presName="bgRect" presStyleLbl="bgShp" presStyleIdx="0" presStyleCnt="2"/>
      <dgm:spPr/>
    </dgm:pt>
    <dgm:pt modelId="{116D7F01-6F7D-4513-8933-CFC1BE5649DB}" type="pres">
      <dgm:prSet presAssocID="{E36F17D9-96A5-4CE2-8C97-690034C41A5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7429CCA0-1A56-4C0B-BF4C-4106F17448DF}" type="pres">
      <dgm:prSet presAssocID="{E36F17D9-96A5-4CE2-8C97-690034C41A5C}" presName="spaceRect" presStyleCnt="0"/>
      <dgm:spPr/>
    </dgm:pt>
    <dgm:pt modelId="{463CAA8A-5D38-4093-A13B-309C9BF1FDA5}" type="pres">
      <dgm:prSet presAssocID="{E36F17D9-96A5-4CE2-8C97-690034C41A5C}" presName="parTx" presStyleLbl="revTx" presStyleIdx="0" presStyleCnt="2">
        <dgm:presLayoutVars>
          <dgm:chMax val="0"/>
          <dgm:chPref val="0"/>
        </dgm:presLayoutVars>
      </dgm:prSet>
      <dgm:spPr/>
    </dgm:pt>
    <dgm:pt modelId="{EA178BEA-5087-43A3-8E3C-9736413885B9}" type="pres">
      <dgm:prSet presAssocID="{6EC16596-8180-41B5-AC2F-4F32C61D0F0D}" presName="sibTrans" presStyleCnt="0"/>
      <dgm:spPr/>
    </dgm:pt>
    <dgm:pt modelId="{D019ABA4-E6E4-4335-BBBE-F660FB901497}" type="pres">
      <dgm:prSet presAssocID="{35AE37CA-3013-48A2-928C-8C4B1458BA3B}" presName="compNode" presStyleCnt="0"/>
      <dgm:spPr/>
    </dgm:pt>
    <dgm:pt modelId="{51362070-8997-4BC8-AE4C-844C6BC25439}" type="pres">
      <dgm:prSet presAssocID="{35AE37CA-3013-48A2-928C-8C4B1458BA3B}" presName="bgRect" presStyleLbl="bgShp" presStyleIdx="1" presStyleCnt="2"/>
      <dgm:spPr/>
    </dgm:pt>
    <dgm:pt modelId="{5D305154-8AB3-42AF-B582-3E7BD8F3FD6F}" type="pres">
      <dgm:prSet presAssocID="{35AE37CA-3013-48A2-928C-8C4B1458BA3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7D07B041-9E1A-42E2-8B62-1EC8DD092E90}" type="pres">
      <dgm:prSet presAssocID="{35AE37CA-3013-48A2-928C-8C4B1458BA3B}" presName="spaceRect" presStyleCnt="0"/>
      <dgm:spPr/>
    </dgm:pt>
    <dgm:pt modelId="{033BD9EB-C5B5-4853-8227-2D6D2600444E}" type="pres">
      <dgm:prSet presAssocID="{35AE37CA-3013-48A2-928C-8C4B1458BA3B}" presName="parTx" presStyleLbl="revTx" presStyleIdx="1" presStyleCnt="2">
        <dgm:presLayoutVars>
          <dgm:chMax val="0"/>
          <dgm:chPref val="0"/>
        </dgm:presLayoutVars>
      </dgm:prSet>
      <dgm:spPr/>
    </dgm:pt>
  </dgm:ptLst>
  <dgm:cxnLst>
    <dgm:cxn modelId="{3290731A-210D-4D0E-94E3-F8216FBDDFBE}" srcId="{1268B521-E279-45C6-B534-4295602F421F}" destId="{E36F17D9-96A5-4CE2-8C97-690034C41A5C}" srcOrd="0" destOrd="0" parTransId="{23BC5147-30E4-47BA-874A-5357E04EB9ED}" sibTransId="{6EC16596-8180-41B5-AC2F-4F32C61D0F0D}"/>
    <dgm:cxn modelId="{2162D25F-6BFB-4BC7-AD13-DDE8A0416659}" type="presOf" srcId="{35AE37CA-3013-48A2-928C-8C4B1458BA3B}" destId="{033BD9EB-C5B5-4853-8227-2D6D2600444E}" srcOrd="0" destOrd="0" presId="urn:microsoft.com/office/officeart/2018/2/layout/IconVerticalSolidList"/>
    <dgm:cxn modelId="{059BE3DA-4121-4DB8-B21E-6A078AC64DB0}" srcId="{1268B521-E279-45C6-B534-4295602F421F}" destId="{35AE37CA-3013-48A2-928C-8C4B1458BA3B}" srcOrd="1" destOrd="0" parTransId="{FC0059EE-DC03-4FF8-9B16-05674A89485A}" sibTransId="{C6EAE440-5BE0-42D6-A1AD-3682CC40838C}"/>
    <dgm:cxn modelId="{26C637DB-D2CC-4F12-92CD-2C0AF720B8CC}" type="presOf" srcId="{E36F17D9-96A5-4CE2-8C97-690034C41A5C}" destId="{463CAA8A-5D38-4093-A13B-309C9BF1FDA5}" srcOrd="0" destOrd="0" presId="urn:microsoft.com/office/officeart/2018/2/layout/IconVerticalSolidList"/>
    <dgm:cxn modelId="{1D79F9F1-776A-498A-87F2-C760F1920358}" type="presOf" srcId="{1268B521-E279-45C6-B534-4295602F421F}" destId="{3E19D540-B43D-4772-AC16-6389399C07C2}" srcOrd="0" destOrd="0" presId="urn:microsoft.com/office/officeart/2018/2/layout/IconVerticalSolidList"/>
    <dgm:cxn modelId="{86ABEAA8-C733-462D-A01B-535912F4B554}" type="presParOf" srcId="{3E19D540-B43D-4772-AC16-6389399C07C2}" destId="{08A8D2B0-D6B7-4ECA-BC2C-AB013E842474}" srcOrd="0" destOrd="0" presId="urn:microsoft.com/office/officeart/2018/2/layout/IconVerticalSolidList"/>
    <dgm:cxn modelId="{BEB60F79-0019-409F-814A-7C2DEF2354EB}" type="presParOf" srcId="{08A8D2B0-D6B7-4ECA-BC2C-AB013E842474}" destId="{93792A84-9AF5-4A97-9A2D-D82345FC4416}" srcOrd="0" destOrd="0" presId="urn:microsoft.com/office/officeart/2018/2/layout/IconVerticalSolidList"/>
    <dgm:cxn modelId="{2AE18138-0217-45A7-B831-E7422A65815D}" type="presParOf" srcId="{08A8D2B0-D6B7-4ECA-BC2C-AB013E842474}" destId="{116D7F01-6F7D-4513-8933-CFC1BE5649DB}" srcOrd="1" destOrd="0" presId="urn:microsoft.com/office/officeart/2018/2/layout/IconVerticalSolidList"/>
    <dgm:cxn modelId="{0A9B9C31-70BF-4CA1-A184-0532DB5B1F32}" type="presParOf" srcId="{08A8D2B0-D6B7-4ECA-BC2C-AB013E842474}" destId="{7429CCA0-1A56-4C0B-BF4C-4106F17448DF}" srcOrd="2" destOrd="0" presId="urn:microsoft.com/office/officeart/2018/2/layout/IconVerticalSolidList"/>
    <dgm:cxn modelId="{244EE346-6844-43E5-A0EE-2E007C7136FE}" type="presParOf" srcId="{08A8D2B0-D6B7-4ECA-BC2C-AB013E842474}" destId="{463CAA8A-5D38-4093-A13B-309C9BF1FDA5}" srcOrd="3" destOrd="0" presId="urn:microsoft.com/office/officeart/2018/2/layout/IconVerticalSolidList"/>
    <dgm:cxn modelId="{6BC79896-7AE2-4A29-B809-5B49BF2E9B42}" type="presParOf" srcId="{3E19D540-B43D-4772-AC16-6389399C07C2}" destId="{EA178BEA-5087-43A3-8E3C-9736413885B9}" srcOrd="1" destOrd="0" presId="urn:microsoft.com/office/officeart/2018/2/layout/IconVerticalSolidList"/>
    <dgm:cxn modelId="{44D65042-2571-4066-BD6E-93E7C027DD80}" type="presParOf" srcId="{3E19D540-B43D-4772-AC16-6389399C07C2}" destId="{D019ABA4-E6E4-4335-BBBE-F660FB901497}" srcOrd="2" destOrd="0" presId="urn:microsoft.com/office/officeart/2018/2/layout/IconVerticalSolidList"/>
    <dgm:cxn modelId="{2E0017C1-737E-40A1-BAA8-C017AEE795B5}" type="presParOf" srcId="{D019ABA4-E6E4-4335-BBBE-F660FB901497}" destId="{51362070-8997-4BC8-AE4C-844C6BC25439}" srcOrd="0" destOrd="0" presId="urn:microsoft.com/office/officeart/2018/2/layout/IconVerticalSolidList"/>
    <dgm:cxn modelId="{ED787A3A-481B-4038-A14D-298E28814B0C}" type="presParOf" srcId="{D019ABA4-E6E4-4335-BBBE-F660FB901497}" destId="{5D305154-8AB3-42AF-B582-3E7BD8F3FD6F}" srcOrd="1" destOrd="0" presId="urn:microsoft.com/office/officeart/2018/2/layout/IconVerticalSolidList"/>
    <dgm:cxn modelId="{90207951-B2E1-443C-A87C-9B7FF6A7831C}" type="presParOf" srcId="{D019ABA4-E6E4-4335-BBBE-F660FB901497}" destId="{7D07B041-9E1A-42E2-8B62-1EC8DD092E90}" srcOrd="2" destOrd="0" presId="urn:microsoft.com/office/officeart/2018/2/layout/IconVerticalSolidList"/>
    <dgm:cxn modelId="{1CB24862-216C-42C2-A395-40D83A8E0B00}" type="presParOf" srcId="{D019ABA4-E6E4-4335-BBBE-F660FB901497}" destId="{033BD9EB-C5B5-4853-8227-2D6D2600444E}"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92A84-9AF5-4A97-9A2D-D82345FC4416}">
      <dsp:nvSpPr>
        <dsp:cNvPr id="0" name=""/>
        <dsp:cNvSpPr/>
      </dsp:nvSpPr>
      <dsp:spPr>
        <a:xfrm>
          <a:off x="0" y="686182"/>
          <a:ext cx="11906655" cy="12667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6D7F01-6F7D-4513-8933-CFC1BE5649DB}">
      <dsp:nvSpPr>
        <dsp:cNvPr id="0" name=""/>
        <dsp:cNvSpPr/>
      </dsp:nvSpPr>
      <dsp:spPr>
        <a:xfrm>
          <a:off x="383206" y="971212"/>
          <a:ext cx="696739" cy="6967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3CAA8A-5D38-4093-A13B-309C9BF1FDA5}">
      <dsp:nvSpPr>
        <dsp:cNvPr id="0" name=""/>
        <dsp:cNvSpPr/>
      </dsp:nvSpPr>
      <dsp:spPr>
        <a:xfrm>
          <a:off x="1463152" y="686182"/>
          <a:ext cx="10443502" cy="1266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070" tIns="134070" rIns="134070" bIns="134070" numCol="1" spcCol="1270" anchor="ctr" anchorCtr="0">
          <a:noAutofit/>
        </a:bodyPr>
        <a:lstStyle/>
        <a:p>
          <a:pPr marL="0" lvl="0" indent="0" algn="l" defTabSz="933450">
            <a:lnSpc>
              <a:spcPct val="100000"/>
            </a:lnSpc>
            <a:spcBef>
              <a:spcPct val="0"/>
            </a:spcBef>
            <a:spcAft>
              <a:spcPct val="35000"/>
            </a:spcAft>
            <a:buNone/>
          </a:pPr>
          <a:r>
            <a:rPr lang="en-NZ" sz="2100" kern="1200"/>
            <a:t>This report was created at the request of 'Models Sales Company', and a database was developed that allows sales department managers to centralize access to all data and perform data analysis. </a:t>
          </a:r>
          <a:endParaRPr lang="en-US" sz="2100" kern="1200"/>
        </a:p>
      </dsp:txBody>
      <dsp:txXfrm>
        <a:off x="1463152" y="686182"/>
        <a:ext cx="10443502" cy="1266798"/>
      </dsp:txXfrm>
    </dsp:sp>
    <dsp:sp modelId="{51362070-8997-4BC8-AE4C-844C6BC25439}">
      <dsp:nvSpPr>
        <dsp:cNvPr id="0" name=""/>
        <dsp:cNvSpPr/>
      </dsp:nvSpPr>
      <dsp:spPr>
        <a:xfrm>
          <a:off x="0" y="2269680"/>
          <a:ext cx="11906655" cy="12667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305154-8AB3-42AF-B582-3E7BD8F3FD6F}">
      <dsp:nvSpPr>
        <dsp:cNvPr id="0" name=""/>
        <dsp:cNvSpPr/>
      </dsp:nvSpPr>
      <dsp:spPr>
        <a:xfrm>
          <a:off x="383206" y="2554710"/>
          <a:ext cx="696739" cy="6967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3BD9EB-C5B5-4853-8227-2D6D2600444E}">
      <dsp:nvSpPr>
        <dsp:cNvPr id="0" name=""/>
        <dsp:cNvSpPr/>
      </dsp:nvSpPr>
      <dsp:spPr>
        <a:xfrm>
          <a:off x="1463152" y="2269680"/>
          <a:ext cx="10443502" cy="1266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070" tIns="134070" rIns="134070" bIns="134070" numCol="1" spcCol="1270" anchor="ctr" anchorCtr="0">
          <a:noAutofit/>
        </a:bodyPr>
        <a:lstStyle/>
        <a:p>
          <a:pPr marL="0" lvl="0" indent="0" algn="l" defTabSz="933450">
            <a:lnSpc>
              <a:spcPct val="100000"/>
            </a:lnSpc>
            <a:spcBef>
              <a:spcPct val="0"/>
            </a:spcBef>
            <a:spcAft>
              <a:spcPct val="35000"/>
            </a:spcAft>
            <a:buNone/>
          </a:pPr>
          <a:r>
            <a:rPr lang="en-NZ" sz="2100" kern="1200" dirty="0"/>
            <a:t>This data warehouse includes the values of Total Price, Total Profit, and Total Possible Profit, and data calls were set up lightly and quickly through Star Schema. Existing data and clean data were extracted and merged through DQLog.</a:t>
          </a:r>
          <a:endParaRPr lang="en-US" sz="2100" kern="1200" dirty="0"/>
        </a:p>
      </dsp:txBody>
      <dsp:txXfrm>
        <a:off x="1463152" y="2269680"/>
        <a:ext cx="10443502" cy="126679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62CC33-835E-4C68-8B9A-F4533AB81281}" type="datetimeFigureOut">
              <a:rPr lang="en-NZ" smtClean="0"/>
              <a:t>21/05/2024</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AF86CD-C0D1-4B40-8FCE-F7FC3645DD43}" type="slidenum">
              <a:rPr lang="en-NZ" smtClean="0"/>
              <a:t>‹#›</a:t>
            </a:fld>
            <a:endParaRPr lang="en-NZ"/>
          </a:p>
        </p:txBody>
      </p:sp>
    </p:spTree>
    <p:extLst>
      <p:ext uri="{BB962C8B-B14F-4D97-AF65-F5344CB8AC3E}">
        <p14:creationId xmlns:p14="http://schemas.microsoft.com/office/powerpoint/2010/main" val="3527081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b="1" dirty="0"/>
              <a:t>Advantages of star schema</a:t>
            </a:r>
          </a:p>
          <a:p>
            <a:pPr marL="171450" indent="-171450">
              <a:buFontTx/>
              <a:buChar char="-"/>
            </a:pPr>
            <a:r>
              <a:rPr lang="en-NZ" dirty="0"/>
              <a:t>Simplified Queries</a:t>
            </a:r>
          </a:p>
          <a:p>
            <a:pPr marL="628650" lvl="1" indent="-171450">
              <a:buFontTx/>
              <a:buChar char="-"/>
            </a:pPr>
            <a:r>
              <a:rPr lang="en-NZ" dirty="0"/>
              <a:t>Simple structure with a central fact table and a related dimension tables, making it easier for analysis to write </a:t>
            </a:r>
          </a:p>
          <a:p>
            <a:pPr marL="171450" indent="-171450">
              <a:buFontTx/>
              <a:buChar char="-"/>
            </a:pPr>
            <a:r>
              <a:rPr lang="en-NZ" dirty="0"/>
              <a:t>Improved query performance</a:t>
            </a:r>
          </a:p>
          <a:p>
            <a:pPr marL="628650" lvl="1" indent="-171450">
              <a:buFontTx/>
              <a:buChar char="-"/>
            </a:pPr>
            <a:r>
              <a:rPr lang="en-NZ" dirty="0"/>
              <a:t>The non-n</a:t>
            </a:r>
            <a:r>
              <a:rPr lang="en-NZ" b="0" i="0" dirty="0">
                <a:solidFill>
                  <a:srgbClr val="000000"/>
                </a:solidFill>
                <a:effectLst/>
                <a:highlight>
                  <a:srgbClr val="FDFDFD"/>
                </a:highlight>
                <a:latin typeface="noto"/>
              </a:rPr>
              <a:t>ormalized</a:t>
            </a:r>
            <a:r>
              <a:rPr lang="en-NZ" dirty="0"/>
              <a:t> nature of the star schema implies that fewer joining are required between tables compared to the n</a:t>
            </a:r>
            <a:r>
              <a:rPr lang="en-NZ" b="0" i="0" dirty="0">
                <a:solidFill>
                  <a:srgbClr val="000000"/>
                </a:solidFill>
                <a:effectLst/>
                <a:highlight>
                  <a:srgbClr val="FDFDFD"/>
                </a:highlight>
                <a:latin typeface="noto"/>
              </a:rPr>
              <a:t>ormalized</a:t>
            </a:r>
            <a:r>
              <a:rPr lang="en-NZ" dirty="0"/>
              <a:t> schema, which reduces query complexity and significantly improves query performance.</a:t>
            </a:r>
          </a:p>
          <a:p>
            <a:pPr marL="171450" indent="-171450">
              <a:buFontTx/>
              <a:buChar char="-"/>
            </a:pPr>
            <a:r>
              <a:rPr lang="en-NZ" dirty="0"/>
              <a:t>Improved Readable and comprehension</a:t>
            </a:r>
          </a:p>
          <a:p>
            <a:pPr marL="628650" lvl="1" indent="-171450">
              <a:buFontTx/>
              <a:buChar char="-"/>
            </a:pPr>
            <a:r>
              <a:rPr lang="en-NZ" dirty="0"/>
              <a:t>A central fact table surrounded by dimension tables and a clear and intuitive layout of the star schema make data models easy to understand.</a:t>
            </a:r>
          </a:p>
          <a:p>
            <a:pPr marL="171450" indent="-171450">
              <a:buFontTx/>
              <a:buChar char="-"/>
            </a:pPr>
            <a:r>
              <a:rPr lang="en-NZ" dirty="0"/>
              <a:t>Effective Aggregation</a:t>
            </a:r>
          </a:p>
          <a:p>
            <a:pPr marL="628650" lvl="1" indent="-171450">
              <a:buFontTx/>
              <a:buChar char="-"/>
            </a:pPr>
            <a:r>
              <a:rPr lang="en-NZ" dirty="0"/>
              <a:t>Well suited for aggregating large amounts of data. The structures supports efficient roll-up and drill-down operations, making it easier for users to aggregate data at different levels of segmentation.</a:t>
            </a:r>
          </a:p>
          <a:p>
            <a:pPr marL="628650" lvl="1" indent="-171450">
              <a:buFontTx/>
              <a:buChar char="-"/>
            </a:pPr>
            <a:endParaRPr lang="en-NZ" dirty="0"/>
          </a:p>
          <a:p>
            <a:pPr marL="0" marR="0" lvl="0" indent="0" algn="l" defTabSz="914400" rtl="0" eaLnBrk="1" fontAlgn="auto" latinLnBrk="0" hangingPunct="1">
              <a:lnSpc>
                <a:spcPct val="100000"/>
              </a:lnSpc>
              <a:spcBef>
                <a:spcPts val="0"/>
              </a:spcBef>
              <a:spcAft>
                <a:spcPts val="0"/>
              </a:spcAft>
              <a:buClrTx/>
              <a:buSzTx/>
              <a:buFontTx/>
              <a:buNone/>
              <a:tabLst/>
              <a:defRPr/>
            </a:pPr>
            <a:r>
              <a:rPr lang="en-NZ" b="1" dirty="0"/>
              <a:t>Disadvantages of star schema</a:t>
            </a:r>
          </a:p>
          <a:p>
            <a:pPr marL="0" lvl="0" indent="0">
              <a:buFontTx/>
              <a:buNone/>
            </a:pPr>
            <a:endParaRPr lang="en-NZ" b="1" dirty="0"/>
          </a:p>
          <a:p>
            <a:pPr marL="171450" lvl="0" indent="-171450">
              <a:buFontTx/>
              <a:buChar char="-"/>
            </a:pPr>
            <a:r>
              <a:rPr lang="en-NZ" b="0" dirty="0"/>
              <a:t>Data redundancy</a:t>
            </a:r>
          </a:p>
          <a:p>
            <a:pPr marL="628650" lvl="1" indent="-171450">
              <a:buFontTx/>
              <a:buChar char="-"/>
            </a:pPr>
            <a:r>
              <a:rPr lang="en-NZ" b="0" dirty="0"/>
              <a:t>The inherent de-standardization of the star schema can lead to data redundancy.</a:t>
            </a:r>
          </a:p>
          <a:p>
            <a:pPr marL="171450" lvl="0" indent="-171450">
              <a:buFontTx/>
              <a:buChar char="-"/>
            </a:pPr>
            <a:r>
              <a:rPr lang="en-NZ" b="0" dirty="0"/>
              <a:t>Maintenance Complexity</a:t>
            </a:r>
          </a:p>
          <a:p>
            <a:pPr marL="628650" lvl="1" indent="-171450">
              <a:buFontTx/>
              <a:buChar char="-"/>
            </a:pPr>
            <a:r>
              <a:rPr lang="en-NZ" b="0" dirty="0"/>
              <a:t>Changing data requires careful updates across multiple tables, which can complicate data management and increase the likelihood of errors.</a:t>
            </a:r>
          </a:p>
          <a:p>
            <a:pPr marL="171450" lvl="0" indent="-171450">
              <a:buFontTx/>
              <a:buChar char="-"/>
            </a:pPr>
            <a:r>
              <a:rPr lang="en-NZ" b="0" dirty="0"/>
              <a:t>Limited flexibility for complex relationships</a:t>
            </a:r>
          </a:p>
          <a:p>
            <a:pPr marL="628650" lvl="1" indent="-171450">
              <a:buFontTx/>
              <a:buChar char="-"/>
            </a:pPr>
            <a:r>
              <a:rPr lang="en-NZ" b="0" dirty="0"/>
              <a:t> Star schemas are not suitable for representing complex relationships between data objects. Many-to-Many relationship can be challenging in star schema.</a:t>
            </a:r>
          </a:p>
          <a:p>
            <a:pPr marL="171450" lvl="0" indent="-171450">
              <a:buFontTx/>
              <a:buChar char="-"/>
            </a:pPr>
            <a:r>
              <a:rPr lang="en-NZ" b="0" dirty="0"/>
              <a:t>Slowly Changing Dimension(SCD) Handling difficulties</a:t>
            </a:r>
          </a:p>
          <a:p>
            <a:pPr marL="628650" lvl="1" indent="-171450">
              <a:buFontTx/>
              <a:buChar char="-"/>
            </a:pPr>
            <a:r>
              <a:rPr lang="en-NZ" b="0" i="0" dirty="0">
                <a:solidFill>
                  <a:srgbClr val="000000"/>
                </a:solidFill>
                <a:effectLst/>
                <a:highlight>
                  <a:srgbClr val="FDFDFD"/>
                </a:highlight>
                <a:latin typeface="noto"/>
              </a:rPr>
              <a:t>Managing slowly changing dimensions whose dimensional properties change over time can be complex in star schemas. These changes often require special skills and additional structures (e.g., Type 2 SCD), adding complexity to the schema.</a:t>
            </a:r>
          </a:p>
          <a:p>
            <a:pPr marL="171450" lvl="0" indent="-171450">
              <a:buFontTx/>
              <a:buChar char="-"/>
            </a:pPr>
            <a:r>
              <a:rPr lang="en-NZ" b="0" dirty="0" err="1"/>
              <a:t>Compex</a:t>
            </a:r>
            <a:r>
              <a:rPr lang="en-NZ" b="0" dirty="0"/>
              <a:t> ETL processes</a:t>
            </a:r>
          </a:p>
          <a:p>
            <a:pPr marL="628650" lvl="1" indent="-171450">
              <a:buFontTx/>
              <a:buChar char="-"/>
            </a:pPr>
            <a:r>
              <a:rPr lang="en-NZ" b="0" i="0" dirty="0">
                <a:solidFill>
                  <a:srgbClr val="000000"/>
                </a:solidFill>
                <a:effectLst/>
                <a:highlight>
                  <a:srgbClr val="FDFDFD"/>
                </a:highlight>
                <a:latin typeface="noto"/>
              </a:rPr>
              <a:t>The processes required to extract, transform and load data into the star schema can be complex and time consuming. Careful planning and robust processes are required to ensure data quality and consistency during ETL operations.</a:t>
            </a:r>
            <a:endParaRPr lang="en-NZ" b="0" dirty="0"/>
          </a:p>
        </p:txBody>
      </p:sp>
      <p:sp>
        <p:nvSpPr>
          <p:cNvPr id="4" name="Slide Number Placeholder 3"/>
          <p:cNvSpPr>
            <a:spLocks noGrp="1"/>
          </p:cNvSpPr>
          <p:nvPr>
            <p:ph type="sldNum" sz="quarter" idx="5"/>
          </p:nvPr>
        </p:nvSpPr>
        <p:spPr/>
        <p:txBody>
          <a:bodyPr/>
          <a:lstStyle/>
          <a:p>
            <a:fld id="{80AF86CD-C0D1-4B40-8FCE-F7FC3645DD43}" type="slidenum">
              <a:rPr lang="en-NZ" smtClean="0"/>
              <a:t>2</a:t>
            </a:fld>
            <a:endParaRPr lang="en-NZ"/>
          </a:p>
        </p:txBody>
      </p:sp>
    </p:spTree>
    <p:extLst>
      <p:ext uri="{BB962C8B-B14F-4D97-AF65-F5344CB8AC3E}">
        <p14:creationId xmlns:p14="http://schemas.microsoft.com/office/powerpoint/2010/main" val="776018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80AF86CD-C0D1-4B40-8FCE-F7FC3645DD43}" type="slidenum">
              <a:rPr lang="en-NZ" smtClean="0"/>
              <a:t>3</a:t>
            </a:fld>
            <a:endParaRPr lang="en-NZ"/>
          </a:p>
        </p:txBody>
      </p:sp>
    </p:spTree>
    <p:extLst>
      <p:ext uri="{BB962C8B-B14F-4D97-AF65-F5344CB8AC3E}">
        <p14:creationId xmlns:p14="http://schemas.microsoft.com/office/powerpoint/2010/main" val="1324724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4</a:t>
            </a:fld>
            <a:endParaRPr lang="en-NZ"/>
          </a:p>
        </p:txBody>
      </p:sp>
    </p:spTree>
    <p:extLst>
      <p:ext uri="{BB962C8B-B14F-4D97-AF65-F5344CB8AC3E}">
        <p14:creationId xmlns:p14="http://schemas.microsoft.com/office/powerpoint/2010/main" val="4111122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5</a:t>
            </a:fld>
            <a:endParaRPr lang="en-NZ"/>
          </a:p>
        </p:txBody>
      </p:sp>
    </p:spTree>
    <p:extLst>
      <p:ext uri="{BB962C8B-B14F-4D97-AF65-F5344CB8AC3E}">
        <p14:creationId xmlns:p14="http://schemas.microsoft.com/office/powerpoint/2010/main" val="3452572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b="1" dirty="0"/>
              <a:t>Advantages of Dataset Of OLAP</a:t>
            </a:r>
          </a:p>
          <a:p>
            <a:endParaRPr lang="en-NZ" dirty="0"/>
          </a:p>
          <a:p>
            <a:pPr marL="171450" indent="-171450">
              <a:buFontTx/>
              <a:buChar char="-"/>
            </a:pPr>
            <a:r>
              <a:rPr lang="en-NZ" dirty="0"/>
              <a:t>Fast Data Analysis</a:t>
            </a:r>
          </a:p>
          <a:p>
            <a:pPr marL="171450" indent="-171450">
              <a:buFontTx/>
              <a:buChar char="-"/>
            </a:pPr>
            <a:r>
              <a:rPr lang="en-NZ" dirty="0"/>
              <a:t>Multidimensional Data Modelling</a:t>
            </a:r>
          </a:p>
          <a:p>
            <a:pPr marL="171450" indent="-171450">
              <a:buFontTx/>
              <a:buChar char="-"/>
            </a:pPr>
            <a:r>
              <a:rPr lang="en-NZ" dirty="0"/>
              <a:t>User Friendly</a:t>
            </a:r>
          </a:p>
          <a:p>
            <a:pPr marL="171450" indent="-171450">
              <a:buFontTx/>
              <a:buChar char="-"/>
            </a:pPr>
            <a:r>
              <a:rPr lang="en-NZ" dirty="0"/>
              <a:t>Efficient Data Summarization</a:t>
            </a:r>
          </a:p>
          <a:p>
            <a:pPr marL="171450" indent="-171450">
              <a:buFontTx/>
              <a:buChar char="-"/>
            </a:pPr>
            <a:r>
              <a:rPr lang="en-NZ" dirty="0"/>
              <a:t>Data Consistency</a:t>
            </a:r>
          </a:p>
          <a:p>
            <a:r>
              <a:rPr lang="en-NZ" dirty="0"/>
              <a:t>=Using a dataset for OLAP (Online Analytical Processing) comes with several advantages. It enables fast data analysis due to its optimized structure for complex queries and aggregations. The dataset supports multidimensional data modelling, allowing users to analyse data from different perspectives. It is user-friendly, making it accessible for business users and analysts without extensive technical knowledge. The dataset allows for efficient data summarization, providing quick insights and reports by pre-aggregating data. Furthermore, it ensures data consistency by maintaining a structured and integrated format across different sources.</a:t>
            </a:r>
          </a:p>
          <a:p>
            <a:endParaRPr lang="en-NZ" dirty="0"/>
          </a:p>
          <a:p>
            <a:r>
              <a:rPr lang="en-NZ" b="1" dirty="0"/>
              <a:t> Disadvantages of Dataset Of OLAP</a:t>
            </a:r>
          </a:p>
          <a:p>
            <a:pPr marL="171450" indent="-171450">
              <a:buFontTx/>
              <a:buChar char="-"/>
            </a:pPr>
            <a:r>
              <a:rPr lang="en-NZ" dirty="0"/>
              <a:t>Complex Data preparation</a:t>
            </a:r>
          </a:p>
          <a:p>
            <a:pPr marL="171450" indent="-171450">
              <a:buFontTx/>
              <a:buChar char="-"/>
            </a:pPr>
            <a:r>
              <a:rPr lang="en-NZ" dirty="0"/>
              <a:t>Cost Issues</a:t>
            </a:r>
          </a:p>
          <a:p>
            <a:pPr marL="171450" indent="-171450">
              <a:buFontTx/>
              <a:buChar char="-"/>
            </a:pPr>
            <a:r>
              <a:rPr lang="en-NZ" dirty="0"/>
              <a:t>Limited Flexibility</a:t>
            </a:r>
          </a:p>
          <a:p>
            <a:pPr marL="171450" indent="-171450">
              <a:buFontTx/>
              <a:buChar char="-"/>
            </a:pPr>
            <a:r>
              <a:rPr lang="en-NZ" dirty="0"/>
              <a:t>Skill Requirements</a:t>
            </a:r>
          </a:p>
          <a:p>
            <a:pPr marL="171450" indent="-171450">
              <a:buFontTx/>
              <a:buChar char="-"/>
            </a:pPr>
            <a:r>
              <a:rPr lang="en-NZ" dirty="0"/>
              <a:t>Performance Issues</a:t>
            </a:r>
          </a:p>
          <a:p>
            <a:pPr marL="171450" indent="-171450">
              <a:buFontTx/>
              <a:buChar char="-"/>
            </a:pPr>
            <a:endParaRPr lang="en-NZ" dirty="0"/>
          </a:p>
          <a:p>
            <a:pPr marL="0" indent="0">
              <a:buFontTx/>
              <a:buNone/>
            </a:pPr>
            <a:r>
              <a:rPr lang="en-NZ" dirty="0"/>
              <a:t>Disadvantages to using an OLAP dataset. Data preparation can be complex, requiring significant effort in data cleaning, transformation, and integration. The associated cost issues can be substantial, involving investment in specialized software, hardware, and skilled personnel. OLAP datasets offer limited flexibility, as they are often designed for specific analytical needs and may not adapt easily to new requirements. There are skill requirements, as setting up and managing OLAP systems necessitates expertise in data warehousing and analytics. Additionally, performance issues can arise with very large datasets or highly complex queries, potentially impacting the responsiveness and efficiency of the system.</a:t>
            </a:r>
          </a:p>
        </p:txBody>
      </p:sp>
      <p:sp>
        <p:nvSpPr>
          <p:cNvPr id="4" name="Slide Number Placeholder 3"/>
          <p:cNvSpPr>
            <a:spLocks noGrp="1"/>
          </p:cNvSpPr>
          <p:nvPr>
            <p:ph type="sldNum" sz="quarter" idx="5"/>
          </p:nvPr>
        </p:nvSpPr>
        <p:spPr/>
        <p:txBody>
          <a:bodyPr/>
          <a:lstStyle/>
          <a:p>
            <a:fld id="{80AF86CD-C0D1-4B40-8FCE-F7FC3645DD43}" type="slidenum">
              <a:rPr lang="en-NZ" smtClean="0"/>
              <a:t>6</a:t>
            </a:fld>
            <a:endParaRPr lang="en-NZ"/>
          </a:p>
        </p:txBody>
      </p:sp>
    </p:spTree>
    <p:extLst>
      <p:ext uri="{BB962C8B-B14F-4D97-AF65-F5344CB8AC3E}">
        <p14:creationId xmlns:p14="http://schemas.microsoft.com/office/powerpoint/2010/main" val="4119205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For data extraction, we start by identifying the relevant tables. The tables required for our analysis include Customer, Product (along with </a:t>
            </a:r>
            <a:r>
              <a:rPr lang="en-NZ" dirty="0" err="1"/>
              <a:t>ProductLine</a:t>
            </a:r>
            <a:r>
              <a:rPr lang="en-NZ" dirty="0"/>
              <a:t>), Employee (and Office), and the combination of </a:t>
            </a:r>
            <a:r>
              <a:rPr lang="en-NZ" dirty="0" err="1"/>
              <a:t>productOrder</a:t>
            </a:r>
            <a:r>
              <a:rPr lang="en-NZ" dirty="0"/>
              <a:t> and </a:t>
            </a:r>
            <a:r>
              <a:rPr lang="en-NZ" dirty="0" err="1"/>
              <a:t>orderDetail</a:t>
            </a:r>
            <a:r>
              <a:rPr lang="en-NZ" dirty="0"/>
              <a:t>, which together form the fact table </a:t>
            </a:r>
            <a:r>
              <a:rPr lang="en-NZ" dirty="0" err="1"/>
              <a:t>factOrders</a:t>
            </a:r>
            <a:r>
              <a:rPr lang="en-NZ" dirty="0"/>
              <a:t>.</a:t>
            </a:r>
          </a:p>
          <a:p>
            <a:r>
              <a:rPr lang="en-NZ" dirty="0"/>
              <a:t>We then proceed with data extraction using the SELECT * FROM clause to retrieve data from these tables. If necessary, we employ JOIN clauses to merge data from multiple tables.</a:t>
            </a:r>
          </a:p>
          <a:p>
            <a:r>
              <a:rPr lang="en-NZ" dirty="0"/>
              <a:t>Finally, we utilize aggregation functions and calculation formulas within the SELECT statement to compute derived metrics such as profitability. Throughout this process, we ensure that valid primary keys (PKs) and foreign keys (FKs) are properly extracted and maintained.</a:t>
            </a:r>
          </a:p>
        </p:txBody>
      </p:sp>
      <p:sp>
        <p:nvSpPr>
          <p:cNvPr id="4" name="Slide Number Placeholder 3"/>
          <p:cNvSpPr>
            <a:spLocks noGrp="1"/>
          </p:cNvSpPr>
          <p:nvPr>
            <p:ph type="sldNum" sz="quarter" idx="5"/>
          </p:nvPr>
        </p:nvSpPr>
        <p:spPr/>
        <p:txBody>
          <a:bodyPr/>
          <a:lstStyle/>
          <a:p>
            <a:fld id="{80AF86CD-C0D1-4B40-8FCE-F7FC3645DD43}" type="slidenum">
              <a:rPr lang="en-NZ" smtClean="0"/>
              <a:t>7</a:t>
            </a:fld>
            <a:endParaRPr lang="en-NZ"/>
          </a:p>
        </p:txBody>
      </p:sp>
    </p:spTree>
    <p:extLst>
      <p:ext uri="{BB962C8B-B14F-4D97-AF65-F5344CB8AC3E}">
        <p14:creationId xmlns:p14="http://schemas.microsoft.com/office/powerpoint/2010/main" val="1461955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NZ" b="1" i="0" dirty="0">
                <a:solidFill>
                  <a:srgbClr val="0D0D0D"/>
                </a:solidFill>
                <a:effectLst/>
                <a:highlight>
                  <a:srgbClr val="FFFFFF"/>
                </a:highlight>
                <a:latin typeface="Söhne"/>
              </a:rPr>
              <a:t>Remova</a:t>
            </a:r>
            <a:r>
              <a:rPr lang="en-NZ" b="0" i="0" dirty="0">
                <a:solidFill>
                  <a:srgbClr val="0D0D0D"/>
                </a:solidFill>
                <a:effectLst/>
                <a:highlight>
                  <a:srgbClr val="FFFFFF"/>
                </a:highlight>
                <a:latin typeface="Söhne"/>
              </a:rPr>
              <a:t>l </a:t>
            </a:r>
            <a:r>
              <a:rPr lang="en-NZ" b="1" i="0" dirty="0">
                <a:solidFill>
                  <a:srgbClr val="0D0D0D"/>
                </a:solidFill>
                <a:effectLst/>
                <a:highlight>
                  <a:srgbClr val="FFFFFF"/>
                </a:highlight>
                <a:latin typeface="Söhne"/>
              </a:rPr>
              <a:t>of </a:t>
            </a:r>
            <a:r>
              <a:rPr lang="en-NZ" b="1" i="0" dirty="0" err="1">
                <a:solidFill>
                  <a:srgbClr val="0D0D0D"/>
                </a:solidFill>
                <a:effectLst/>
                <a:highlight>
                  <a:srgbClr val="FFFFFF"/>
                </a:highlight>
                <a:latin typeface="Söhne"/>
              </a:rPr>
              <a:t>ProductLine</a:t>
            </a:r>
            <a:r>
              <a:rPr lang="en-NZ" b="1" i="0" dirty="0">
                <a:solidFill>
                  <a:srgbClr val="0D0D0D"/>
                </a:solidFill>
                <a:effectLst/>
                <a:highlight>
                  <a:srgbClr val="FFFFFF"/>
                </a:highlight>
                <a:latin typeface="Söhne"/>
              </a:rPr>
              <a:t> Table</a:t>
            </a:r>
            <a:r>
              <a:rPr lang="en-NZ" b="0" i="0" dirty="0">
                <a:solidFill>
                  <a:srgbClr val="0D0D0D"/>
                </a:solidFill>
                <a:effectLst/>
                <a:highlight>
                  <a:srgbClr val="FFFFFF"/>
                </a:highlight>
                <a:latin typeface="Söhne"/>
              </a:rPr>
              <a:t>: The </a:t>
            </a:r>
            <a:r>
              <a:rPr lang="en-NZ" b="0" i="0" dirty="0" err="1">
                <a:solidFill>
                  <a:srgbClr val="0D0D0D"/>
                </a:solidFill>
                <a:effectLst/>
                <a:highlight>
                  <a:srgbClr val="FFFFFF"/>
                </a:highlight>
                <a:latin typeface="Söhne"/>
              </a:rPr>
              <a:t>ProductLine</a:t>
            </a:r>
            <a:r>
              <a:rPr lang="en-NZ" b="0" i="0" dirty="0">
                <a:solidFill>
                  <a:srgbClr val="0D0D0D"/>
                </a:solidFill>
                <a:effectLst/>
                <a:highlight>
                  <a:srgbClr val="FFFFFF"/>
                </a:highlight>
                <a:latin typeface="Söhne"/>
              </a:rPr>
              <a:t> Table has been removed along with all its attributes because none of these attributes are required by the clients.</a:t>
            </a:r>
          </a:p>
          <a:p>
            <a:pPr algn="l">
              <a:buFont typeface="+mj-lt"/>
              <a:buAutoNum type="arabicPeriod"/>
            </a:pPr>
            <a:r>
              <a:rPr lang="en-NZ" b="1" i="0" dirty="0">
                <a:solidFill>
                  <a:srgbClr val="0D0D0D"/>
                </a:solidFill>
                <a:effectLst/>
                <a:highlight>
                  <a:srgbClr val="FFFFFF"/>
                </a:highlight>
                <a:latin typeface="Söhne"/>
              </a:rPr>
              <a:t>Removal</a:t>
            </a:r>
            <a:r>
              <a:rPr lang="en-NZ" b="0" i="0" dirty="0">
                <a:solidFill>
                  <a:srgbClr val="0D0D0D"/>
                </a:solidFill>
                <a:effectLst/>
                <a:highlight>
                  <a:srgbClr val="FFFFFF"/>
                </a:highlight>
                <a:latin typeface="Söhne"/>
              </a:rPr>
              <a:t> </a:t>
            </a:r>
            <a:r>
              <a:rPr lang="en-NZ" b="1" i="0" dirty="0">
                <a:solidFill>
                  <a:srgbClr val="0D0D0D"/>
                </a:solidFill>
                <a:effectLst/>
                <a:highlight>
                  <a:srgbClr val="FFFFFF"/>
                </a:highlight>
                <a:latin typeface="Söhne"/>
              </a:rPr>
              <a:t>of Unnecessary Attributes</a:t>
            </a:r>
            <a:r>
              <a:rPr lang="en-NZ" b="0" i="0" dirty="0">
                <a:solidFill>
                  <a:srgbClr val="0D0D0D"/>
                </a:solidFill>
                <a:effectLst/>
                <a:highlight>
                  <a:srgbClr val="FFFFFF"/>
                </a:highlight>
                <a:latin typeface="Söhne"/>
              </a:rPr>
              <a:t>: The following attributes have been removed from various tables as they are not required by the clients:</a:t>
            </a:r>
          </a:p>
          <a:p>
            <a:pPr marL="742950" lvl="1" indent="-285750" algn="l">
              <a:buFont typeface="+mj-lt"/>
              <a:buAutoNum type="arabicPeriod"/>
            </a:pPr>
            <a:r>
              <a:rPr lang="en-NZ" b="0" i="0" dirty="0">
                <a:solidFill>
                  <a:srgbClr val="0D0D0D"/>
                </a:solidFill>
                <a:effectLst/>
                <a:highlight>
                  <a:srgbClr val="FFFFFF"/>
                </a:highlight>
                <a:latin typeface="Söhne"/>
              </a:rPr>
              <a:t>From the Customer Table: </a:t>
            </a:r>
            <a:r>
              <a:rPr lang="en-NZ" b="0" i="0" dirty="0" err="1">
                <a:solidFill>
                  <a:srgbClr val="0D0D0D"/>
                </a:solidFill>
                <a:effectLst/>
                <a:highlight>
                  <a:srgbClr val="FFFFFF"/>
                </a:highlight>
                <a:latin typeface="Söhne"/>
              </a:rPr>
              <a:t>contractLastName</a:t>
            </a:r>
            <a:r>
              <a:rPr lang="en-NZ" b="0" i="0" dirty="0">
                <a:solidFill>
                  <a:srgbClr val="0D0D0D"/>
                </a:solidFill>
                <a:effectLst/>
                <a:highlight>
                  <a:srgbClr val="FFFFFF"/>
                </a:highlight>
                <a:latin typeface="Söhne"/>
              </a:rPr>
              <a:t>, </a:t>
            </a:r>
            <a:r>
              <a:rPr lang="en-NZ" b="0" i="0" dirty="0" err="1">
                <a:solidFill>
                  <a:srgbClr val="0D0D0D"/>
                </a:solidFill>
                <a:effectLst/>
                <a:highlight>
                  <a:srgbClr val="FFFFFF"/>
                </a:highlight>
                <a:latin typeface="Söhne"/>
              </a:rPr>
              <a:t>contractFirstname</a:t>
            </a:r>
            <a:r>
              <a:rPr lang="en-NZ" b="0" i="0" dirty="0">
                <a:solidFill>
                  <a:srgbClr val="0D0D0D"/>
                </a:solidFill>
                <a:effectLst/>
                <a:highlight>
                  <a:srgbClr val="FFFFFF"/>
                </a:highlight>
                <a:latin typeface="Söhne"/>
              </a:rPr>
              <a:t>, phone, addressLine1, addressLine2, state, </a:t>
            </a:r>
            <a:r>
              <a:rPr lang="en-NZ" b="0" i="0" dirty="0" err="1">
                <a:solidFill>
                  <a:srgbClr val="0D0D0D"/>
                </a:solidFill>
                <a:effectLst/>
                <a:highlight>
                  <a:srgbClr val="FFFFFF"/>
                </a:highlight>
                <a:latin typeface="Söhne"/>
              </a:rPr>
              <a:t>postalCode</a:t>
            </a:r>
            <a:r>
              <a:rPr lang="en-NZ" b="0" i="0" dirty="0">
                <a:solidFill>
                  <a:srgbClr val="0D0D0D"/>
                </a:solidFill>
                <a:effectLst/>
                <a:highlight>
                  <a:srgbClr val="FFFFFF"/>
                </a:highlight>
                <a:latin typeface="Söhne"/>
              </a:rPr>
              <a:t>, </a:t>
            </a:r>
            <a:r>
              <a:rPr lang="en-NZ" b="0" i="0" dirty="0" err="1">
                <a:solidFill>
                  <a:srgbClr val="0D0D0D"/>
                </a:solidFill>
                <a:effectLst/>
                <a:highlight>
                  <a:srgbClr val="FFFFFF"/>
                </a:highlight>
                <a:latin typeface="Söhne"/>
              </a:rPr>
              <a:t>creditLimit</a:t>
            </a:r>
            <a:r>
              <a:rPr lang="en-NZ" b="0" i="0" dirty="0">
                <a:solidFill>
                  <a:srgbClr val="0D0D0D"/>
                </a:solidFill>
                <a:effectLst/>
                <a:highlight>
                  <a:srgbClr val="FFFFFF"/>
                </a:highlight>
                <a:latin typeface="Söhne"/>
              </a:rPr>
              <a:t>.</a:t>
            </a:r>
          </a:p>
          <a:p>
            <a:pPr marL="742950" lvl="1" indent="-285750" algn="l">
              <a:buFont typeface="+mj-lt"/>
              <a:buAutoNum type="arabicPeriod"/>
            </a:pPr>
            <a:r>
              <a:rPr lang="en-NZ" b="0" i="0" dirty="0">
                <a:solidFill>
                  <a:srgbClr val="0D0D0D"/>
                </a:solidFill>
                <a:effectLst/>
                <a:highlight>
                  <a:srgbClr val="FFFFFF"/>
                </a:highlight>
                <a:latin typeface="Söhne"/>
              </a:rPr>
              <a:t>From the Product Table: </a:t>
            </a:r>
            <a:r>
              <a:rPr lang="en-NZ" b="0" i="0" dirty="0" err="1">
                <a:solidFill>
                  <a:srgbClr val="0D0D0D"/>
                </a:solidFill>
                <a:effectLst/>
                <a:highlight>
                  <a:srgbClr val="FFFFFF"/>
                </a:highlight>
                <a:latin typeface="Söhne"/>
              </a:rPr>
              <a:t>productScale</a:t>
            </a:r>
            <a:r>
              <a:rPr lang="en-NZ" b="0" i="0" dirty="0">
                <a:solidFill>
                  <a:srgbClr val="0D0D0D"/>
                </a:solidFill>
                <a:effectLst/>
                <a:highlight>
                  <a:srgbClr val="FFFFFF"/>
                </a:highlight>
                <a:latin typeface="Söhne"/>
              </a:rPr>
              <a:t>, </a:t>
            </a:r>
            <a:r>
              <a:rPr lang="en-NZ" b="0" i="0" dirty="0" err="1">
                <a:solidFill>
                  <a:srgbClr val="0D0D0D"/>
                </a:solidFill>
                <a:effectLst/>
                <a:highlight>
                  <a:srgbClr val="FFFFFF"/>
                </a:highlight>
                <a:latin typeface="Söhne"/>
              </a:rPr>
              <a:t>productVendor</a:t>
            </a:r>
            <a:r>
              <a:rPr lang="en-NZ" b="0" i="0" dirty="0">
                <a:solidFill>
                  <a:srgbClr val="0D0D0D"/>
                </a:solidFill>
                <a:effectLst/>
                <a:highlight>
                  <a:srgbClr val="FFFFFF"/>
                </a:highlight>
                <a:latin typeface="Söhne"/>
              </a:rPr>
              <a:t>, </a:t>
            </a:r>
            <a:r>
              <a:rPr lang="en-NZ" b="0" i="0" dirty="0" err="1">
                <a:solidFill>
                  <a:srgbClr val="0D0D0D"/>
                </a:solidFill>
                <a:effectLst/>
                <a:highlight>
                  <a:srgbClr val="FFFFFF"/>
                </a:highlight>
                <a:latin typeface="Söhne"/>
              </a:rPr>
              <a:t>productDescription</a:t>
            </a:r>
            <a:r>
              <a:rPr lang="en-NZ" b="0" i="0" dirty="0">
                <a:solidFill>
                  <a:srgbClr val="0D0D0D"/>
                </a:solidFill>
                <a:effectLst/>
                <a:highlight>
                  <a:srgbClr val="FFFFFF"/>
                </a:highlight>
                <a:latin typeface="Söhne"/>
              </a:rPr>
              <a:t>.</a:t>
            </a:r>
          </a:p>
          <a:p>
            <a:pPr marL="742950" lvl="1" indent="-285750" algn="l">
              <a:buFont typeface="+mj-lt"/>
              <a:buAutoNum type="arabicPeriod"/>
            </a:pPr>
            <a:r>
              <a:rPr lang="en-NZ" b="0" i="0" dirty="0">
                <a:solidFill>
                  <a:srgbClr val="0D0D0D"/>
                </a:solidFill>
                <a:effectLst/>
                <a:highlight>
                  <a:srgbClr val="FFFFFF"/>
                </a:highlight>
                <a:latin typeface="Söhne"/>
              </a:rPr>
              <a:t>From the Employee Table Extension: email, </a:t>
            </a:r>
            <a:r>
              <a:rPr lang="en-NZ" b="0" i="0" dirty="0" err="1">
                <a:solidFill>
                  <a:srgbClr val="0D0D0D"/>
                </a:solidFill>
                <a:effectLst/>
                <a:highlight>
                  <a:srgbClr val="FFFFFF"/>
                </a:highlight>
                <a:latin typeface="Söhne"/>
              </a:rPr>
              <a:t>reportsTo</a:t>
            </a:r>
            <a:r>
              <a:rPr lang="en-NZ" b="0" i="0" dirty="0">
                <a:solidFill>
                  <a:srgbClr val="0D0D0D"/>
                </a:solidFill>
                <a:effectLst/>
                <a:highlight>
                  <a:srgbClr val="FFFFFF"/>
                </a:highlight>
                <a:latin typeface="Söhne"/>
              </a:rPr>
              <a:t>, </a:t>
            </a:r>
            <a:r>
              <a:rPr lang="en-NZ" b="0" i="0" dirty="0" err="1">
                <a:solidFill>
                  <a:srgbClr val="0D0D0D"/>
                </a:solidFill>
                <a:effectLst/>
                <a:highlight>
                  <a:srgbClr val="FFFFFF"/>
                </a:highlight>
                <a:latin typeface="Söhne"/>
              </a:rPr>
              <a:t>jobTitle</a:t>
            </a:r>
            <a:r>
              <a:rPr lang="en-NZ" b="0" i="0" dirty="0">
                <a:solidFill>
                  <a:srgbClr val="0D0D0D"/>
                </a:solidFill>
                <a:effectLst/>
                <a:highlight>
                  <a:srgbClr val="FFFFFF"/>
                </a:highlight>
                <a:latin typeface="Söhne"/>
              </a:rPr>
              <a:t>.</a:t>
            </a:r>
          </a:p>
          <a:p>
            <a:pPr marL="742950" lvl="1" indent="-285750" algn="l">
              <a:buFont typeface="+mj-lt"/>
              <a:buAutoNum type="arabicPeriod"/>
            </a:pPr>
            <a:r>
              <a:rPr lang="en-NZ" b="0" i="0" dirty="0">
                <a:solidFill>
                  <a:srgbClr val="0D0D0D"/>
                </a:solidFill>
                <a:effectLst/>
                <a:highlight>
                  <a:srgbClr val="FFFFFF"/>
                </a:highlight>
                <a:latin typeface="Söhne"/>
              </a:rPr>
              <a:t>From the </a:t>
            </a:r>
            <a:r>
              <a:rPr lang="en-NZ" b="0" i="0" dirty="0" err="1">
                <a:solidFill>
                  <a:srgbClr val="0D0D0D"/>
                </a:solidFill>
                <a:effectLst/>
                <a:highlight>
                  <a:srgbClr val="FFFFFF"/>
                </a:highlight>
                <a:latin typeface="Söhne"/>
              </a:rPr>
              <a:t>ProductOrder</a:t>
            </a:r>
            <a:r>
              <a:rPr lang="en-NZ" b="0" i="0" dirty="0">
                <a:solidFill>
                  <a:srgbClr val="0D0D0D"/>
                </a:solidFill>
                <a:effectLst/>
                <a:highlight>
                  <a:srgbClr val="FFFFFF"/>
                </a:highlight>
                <a:latin typeface="Söhne"/>
              </a:rPr>
              <a:t> Table: comments.</a:t>
            </a:r>
          </a:p>
          <a:p>
            <a:pPr algn="l">
              <a:buFont typeface="+mj-lt"/>
              <a:buAutoNum type="arabicPeriod"/>
            </a:pPr>
            <a:r>
              <a:rPr lang="en-NZ" b="1" i="0" dirty="0">
                <a:solidFill>
                  <a:srgbClr val="0D0D0D"/>
                </a:solidFill>
                <a:effectLst/>
                <a:highlight>
                  <a:srgbClr val="FFFFFF"/>
                </a:highlight>
                <a:latin typeface="Söhne"/>
              </a:rPr>
              <a:t>Merging of Tables:</a:t>
            </a:r>
          </a:p>
          <a:p>
            <a:pPr marL="742950" lvl="1" indent="-285750" algn="l">
              <a:buFont typeface="+mj-lt"/>
              <a:buAutoNum type="arabicPeriod"/>
            </a:pPr>
            <a:r>
              <a:rPr lang="en-NZ" b="0" i="0" dirty="0">
                <a:solidFill>
                  <a:srgbClr val="0D0D0D"/>
                </a:solidFill>
                <a:effectLst/>
                <a:highlight>
                  <a:srgbClr val="FFFFFF"/>
                </a:highlight>
                <a:latin typeface="Söhne"/>
              </a:rPr>
              <a:t>Removal of Office Table: The Office Table has been removed, but the city and country attributes have been merged into the Employee Table for the monthly employee report.</a:t>
            </a:r>
          </a:p>
          <a:p>
            <a:pPr marL="742950" lvl="1" indent="-285750" algn="l">
              <a:buFont typeface="+mj-lt"/>
              <a:buAutoNum type="arabicPeriod"/>
            </a:pPr>
            <a:r>
              <a:rPr lang="en-NZ" b="0" i="0" dirty="0">
                <a:solidFill>
                  <a:srgbClr val="0D0D0D"/>
                </a:solidFill>
                <a:effectLst/>
                <a:highlight>
                  <a:srgbClr val="FFFFFF"/>
                </a:highlight>
                <a:latin typeface="Söhne"/>
              </a:rPr>
              <a:t>Merging of </a:t>
            </a:r>
            <a:r>
              <a:rPr lang="en-NZ" b="0" i="0" dirty="0" err="1">
                <a:solidFill>
                  <a:srgbClr val="0D0D0D"/>
                </a:solidFill>
                <a:effectLst/>
                <a:highlight>
                  <a:srgbClr val="FFFFFF"/>
                </a:highlight>
                <a:latin typeface="Söhne"/>
              </a:rPr>
              <a:t>OrderDetail</a:t>
            </a:r>
            <a:r>
              <a:rPr lang="en-NZ" b="0" i="0" dirty="0">
                <a:solidFill>
                  <a:srgbClr val="0D0D0D"/>
                </a:solidFill>
                <a:effectLst/>
                <a:highlight>
                  <a:srgbClr val="FFFFFF"/>
                </a:highlight>
                <a:latin typeface="Söhne"/>
              </a:rPr>
              <a:t> and </a:t>
            </a:r>
            <a:r>
              <a:rPr lang="en-NZ" b="0" i="0" dirty="0" err="1">
                <a:solidFill>
                  <a:srgbClr val="0D0D0D"/>
                </a:solidFill>
                <a:effectLst/>
                <a:highlight>
                  <a:srgbClr val="FFFFFF"/>
                </a:highlight>
                <a:latin typeface="Söhne"/>
              </a:rPr>
              <a:t>ProductOrder</a:t>
            </a:r>
            <a:r>
              <a:rPr lang="en-NZ" b="0" i="0" dirty="0">
                <a:solidFill>
                  <a:srgbClr val="0D0D0D"/>
                </a:solidFill>
                <a:effectLst/>
                <a:highlight>
                  <a:srgbClr val="FFFFFF"/>
                </a:highlight>
                <a:latin typeface="Söhne"/>
              </a:rPr>
              <a:t>: These tables have been merged into a </a:t>
            </a:r>
            <a:r>
              <a:rPr lang="en-NZ" b="0" i="0" dirty="0" err="1">
                <a:solidFill>
                  <a:srgbClr val="0D0D0D"/>
                </a:solidFill>
                <a:effectLst/>
                <a:highlight>
                  <a:srgbClr val="FFFFFF"/>
                </a:highlight>
                <a:latin typeface="Söhne"/>
              </a:rPr>
              <a:t>factTable</a:t>
            </a:r>
            <a:r>
              <a:rPr lang="en-NZ" b="0" i="0" dirty="0">
                <a:solidFill>
                  <a:srgbClr val="0D0D0D"/>
                </a:solidFill>
                <a:effectLst/>
                <a:highlight>
                  <a:srgbClr val="FFFFFF"/>
                </a:highlight>
                <a:latin typeface="Söhne"/>
              </a:rPr>
              <a:t> because the </a:t>
            </a:r>
            <a:r>
              <a:rPr lang="en-NZ" b="0" i="0" dirty="0" err="1">
                <a:solidFill>
                  <a:srgbClr val="0D0D0D"/>
                </a:solidFill>
                <a:effectLst/>
                <a:highlight>
                  <a:srgbClr val="FFFFFF"/>
                </a:highlight>
                <a:latin typeface="Söhne"/>
              </a:rPr>
              <a:t>ProductOrder</a:t>
            </a:r>
            <a:r>
              <a:rPr lang="en-NZ" b="0" i="0" dirty="0">
                <a:solidFill>
                  <a:srgbClr val="0D0D0D"/>
                </a:solidFill>
                <a:effectLst/>
                <a:highlight>
                  <a:srgbClr val="FFFFFF"/>
                </a:highlight>
                <a:latin typeface="Söhne"/>
              </a:rPr>
              <a:t> table contains date attributes and the </a:t>
            </a:r>
            <a:r>
              <a:rPr lang="en-NZ" b="0" i="0" dirty="0" err="1">
                <a:solidFill>
                  <a:srgbClr val="0D0D0D"/>
                </a:solidFill>
                <a:effectLst/>
                <a:highlight>
                  <a:srgbClr val="FFFFFF"/>
                </a:highlight>
                <a:latin typeface="Söhne"/>
              </a:rPr>
              <a:t>OrderDetail</a:t>
            </a:r>
            <a:r>
              <a:rPr lang="en-NZ" b="0" i="0" dirty="0">
                <a:solidFill>
                  <a:srgbClr val="0D0D0D"/>
                </a:solidFill>
                <a:effectLst/>
                <a:highlight>
                  <a:srgbClr val="FFFFFF"/>
                </a:highlight>
                <a:latin typeface="Söhne"/>
              </a:rPr>
              <a:t> table contains quantity and </a:t>
            </a:r>
            <a:r>
              <a:rPr lang="en-NZ" b="0" i="0" dirty="0" err="1">
                <a:solidFill>
                  <a:srgbClr val="0D0D0D"/>
                </a:solidFill>
                <a:effectLst/>
                <a:highlight>
                  <a:srgbClr val="FFFFFF"/>
                </a:highlight>
                <a:latin typeface="Söhne"/>
              </a:rPr>
              <a:t>priceEach</a:t>
            </a:r>
            <a:r>
              <a:rPr lang="en-NZ" b="0" i="0" dirty="0">
                <a:solidFill>
                  <a:srgbClr val="0D0D0D"/>
                </a:solidFill>
                <a:effectLst/>
                <a:highlight>
                  <a:srgbClr val="FFFFFF"/>
                </a:highlight>
                <a:latin typeface="Söhne"/>
              </a:rPr>
              <a:t> attributes, which are necessary for the main calculations. Additionally, these two tables are at the </a:t>
            </a:r>
            <a:r>
              <a:rPr lang="en-NZ" b="0" i="0" dirty="0" err="1">
                <a:solidFill>
                  <a:srgbClr val="0D0D0D"/>
                </a:solidFill>
                <a:effectLst/>
                <a:highlight>
                  <a:srgbClr val="FFFFFF"/>
                </a:highlight>
                <a:latin typeface="Söhne"/>
              </a:rPr>
              <a:t>center</a:t>
            </a:r>
            <a:r>
              <a:rPr lang="en-NZ" b="0" i="0" dirty="0">
                <a:solidFill>
                  <a:srgbClr val="0D0D0D"/>
                </a:solidFill>
                <a:effectLst/>
                <a:highlight>
                  <a:srgbClr val="FFFFFF"/>
                </a:highlight>
                <a:latin typeface="Söhne"/>
              </a:rPr>
              <a:t> of the database and are much shorter to join compared to other tables.</a:t>
            </a:r>
          </a:p>
          <a:p>
            <a:pPr algn="l">
              <a:buFont typeface="+mj-lt"/>
              <a:buAutoNum type="arabicPeriod"/>
            </a:pPr>
            <a:r>
              <a:rPr lang="en-NZ" b="1" i="0" dirty="0">
                <a:solidFill>
                  <a:srgbClr val="0D0D0D"/>
                </a:solidFill>
                <a:effectLst/>
                <a:highlight>
                  <a:srgbClr val="FFFFFF"/>
                </a:highlight>
                <a:latin typeface="Söhne"/>
              </a:rPr>
              <a:t>Addition of Tables:</a:t>
            </a:r>
          </a:p>
          <a:p>
            <a:pPr marL="742950" lvl="1" indent="-285750" algn="l">
              <a:buFont typeface="+mj-lt"/>
              <a:buAutoNum type="arabicPeriod"/>
            </a:pPr>
            <a:r>
              <a:rPr lang="en-NZ" b="0" i="0" dirty="0">
                <a:solidFill>
                  <a:srgbClr val="0D0D0D"/>
                </a:solidFill>
                <a:effectLst/>
                <a:highlight>
                  <a:srgbClr val="FFFFFF"/>
                </a:highlight>
                <a:latin typeface="Söhne"/>
              </a:rPr>
              <a:t>Addition of </a:t>
            </a:r>
            <a:r>
              <a:rPr lang="en-NZ" b="0" i="0" dirty="0" err="1">
                <a:solidFill>
                  <a:srgbClr val="0D0D0D"/>
                </a:solidFill>
                <a:effectLst/>
                <a:highlight>
                  <a:srgbClr val="FFFFFF"/>
                </a:highlight>
                <a:latin typeface="Söhne"/>
              </a:rPr>
              <a:t>dimTime</a:t>
            </a:r>
            <a:r>
              <a:rPr lang="en-NZ" b="0" i="0" dirty="0">
                <a:solidFill>
                  <a:srgbClr val="0D0D0D"/>
                </a:solidFill>
                <a:effectLst/>
                <a:highlight>
                  <a:srgbClr val="FFFFFF"/>
                </a:highlight>
                <a:latin typeface="Söhne"/>
              </a:rPr>
              <a:t> Table: This table has been added for reporting time-related information.</a:t>
            </a:r>
          </a:p>
          <a:p>
            <a:pPr marL="742950" lvl="1" indent="-285750" algn="l">
              <a:buFont typeface="+mj-lt"/>
              <a:buAutoNum type="arabicPeriod"/>
            </a:pPr>
            <a:r>
              <a:rPr lang="en-NZ" b="0" i="0" dirty="0">
                <a:solidFill>
                  <a:srgbClr val="0D0D0D"/>
                </a:solidFill>
                <a:effectLst/>
                <a:highlight>
                  <a:srgbClr val="FFFFFF"/>
                </a:highlight>
                <a:latin typeface="Söhne"/>
              </a:rPr>
              <a:t>Addition of DQLog Table: This table has been added for clear data management purposes.</a:t>
            </a:r>
          </a:p>
        </p:txBody>
      </p:sp>
      <p:sp>
        <p:nvSpPr>
          <p:cNvPr id="4" name="Slide Number Placeholder 3"/>
          <p:cNvSpPr>
            <a:spLocks noGrp="1"/>
          </p:cNvSpPr>
          <p:nvPr>
            <p:ph type="sldNum" sz="quarter" idx="5"/>
          </p:nvPr>
        </p:nvSpPr>
        <p:spPr/>
        <p:txBody>
          <a:bodyPr/>
          <a:lstStyle/>
          <a:p>
            <a:fld id="{80AF86CD-C0D1-4B40-8FCE-F7FC3645DD43}" type="slidenum">
              <a:rPr lang="en-NZ" smtClean="0"/>
              <a:t>8</a:t>
            </a:fld>
            <a:endParaRPr lang="en-NZ"/>
          </a:p>
        </p:txBody>
      </p:sp>
    </p:spTree>
    <p:extLst>
      <p:ext uri="{BB962C8B-B14F-4D97-AF65-F5344CB8AC3E}">
        <p14:creationId xmlns:p14="http://schemas.microsoft.com/office/powerpoint/2010/main" val="17018721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9</a:t>
            </a:fld>
            <a:endParaRPr lang="en-NZ"/>
          </a:p>
        </p:txBody>
      </p:sp>
    </p:spTree>
    <p:extLst>
      <p:ext uri="{BB962C8B-B14F-4D97-AF65-F5344CB8AC3E}">
        <p14:creationId xmlns:p14="http://schemas.microsoft.com/office/powerpoint/2010/main" val="1972078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"DQLog" stands for Data Quality Log, and it is a crucial tool used to manage data quality within the data warehouse. DQLog helps monitor and manage data to maintain its accuracy, completeness, and consistency. This enables the identification and correction of erroneous data.</a:t>
            </a:r>
          </a:p>
          <a:p>
            <a:r>
              <a:rPr lang="en-NZ" dirty="0"/>
              <a:t>The rules from 1 to 8 are common to the assignment, so I will not elaborate on them here. Our team has established two additional rules, 9 and 10.</a:t>
            </a:r>
          </a:p>
          <a:p>
            <a:endParaRPr lang="en-NZ" dirty="0"/>
          </a:p>
          <a:p>
            <a:r>
              <a:rPr lang="en-NZ" dirty="0"/>
              <a:t>Firstly, if the amount in the payment table is null or zero, it is rejected, and if it is negative, it is converted to positive. The amount, being money and a measurement value, cannot be null or zero.</a:t>
            </a:r>
          </a:p>
          <a:p>
            <a:endParaRPr lang="en-NZ" dirty="0"/>
          </a:p>
          <a:p>
            <a:r>
              <a:rPr lang="en-NZ" dirty="0"/>
              <a:t>Secondly, Rule 10 pertains to the </a:t>
            </a:r>
            <a:r>
              <a:rPr lang="en-NZ" dirty="0" err="1"/>
              <a:t>paymentDate</a:t>
            </a:r>
            <a:r>
              <a:rPr lang="en-NZ" dirty="0"/>
              <a:t>. It ensures that payments can only be made after an order has been placed. Therefore, if the </a:t>
            </a:r>
            <a:r>
              <a:rPr lang="en-NZ" dirty="0" err="1"/>
              <a:t>paymentDate</a:t>
            </a:r>
            <a:r>
              <a:rPr lang="en-NZ" dirty="0"/>
              <a:t> precedes the </a:t>
            </a:r>
            <a:r>
              <a:rPr lang="en-NZ" dirty="0" err="1"/>
              <a:t>orderDate</a:t>
            </a:r>
            <a:r>
              <a:rPr lang="en-NZ" dirty="0"/>
              <a:t>, it is rejected.</a:t>
            </a:r>
          </a:p>
        </p:txBody>
      </p:sp>
      <p:sp>
        <p:nvSpPr>
          <p:cNvPr id="4" name="Slide Number Placeholder 3"/>
          <p:cNvSpPr>
            <a:spLocks noGrp="1"/>
          </p:cNvSpPr>
          <p:nvPr>
            <p:ph type="sldNum" sz="quarter" idx="5"/>
          </p:nvPr>
        </p:nvSpPr>
        <p:spPr/>
        <p:txBody>
          <a:bodyPr/>
          <a:lstStyle/>
          <a:p>
            <a:fld id="{80AF86CD-C0D1-4B40-8FCE-F7FC3645DD43}" type="slidenum">
              <a:rPr lang="en-NZ" smtClean="0"/>
              <a:t>10</a:t>
            </a:fld>
            <a:endParaRPr lang="en-NZ"/>
          </a:p>
        </p:txBody>
      </p:sp>
    </p:spTree>
    <p:extLst>
      <p:ext uri="{BB962C8B-B14F-4D97-AF65-F5344CB8AC3E}">
        <p14:creationId xmlns:p14="http://schemas.microsoft.com/office/powerpoint/2010/main" val="891831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Includes ‘CREATE TABLE </a:t>
            </a:r>
            <a:r>
              <a:rPr lang="en-NZ" dirty="0" err="1"/>
              <a:t>Dqlog</a:t>
            </a:r>
            <a:r>
              <a:rPr lang="en-NZ" dirty="0"/>
              <a:t>’ and how to insert </a:t>
            </a:r>
            <a:r>
              <a:rPr lang="en-NZ" dirty="0" err="1"/>
              <a:t>dq</a:t>
            </a:r>
            <a:r>
              <a:rPr lang="en-NZ" dirty="0"/>
              <a:t> log by rule.</a:t>
            </a:r>
          </a:p>
          <a:p>
            <a:r>
              <a:rPr lang="en-NZ" dirty="0"/>
              <a:t>If there are two conditions, I used Case and When statement.</a:t>
            </a:r>
          </a:p>
          <a:p>
            <a:endParaRPr lang="en-NZ" dirty="0"/>
          </a:p>
          <a:p>
            <a:endParaRPr lang="en-NZ" dirty="0"/>
          </a:p>
          <a:p>
            <a:endParaRPr lang="en-NZ" dirty="0"/>
          </a:p>
        </p:txBody>
      </p:sp>
      <p:sp>
        <p:nvSpPr>
          <p:cNvPr id="4" name="Slide Number Placeholder 3"/>
          <p:cNvSpPr>
            <a:spLocks noGrp="1"/>
          </p:cNvSpPr>
          <p:nvPr>
            <p:ph type="sldNum" sz="quarter" idx="5"/>
          </p:nvPr>
        </p:nvSpPr>
        <p:spPr/>
        <p:txBody>
          <a:bodyPr/>
          <a:lstStyle/>
          <a:p>
            <a:fld id="{80AF86CD-C0D1-4B40-8FCE-F7FC3645DD43}" type="slidenum">
              <a:rPr lang="en-NZ" smtClean="0"/>
              <a:t>11</a:t>
            </a:fld>
            <a:endParaRPr lang="en-NZ"/>
          </a:p>
        </p:txBody>
      </p:sp>
    </p:spTree>
    <p:extLst>
      <p:ext uri="{BB962C8B-B14F-4D97-AF65-F5344CB8AC3E}">
        <p14:creationId xmlns:p14="http://schemas.microsoft.com/office/powerpoint/2010/main" val="1470715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80AF86CD-C0D1-4B40-8FCE-F7FC3645DD43}" type="slidenum">
              <a:rPr lang="en-NZ" smtClean="0"/>
              <a:t>12</a:t>
            </a:fld>
            <a:endParaRPr lang="en-NZ"/>
          </a:p>
        </p:txBody>
      </p:sp>
    </p:spTree>
    <p:extLst>
      <p:ext uri="{BB962C8B-B14F-4D97-AF65-F5344CB8AC3E}">
        <p14:creationId xmlns:p14="http://schemas.microsoft.com/office/powerpoint/2010/main" val="4024432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13</a:t>
            </a:fld>
            <a:endParaRPr lang="en-NZ"/>
          </a:p>
        </p:txBody>
      </p:sp>
    </p:spTree>
    <p:extLst>
      <p:ext uri="{BB962C8B-B14F-4D97-AF65-F5344CB8AC3E}">
        <p14:creationId xmlns:p14="http://schemas.microsoft.com/office/powerpoint/2010/main" val="3309341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14</a:t>
            </a:fld>
            <a:endParaRPr lang="en-NZ"/>
          </a:p>
        </p:txBody>
      </p:sp>
    </p:spTree>
    <p:extLst>
      <p:ext uri="{BB962C8B-B14F-4D97-AF65-F5344CB8AC3E}">
        <p14:creationId xmlns:p14="http://schemas.microsoft.com/office/powerpoint/2010/main" val="465228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15</a:t>
            </a:fld>
            <a:endParaRPr lang="en-NZ"/>
          </a:p>
        </p:txBody>
      </p:sp>
    </p:spTree>
    <p:extLst>
      <p:ext uri="{BB962C8B-B14F-4D97-AF65-F5344CB8AC3E}">
        <p14:creationId xmlns:p14="http://schemas.microsoft.com/office/powerpoint/2010/main" val="503409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16</a:t>
            </a:fld>
            <a:endParaRPr lang="en-NZ"/>
          </a:p>
        </p:txBody>
      </p:sp>
    </p:spTree>
    <p:extLst>
      <p:ext uri="{BB962C8B-B14F-4D97-AF65-F5344CB8AC3E}">
        <p14:creationId xmlns:p14="http://schemas.microsoft.com/office/powerpoint/2010/main" val="29315061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NOT EXISIT = </a:t>
            </a:r>
            <a:r>
              <a:rPr lang="en-NZ"/>
              <a:t>21</a:t>
            </a:r>
            <a:endParaRPr lang="en-NZ" dirty="0"/>
          </a:p>
          <a:p>
            <a:r>
              <a:rPr lang="en-NZ" dirty="0"/>
              <a:t>EXIST = </a:t>
            </a:r>
            <a:r>
              <a:rPr lang="en-NZ"/>
              <a:t>74</a:t>
            </a:r>
            <a:br>
              <a:rPr lang="en-NZ"/>
            </a:br>
            <a:r>
              <a:rPr lang="en-NZ"/>
              <a:t>result due to update requiredDateKey</a:t>
            </a:r>
            <a:endParaRPr lang="en-NZ" dirty="0"/>
          </a:p>
        </p:txBody>
      </p:sp>
      <p:sp>
        <p:nvSpPr>
          <p:cNvPr id="4" name="Slide Number Placeholder 3"/>
          <p:cNvSpPr>
            <a:spLocks noGrp="1"/>
          </p:cNvSpPr>
          <p:nvPr>
            <p:ph type="sldNum" sz="quarter" idx="5"/>
          </p:nvPr>
        </p:nvSpPr>
        <p:spPr/>
        <p:txBody>
          <a:bodyPr/>
          <a:lstStyle/>
          <a:p>
            <a:fld id="{80AF86CD-C0D1-4B40-8FCE-F7FC3645DD43}" type="slidenum">
              <a:rPr lang="en-NZ" smtClean="0"/>
              <a:t>17</a:t>
            </a:fld>
            <a:endParaRPr lang="en-NZ"/>
          </a:p>
        </p:txBody>
      </p:sp>
    </p:spTree>
    <p:extLst>
      <p:ext uri="{BB962C8B-B14F-4D97-AF65-F5344CB8AC3E}">
        <p14:creationId xmlns:p14="http://schemas.microsoft.com/office/powerpoint/2010/main" val="1554478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lgn="ctr">
              <a:buFont typeface="+mj-lt"/>
              <a:buAutoNum type="arabicPeriod"/>
            </a:pPr>
            <a:r>
              <a:rPr lang="en-NZ"/>
              <a:t>Monthly sales and profit/loss report for each product line. For each product line, display its name, the number of products in that category, the total number of sales of all the products in that category, and the total profits/loss generated so far. Rank the line based on the total profits/loss generated in descending order</a:t>
            </a:r>
          </a:p>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18</a:t>
            </a:fld>
            <a:endParaRPr lang="en-NZ"/>
          </a:p>
        </p:txBody>
      </p:sp>
    </p:spTree>
    <p:extLst>
      <p:ext uri="{BB962C8B-B14F-4D97-AF65-F5344CB8AC3E}">
        <p14:creationId xmlns:p14="http://schemas.microsoft.com/office/powerpoint/2010/main" val="1720815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ctr">
              <a:buFont typeface="+mj-lt"/>
              <a:buNone/>
            </a:pPr>
            <a:r>
              <a:rPr lang="en-NZ"/>
              <a:t>2. Monthly report on the most profitable employees. For each employee, display its name, city, country, the total number of customers he/she supported, the total number of payments from his/her customers processed. Rank the employees based on the number of profits generated in descending order</a:t>
            </a:r>
          </a:p>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19</a:t>
            </a:fld>
            <a:endParaRPr lang="en-NZ"/>
          </a:p>
        </p:txBody>
      </p:sp>
    </p:spTree>
    <p:extLst>
      <p:ext uri="{BB962C8B-B14F-4D97-AF65-F5344CB8AC3E}">
        <p14:creationId xmlns:p14="http://schemas.microsoft.com/office/powerpoint/2010/main" val="1280123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NZ" dirty="0"/>
              <a:t>3. Summary report on the total sales based on City. For each city, display its name, country, the total number of products sold, the total number of product category sold, the total number of customers who live there and the total sales of product sold. Rank the city based on the total sales of products sold.</a:t>
            </a:r>
          </a:p>
        </p:txBody>
      </p:sp>
      <p:sp>
        <p:nvSpPr>
          <p:cNvPr id="4" name="Slide Number Placeholder 3"/>
          <p:cNvSpPr>
            <a:spLocks noGrp="1"/>
          </p:cNvSpPr>
          <p:nvPr>
            <p:ph type="sldNum" sz="quarter" idx="5"/>
          </p:nvPr>
        </p:nvSpPr>
        <p:spPr/>
        <p:txBody>
          <a:bodyPr/>
          <a:lstStyle/>
          <a:p>
            <a:fld id="{80AF86CD-C0D1-4B40-8FCE-F7FC3645DD43}" type="slidenum">
              <a:rPr lang="en-NZ" smtClean="0"/>
              <a:t>20</a:t>
            </a:fld>
            <a:endParaRPr lang="en-NZ"/>
          </a:p>
        </p:txBody>
      </p:sp>
    </p:spTree>
    <p:extLst>
      <p:ext uri="{BB962C8B-B14F-4D97-AF65-F5344CB8AC3E}">
        <p14:creationId xmlns:p14="http://schemas.microsoft.com/office/powerpoint/2010/main" val="34039949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NZ" dirty="0"/>
              <a:t>4. Monthly report on the customers who have bought the most. For each customer, display the customer’s name, the total number of products bought, the total number of product categories bought, the total sales of products bought and the total profits/loss generated so far. Rank the customer based on the total profits/loss generated in descending order. </a:t>
            </a:r>
          </a:p>
          <a:p>
            <a:endParaRPr lang="en-NZ" dirty="0"/>
          </a:p>
        </p:txBody>
      </p:sp>
      <p:sp>
        <p:nvSpPr>
          <p:cNvPr id="4" name="Slide Number Placeholder 3"/>
          <p:cNvSpPr>
            <a:spLocks noGrp="1"/>
          </p:cNvSpPr>
          <p:nvPr>
            <p:ph type="sldNum" sz="quarter" idx="5"/>
          </p:nvPr>
        </p:nvSpPr>
        <p:spPr/>
        <p:txBody>
          <a:bodyPr/>
          <a:lstStyle/>
          <a:p>
            <a:fld id="{80AF86CD-C0D1-4B40-8FCE-F7FC3645DD43}" type="slidenum">
              <a:rPr lang="en-NZ" smtClean="0"/>
              <a:t>21</a:t>
            </a:fld>
            <a:endParaRPr lang="en-NZ"/>
          </a:p>
        </p:txBody>
      </p:sp>
    </p:spTree>
    <p:extLst>
      <p:ext uri="{BB962C8B-B14F-4D97-AF65-F5344CB8AC3E}">
        <p14:creationId xmlns:p14="http://schemas.microsoft.com/office/powerpoint/2010/main" val="41022634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NZ" dirty="0"/>
              <a:t>5. Monthly sales report that list and comparer of Total-Profit with Total-Possible-Profit for each product line. For each product line, display its name, the total number of sales of all the products in that category, and the total profits, total possible profit and different between last two parameters. Rank the line based on the total profits generated in descending order.</a:t>
            </a:r>
          </a:p>
          <a:p>
            <a:endParaRPr lang="en-NZ" dirty="0"/>
          </a:p>
        </p:txBody>
      </p:sp>
      <p:sp>
        <p:nvSpPr>
          <p:cNvPr id="4" name="Slide Number Placeholder 3"/>
          <p:cNvSpPr>
            <a:spLocks noGrp="1"/>
          </p:cNvSpPr>
          <p:nvPr>
            <p:ph type="sldNum" sz="quarter" idx="5"/>
          </p:nvPr>
        </p:nvSpPr>
        <p:spPr/>
        <p:txBody>
          <a:bodyPr/>
          <a:lstStyle/>
          <a:p>
            <a:fld id="{80AF86CD-C0D1-4B40-8FCE-F7FC3645DD43}" type="slidenum">
              <a:rPr lang="en-NZ" smtClean="0"/>
              <a:t>22</a:t>
            </a:fld>
            <a:endParaRPr lang="en-NZ"/>
          </a:p>
        </p:txBody>
      </p:sp>
    </p:spTree>
    <p:extLst>
      <p:ext uri="{BB962C8B-B14F-4D97-AF65-F5344CB8AC3E}">
        <p14:creationId xmlns:p14="http://schemas.microsoft.com/office/powerpoint/2010/main" val="7998313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80AF86CD-C0D1-4B40-8FCE-F7FC3645DD43}" type="slidenum">
              <a:rPr lang="en-NZ" smtClean="0"/>
              <a:t>23</a:t>
            </a:fld>
            <a:endParaRPr lang="en-NZ"/>
          </a:p>
        </p:txBody>
      </p:sp>
    </p:spTree>
    <p:extLst>
      <p:ext uri="{BB962C8B-B14F-4D97-AF65-F5344CB8AC3E}">
        <p14:creationId xmlns:p14="http://schemas.microsoft.com/office/powerpoint/2010/main" val="4031564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4A398-712B-088E-CA67-8A7B36A7459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Z"/>
          </a:p>
        </p:txBody>
      </p:sp>
      <p:sp>
        <p:nvSpPr>
          <p:cNvPr id="3" name="Subtitle 2">
            <a:extLst>
              <a:ext uri="{FF2B5EF4-FFF2-40B4-BE49-F238E27FC236}">
                <a16:creationId xmlns:a16="http://schemas.microsoft.com/office/drawing/2014/main" id="{90A0F731-44B0-EB3E-A533-50D951DFD3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Z"/>
          </a:p>
        </p:txBody>
      </p:sp>
      <p:sp>
        <p:nvSpPr>
          <p:cNvPr id="4" name="Date Placeholder 3">
            <a:extLst>
              <a:ext uri="{FF2B5EF4-FFF2-40B4-BE49-F238E27FC236}">
                <a16:creationId xmlns:a16="http://schemas.microsoft.com/office/drawing/2014/main" id="{56528EC8-70BE-5C96-DBA0-CAC177C1D7EB}"/>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5" name="Footer Placeholder 4">
            <a:extLst>
              <a:ext uri="{FF2B5EF4-FFF2-40B4-BE49-F238E27FC236}">
                <a16:creationId xmlns:a16="http://schemas.microsoft.com/office/drawing/2014/main" id="{C97D8AFA-3D1F-114A-B568-4BBC1B57D21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512400C-C1EF-A9AF-FCC3-FDADEC9213B8}"/>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3000138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AB50D-A426-018A-B737-5DA1204DB708}"/>
              </a:ext>
            </a:extLst>
          </p:cNvPr>
          <p:cNvSpPr>
            <a:spLocks noGrp="1"/>
          </p:cNvSpPr>
          <p:nvPr>
            <p:ph type="title"/>
          </p:nvPr>
        </p:nvSpPr>
        <p:spPr/>
        <p:txBody>
          <a:bodyPr/>
          <a:lstStyle/>
          <a:p>
            <a:r>
              <a:rPr lang="en-GB"/>
              <a:t>Click to edit Master title style</a:t>
            </a:r>
            <a:endParaRPr lang="en-NZ"/>
          </a:p>
        </p:txBody>
      </p:sp>
      <p:sp>
        <p:nvSpPr>
          <p:cNvPr id="3" name="Content Placeholder 2">
            <a:extLst>
              <a:ext uri="{FF2B5EF4-FFF2-40B4-BE49-F238E27FC236}">
                <a16:creationId xmlns:a16="http://schemas.microsoft.com/office/drawing/2014/main" id="{F870CCDB-A684-CF12-FABF-12D54273F02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AE36DF83-6073-F5F0-D273-5D151B02C613}"/>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5" name="Footer Placeholder 4">
            <a:extLst>
              <a:ext uri="{FF2B5EF4-FFF2-40B4-BE49-F238E27FC236}">
                <a16:creationId xmlns:a16="http://schemas.microsoft.com/office/drawing/2014/main" id="{4B62BB32-5D6D-D4AA-0BBD-28ABBAEC8AA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534402F4-8C8C-4166-9108-6955E02D0298}"/>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1867550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953D4-B029-B610-65BE-835ECBEF166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Z"/>
          </a:p>
        </p:txBody>
      </p:sp>
      <p:sp>
        <p:nvSpPr>
          <p:cNvPr id="3" name="Text Placeholder 2">
            <a:extLst>
              <a:ext uri="{FF2B5EF4-FFF2-40B4-BE49-F238E27FC236}">
                <a16:creationId xmlns:a16="http://schemas.microsoft.com/office/drawing/2014/main" id="{C8641D2A-B15A-8E4B-8561-258861BEB0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6E708CE-2BA9-1EC3-6755-4E5BDFAE5582}"/>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5" name="Footer Placeholder 4">
            <a:extLst>
              <a:ext uri="{FF2B5EF4-FFF2-40B4-BE49-F238E27FC236}">
                <a16:creationId xmlns:a16="http://schemas.microsoft.com/office/drawing/2014/main" id="{77A5A26C-58E8-420A-D011-280C9904177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B932015-922F-716C-36F9-83612BC1085D}"/>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224292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0A62D-61CD-14DE-F6A5-D8E8CB1146DE}"/>
              </a:ext>
            </a:extLst>
          </p:cNvPr>
          <p:cNvSpPr>
            <a:spLocks noGrp="1"/>
          </p:cNvSpPr>
          <p:nvPr>
            <p:ph type="title"/>
          </p:nvPr>
        </p:nvSpPr>
        <p:spPr/>
        <p:txBody>
          <a:bodyPr/>
          <a:lstStyle/>
          <a:p>
            <a:r>
              <a:rPr lang="en-GB"/>
              <a:t>Click to edit Master title style</a:t>
            </a:r>
            <a:endParaRPr lang="en-NZ"/>
          </a:p>
        </p:txBody>
      </p:sp>
      <p:sp>
        <p:nvSpPr>
          <p:cNvPr id="3" name="Content Placeholder 2">
            <a:extLst>
              <a:ext uri="{FF2B5EF4-FFF2-40B4-BE49-F238E27FC236}">
                <a16:creationId xmlns:a16="http://schemas.microsoft.com/office/drawing/2014/main" id="{8DCFF1A3-60A0-C378-A81D-5E078B66AB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Content Placeholder 3">
            <a:extLst>
              <a:ext uri="{FF2B5EF4-FFF2-40B4-BE49-F238E27FC236}">
                <a16:creationId xmlns:a16="http://schemas.microsoft.com/office/drawing/2014/main" id="{293E8214-E73E-4AA9-5297-54F266354A9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5" name="Date Placeholder 4">
            <a:extLst>
              <a:ext uri="{FF2B5EF4-FFF2-40B4-BE49-F238E27FC236}">
                <a16:creationId xmlns:a16="http://schemas.microsoft.com/office/drawing/2014/main" id="{0D457A1A-5A6C-EB3F-95FC-A978574FFDA6}"/>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6" name="Footer Placeholder 5">
            <a:extLst>
              <a:ext uri="{FF2B5EF4-FFF2-40B4-BE49-F238E27FC236}">
                <a16:creationId xmlns:a16="http://schemas.microsoft.com/office/drawing/2014/main" id="{C00AE01F-9972-CC30-8E40-49EB6B4C707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FE595575-917B-F622-3970-E943717C996F}"/>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66010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3316F-EB16-7D68-4B4E-7F2432B63156}"/>
              </a:ext>
            </a:extLst>
          </p:cNvPr>
          <p:cNvSpPr>
            <a:spLocks noGrp="1"/>
          </p:cNvSpPr>
          <p:nvPr>
            <p:ph type="title"/>
          </p:nvPr>
        </p:nvSpPr>
        <p:spPr>
          <a:xfrm>
            <a:off x="839788" y="365125"/>
            <a:ext cx="10515600" cy="1325563"/>
          </a:xfrm>
        </p:spPr>
        <p:txBody>
          <a:bodyPr/>
          <a:lstStyle/>
          <a:p>
            <a:r>
              <a:rPr lang="en-GB"/>
              <a:t>Click to edit Master title style</a:t>
            </a:r>
            <a:endParaRPr lang="en-NZ"/>
          </a:p>
        </p:txBody>
      </p:sp>
      <p:sp>
        <p:nvSpPr>
          <p:cNvPr id="3" name="Text Placeholder 2">
            <a:extLst>
              <a:ext uri="{FF2B5EF4-FFF2-40B4-BE49-F238E27FC236}">
                <a16:creationId xmlns:a16="http://schemas.microsoft.com/office/drawing/2014/main" id="{07F2F48B-C693-CAA1-7670-57140ACEDA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6EA409B-8898-50FE-8E2B-5AA34BC33FA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5" name="Text Placeholder 4">
            <a:extLst>
              <a:ext uri="{FF2B5EF4-FFF2-40B4-BE49-F238E27FC236}">
                <a16:creationId xmlns:a16="http://schemas.microsoft.com/office/drawing/2014/main" id="{FB9A16D6-0018-DBB8-8F62-A5E4DE78E9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EC38636-9F54-9CEA-4136-0138934D836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7" name="Date Placeholder 6">
            <a:extLst>
              <a:ext uri="{FF2B5EF4-FFF2-40B4-BE49-F238E27FC236}">
                <a16:creationId xmlns:a16="http://schemas.microsoft.com/office/drawing/2014/main" id="{B11FE416-0271-46CC-528E-99D27B3D7A8B}"/>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8" name="Footer Placeholder 7">
            <a:extLst>
              <a:ext uri="{FF2B5EF4-FFF2-40B4-BE49-F238E27FC236}">
                <a16:creationId xmlns:a16="http://schemas.microsoft.com/office/drawing/2014/main" id="{FEAEB6AD-0D61-8F95-53F3-EF638D5B5DF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298C01BB-9680-AC91-D5BC-3E1FC3343DCC}"/>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1508367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E586E-6F39-CAE0-93B2-B102AC53B0AA}"/>
              </a:ext>
            </a:extLst>
          </p:cNvPr>
          <p:cNvSpPr>
            <a:spLocks noGrp="1"/>
          </p:cNvSpPr>
          <p:nvPr>
            <p:ph type="title"/>
          </p:nvPr>
        </p:nvSpPr>
        <p:spPr/>
        <p:txBody>
          <a:bodyPr/>
          <a:lstStyle/>
          <a:p>
            <a:r>
              <a:rPr lang="en-GB"/>
              <a:t>Click to edit Master title style</a:t>
            </a:r>
            <a:endParaRPr lang="en-NZ"/>
          </a:p>
        </p:txBody>
      </p:sp>
      <p:sp>
        <p:nvSpPr>
          <p:cNvPr id="3" name="Date Placeholder 2">
            <a:extLst>
              <a:ext uri="{FF2B5EF4-FFF2-40B4-BE49-F238E27FC236}">
                <a16:creationId xmlns:a16="http://schemas.microsoft.com/office/drawing/2014/main" id="{0F4BFFD9-6722-57AC-323E-AA9308FCEA55}"/>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4" name="Footer Placeholder 3">
            <a:extLst>
              <a:ext uri="{FF2B5EF4-FFF2-40B4-BE49-F238E27FC236}">
                <a16:creationId xmlns:a16="http://schemas.microsoft.com/office/drawing/2014/main" id="{B1BB106C-936C-6DF5-29DB-99051295CC33}"/>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45E8A727-6847-A371-FCAA-5098B1DC26AA}"/>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3234140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6949A060-D506-AC4C-523B-E7CC4B41A51C}"/>
              </a:ext>
            </a:extLst>
          </p:cNvPr>
          <p:cNvSpPr>
            <a:spLocks noGrp="1"/>
          </p:cNvSpPr>
          <p:nvPr>
            <p:ph type="pic" sz="quarter" idx="12"/>
          </p:nvPr>
        </p:nvSpPr>
        <p:spPr>
          <a:xfrm>
            <a:off x="14633365" y="2943616"/>
            <a:ext cx="5458383" cy="2066120"/>
          </a:xfrm>
          <a:custGeom>
            <a:avLst/>
            <a:gdLst>
              <a:gd name="connsiteX0" fmla="*/ 344360 w 5458383"/>
              <a:gd name="connsiteY0" fmla="*/ 0 h 2066120"/>
              <a:gd name="connsiteX1" fmla="*/ 5114023 w 5458383"/>
              <a:gd name="connsiteY1" fmla="*/ 0 h 2066120"/>
              <a:gd name="connsiteX2" fmla="*/ 5458383 w 5458383"/>
              <a:gd name="connsiteY2" fmla="*/ 344360 h 2066120"/>
              <a:gd name="connsiteX3" fmla="*/ 5458383 w 5458383"/>
              <a:gd name="connsiteY3" fmla="*/ 1721760 h 2066120"/>
              <a:gd name="connsiteX4" fmla="*/ 5114023 w 5458383"/>
              <a:gd name="connsiteY4" fmla="*/ 2066120 h 2066120"/>
              <a:gd name="connsiteX5" fmla="*/ 344360 w 5458383"/>
              <a:gd name="connsiteY5" fmla="*/ 2066120 h 2066120"/>
              <a:gd name="connsiteX6" fmla="*/ 0 w 5458383"/>
              <a:gd name="connsiteY6" fmla="*/ 1721760 h 2066120"/>
              <a:gd name="connsiteX7" fmla="*/ 0 w 5458383"/>
              <a:gd name="connsiteY7" fmla="*/ 344360 h 2066120"/>
              <a:gd name="connsiteX8" fmla="*/ 344360 w 5458383"/>
              <a:gd name="connsiteY8" fmla="*/ 0 h 20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58383" h="2066120">
                <a:moveTo>
                  <a:pt x="344360" y="0"/>
                </a:moveTo>
                <a:lnTo>
                  <a:pt x="5114023" y="0"/>
                </a:lnTo>
                <a:cubicBezTo>
                  <a:pt x="5304207" y="0"/>
                  <a:pt x="5458383" y="154175"/>
                  <a:pt x="5458383" y="344360"/>
                </a:cubicBezTo>
                <a:lnTo>
                  <a:pt x="5458383" y="1721760"/>
                </a:lnTo>
                <a:cubicBezTo>
                  <a:pt x="5458383" y="1911945"/>
                  <a:pt x="5304207" y="2066120"/>
                  <a:pt x="5114023" y="2066120"/>
                </a:cubicBezTo>
                <a:lnTo>
                  <a:pt x="344360" y="2066120"/>
                </a:lnTo>
                <a:cubicBezTo>
                  <a:pt x="154175" y="2066120"/>
                  <a:pt x="0" y="1911945"/>
                  <a:pt x="0" y="1721760"/>
                </a:cubicBezTo>
                <a:lnTo>
                  <a:pt x="0" y="344360"/>
                </a:lnTo>
                <a:cubicBezTo>
                  <a:pt x="0" y="154175"/>
                  <a:pt x="154175" y="0"/>
                  <a:pt x="344360" y="0"/>
                </a:cubicBezTo>
                <a:close/>
              </a:path>
            </a:pathLst>
          </a:custGeom>
          <a:pattFill prst="pct20">
            <a:fgClr>
              <a:schemeClr val="accent1"/>
            </a:fgClr>
            <a:bgClr>
              <a:schemeClr val="bg1"/>
            </a:bgClr>
          </a:pattFill>
          <a:effectLst>
            <a:outerShdw blurRad="152400" dist="38100" dir="5400000" algn="t" rotWithShape="0">
              <a:prstClr val="black">
                <a:alpha val="40000"/>
              </a:prstClr>
            </a:outerShdw>
          </a:effectLst>
        </p:spPr>
        <p:txBody>
          <a:bodyPr wrap="square">
            <a:noAutofit/>
          </a:bodyPr>
          <a:lstStyle/>
          <a:p>
            <a:endParaRPr lang="en-NZ"/>
          </a:p>
        </p:txBody>
      </p:sp>
      <p:sp>
        <p:nvSpPr>
          <p:cNvPr id="22" name="Picture Placeholder 21">
            <a:extLst>
              <a:ext uri="{FF2B5EF4-FFF2-40B4-BE49-F238E27FC236}">
                <a16:creationId xmlns:a16="http://schemas.microsoft.com/office/drawing/2014/main" id="{535034A8-4B4A-EAFA-7CAD-41DF3756A683}"/>
              </a:ext>
            </a:extLst>
          </p:cNvPr>
          <p:cNvSpPr>
            <a:spLocks noGrp="1"/>
          </p:cNvSpPr>
          <p:nvPr>
            <p:ph type="pic" sz="quarter" idx="11"/>
          </p:nvPr>
        </p:nvSpPr>
        <p:spPr>
          <a:xfrm>
            <a:off x="9059283" y="2943616"/>
            <a:ext cx="5458383" cy="2066120"/>
          </a:xfrm>
          <a:custGeom>
            <a:avLst/>
            <a:gdLst>
              <a:gd name="connsiteX0" fmla="*/ 344360 w 5458383"/>
              <a:gd name="connsiteY0" fmla="*/ 0 h 2066120"/>
              <a:gd name="connsiteX1" fmla="*/ 5114023 w 5458383"/>
              <a:gd name="connsiteY1" fmla="*/ 0 h 2066120"/>
              <a:gd name="connsiteX2" fmla="*/ 5458383 w 5458383"/>
              <a:gd name="connsiteY2" fmla="*/ 344360 h 2066120"/>
              <a:gd name="connsiteX3" fmla="*/ 5458383 w 5458383"/>
              <a:gd name="connsiteY3" fmla="*/ 1721760 h 2066120"/>
              <a:gd name="connsiteX4" fmla="*/ 5114023 w 5458383"/>
              <a:gd name="connsiteY4" fmla="*/ 2066120 h 2066120"/>
              <a:gd name="connsiteX5" fmla="*/ 344360 w 5458383"/>
              <a:gd name="connsiteY5" fmla="*/ 2066120 h 2066120"/>
              <a:gd name="connsiteX6" fmla="*/ 0 w 5458383"/>
              <a:gd name="connsiteY6" fmla="*/ 1721760 h 2066120"/>
              <a:gd name="connsiteX7" fmla="*/ 0 w 5458383"/>
              <a:gd name="connsiteY7" fmla="*/ 344360 h 2066120"/>
              <a:gd name="connsiteX8" fmla="*/ 344360 w 5458383"/>
              <a:gd name="connsiteY8" fmla="*/ 0 h 20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58383" h="2066120">
                <a:moveTo>
                  <a:pt x="344360" y="0"/>
                </a:moveTo>
                <a:lnTo>
                  <a:pt x="5114023" y="0"/>
                </a:lnTo>
                <a:cubicBezTo>
                  <a:pt x="5304208" y="0"/>
                  <a:pt x="5458383" y="154175"/>
                  <a:pt x="5458383" y="344360"/>
                </a:cubicBezTo>
                <a:lnTo>
                  <a:pt x="5458383" y="1721760"/>
                </a:lnTo>
                <a:cubicBezTo>
                  <a:pt x="5458383" y="1911945"/>
                  <a:pt x="5304208" y="2066120"/>
                  <a:pt x="5114023" y="2066120"/>
                </a:cubicBezTo>
                <a:lnTo>
                  <a:pt x="344360" y="2066120"/>
                </a:lnTo>
                <a:cubicBezTo>
                  <a:pt x="154175" y="2066120"/>
                  <a:pt x="0" y="1911945"/>
                  <a:pt x="0" y="1721760"/>
                </a:cubicBezTo>
                <a:lnTo>
                  <a:pt x="0" y="344360"/>
                </a:lnTo>
                <a:cubicBezTo>
                  <a:pt x="0" y="154175"/>
                  <a:pt x="154175" y="0"/>
                  <a:pt x="344360" y="0"/>
                </a:cubicBezTo>
                <a:close/>
              </a:path>
            </a:pathLst>
          </a:custGeom>
          <a:pattFill prst="pct20">
            <a:fgClr>
              <a:schemeClr val="accent1"/>
            </a:fgClr>
            <a:bgClr>
              <a:schemeClr val="bg1"/>
            </a:bgClr>
          </a:pattFill>
          <a:effectLst>
            <a:outerShdw blurRad="152400" dist="38100" dir="5400000" algn="t" rotWithShape="0">
              <a:prstClr val="black">
                <a:alpha val="40000"/>
              </a:prstClr>
            </a:outerShdw>
          </a:effectLst>
        </p:spPr>
        <p:txBody>
          <a:bodyPr wrap="square">
            <a:noAutofit/>
          </a:bodyPr>
          <a:lstStyle/>
          <a:p>
            <a:endParaRPr lang="en-NZ"/>
          </a:p>
        </p:txBody>
      </p:sp>
      <p:sp>
        <p:nvSpPr>
          <p:cNvPr id="20" name="Picture Placeholder 19">
            <a:extLst>
              <a:ext uri="{FF2B5EF4-FFF2-40B4-BE49-F238E27FC236}">
                <a16:creationId xmlns:a16="http://schemas.microsoft.com/office/drawing/2014/main" id="{AC3E45A8-74C7-C01D-0814-0E3EE38197E6}"/>
              </a:ext>
            </a:extLst>
          </p:cNvPr>
          <p:cNvSpPr>
            <a:spLocks noGrp="1"/>
          </p:cNvSpPr>
          <p:nvPr>
            <p:ph type="pic" sz="quarter" idx="10"/>
          </p:nvPr>
        </p:nvSpPr>
        <p:spPr>
          <a:xfrm>
            <a:off x="1240077" y="1504132"/>
            <a:ext cx="7703507" cy="3569242"/>
          </a:xfrm>
          <a:custGeom>
            <a:avLst/>
            <a:gdLst>
              <a:gd name="connsiteX0" fmla="*/ 594886 w 7703507"/>
              <a:gd name="connsiteY0" fmla="*/ 0 h 3569242"/>
              <a:gd name="connsiteX1" fmla="*/ 7108621 w 7703507"/>
              <a:gd name="connsiteY1" fmla="*/ 0 h 3569242"/>
              <a:gd name="connsiteX2" fmla="*/ 7703507 w 7703507"/>
              <a:gd name="connsiteY2" fmla="*/ 594886 h 3569242"/>
              <a:gd name="connsiteX3" fmla="*/ 7703507 w 7703507"/>
              <a:gd name="connsiteY3" fmla="*/ 2974356 h 3569242"/>
              <a:gd name="connsiteX4" fmla="*/ 7108621 w 7703507"/>
              <a:gd name="connsiteY4" fmla="*/ 3569242 h 3569242"/>
              <a:gd name="connsiteX5" fmla="*/ 594886 w 7703507"/>
              <a:gd name="connsiteY5" fmla="*/ 3569242 h 3569242"/>
              <a:gd name="connsiteX6" fmla="*/ 0 w 7703507"/>
              <a:gd name="connsiteY6" fmla="*/ 2974356 h 3569242"/>
              <a:gd name="connsiteX7" fmla="*/ 0 w 7703507"/>
              <a:gd name="connsiteY7" fmla="*/ 594886 h 3569242"/>
              <a:gd name="connsiteX8" fmla="*/ 594886 w 7703507"/>
              <a:gd name="connsiteY8" fmla="*/ 0 h 35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03507" h="3569242">
                <a:moveTo>
                  <a:pt x="594886" y="0"/>
                </a:moveTo>
                <a:lnTo>
                  <a:pt x="7108621" y="0"/>
                </a:lnTo>
                <a:cubicBezTo>
                  <a:pt x="7437167" y="0"/>
                  <a:pt x="7703507" y="266340"/>
                  <a:pt x="7703507" y="594886"/>
                </a:cubicBezTo>
                <a:lnTo>
                  <a:pt x="7703507" y="2974356"/>
                </a:lnTo>
                <a:cubicBezTo>
                  <a:pt x="7703507" y="3302902"/>
                  <a:pt x="7437167" y="3569242"/>
                  <a:pt x="7108621" y="3569242"/>
                </a:cubicBezTo>
                <a:lnTo>
                  <a:pt x="594886" y="3569242"/>
                </a:lnTo>
                <a:cubicBezTo>
                  <a:pt x="266340" y="3569242"/>
                  <a:pt x="0" y="3302902"/>
                  <a:pt x="0" y="2974356"/>
                </a:cubicBezTo>
                <a:lnTo>
                  <a:pt x="0" y="594886"/>
                </a:lnTo>
                <a:cubicBezTo>
                  <a:pt x="0" y="266340"/>
                  <a:pt x="266340" y="0"/>
                  <a:pt x="594886" y="0"/>
                </a:cubicBezTo>
                <a:close/>
              </a:path>
            </a:pathLst>
          </a:custGeom>
          <a:pattFill prst="pct20">
            <a:fgClr>
              <a:schemeClr val="accent1"/>
            </a:fgClr>
            <a:bgClr>
              <a:schemeClr val="bg1"/>
            </a:bgClr>
          </a:pattFill>
          <a:effectLst>
            <a:outerShdw blurRad="152400" dist="38100" dir="5400000" algn="t" rotWithShape="0">
              <a:prstClr val="black">
                <a:alpha val="40000"/>
              </a:prstClr>
            </a:outerShdw>
          </a:effectLst>
        </p:spPr>
        <p:txBody>
          <a:bodyPr wrap="square">
            <a:noAutofit/>
          </a:bodyPr>
          <a:lstStyle/>
          <a:p>
            <a:endParaRPr lang="en-NZ"/>
          </a:p>
        </p:txBody>
      </p:sp>
      <p:grpSp>
        <p:nvGrpSpPr>
          <p:cNvPr id="12" name="Graphic 18" descr="Circle with left arrow outline">
            <a:extLst>
              <a:ext uri="{FF2B5EF4-FFF2-40B4-BE49-F238E27FC236}">
                <a16:creationId xmlns:a16="http://schemas.microsoft.com/office/drawing/2014/main" id="{22C28A91-4A28-A031-C888-2A685DAD8ED2}"/>
              </a:ext>
            </a:extLst>
          </p:cNvPr>
          <p:cNvGrpSpPr/>
          <p:nvPr userDrawn="1"/>
        </p:nvGrpSpPr>
        <p:grpSpPr>
          <a:xfrm flipH="1">
            <a:off x="1730930" y="5959939"/>
            <a:ext cx="509188" cy="509188"/>
            <a:chOff x="2550580" y="5999821"/>
            <a:chExt cx="723900" cy="723900"/>
          </a:xfrm>
          <a:solidFill>
            <a:schemeClr val="bg1"/>
          </a:solidFill>
          <a:effectLst>
            <a:outerShdw blurRad="152400" dist="38100" dir="5400000" algn="t" rotWithShape="0">
              <a:prstClr val="black">
                <a:alpha val="40000"/>
              </a:prstClr>
            </a:outerShdw>
          </a:effectLst>
        </p:grpSpPr>
        <p:sp>
          <p:nvSpPr>
            <p:cNvPr id="13" name="Free-form: Shape 12">
              <a:extLst>
                <a:ext uri="{FF2B5EF4-FFF2-40B4-BE49-F238E27FC236}">
                  <a16:creationId xmlns:a16="http://schemas.microsoft.com/office/drawing/2014/main" id="{6D7A51E8-16D5-561A-BD44-E028B9161948}"/>
                </a:ext>
              </a:extLst>
            </p:cNvPr>
            <p:cNvSpPr/>
            <p:nvPr/>
          </p:nvSpPr>
          <p:spPr>
            <a:xfrm>
              <a:off x="2550580" y="5999821"/>
              <a:ext cx="723900" cy="723900"/>
            </a:xfrm>
            <a:custGeom>
              <a:avLst/>
              <a:gdLst>
                <a:gd name="connsiteX0" fmla="*/ 361950 w 723900"/>
                <a:gd name="connsiteY0" fmla="*/ 19050 h 723900"/>
                <a:gd name="connsiteX1" fmla="*/ 704850 w 723900"/>
                <a:gd name="connsiteY1" fmla="*/ 361950 h 723900"/>
                <a:gd name="connsiteX2" fmla="*/ 361950 w 723900"/>
                <a:gd name="connsiteY2" fmla="*/ 704850 h 723900"/>
                <a:gd name="connsiteX3" fmla="*/ 19050 w 723900"/>
                <a:gd name="connsiteY3" fmla="*/ 361950 h 723900"/>
                <a:gd name="connsiteX4" fmla="*/ 361950 w 723900"/>
                <a:gd name="connsiteY4" fmla="*/ 19050 h 723900"/>
                <a:gd name="connsiteX5" fmla="*/ 361950 w 723900"/>
                <a:gd name="connsiteY5" fmla="*/ 0 h 723900"/>
                <a:gd name="connsiteX6" fmla="*/ 0 w 723900"/>
                <a:gd name="connsiteY6" fmla="*/ 361950 h 723900"/>
                <a:gd name="connsiteX7" fmla="*/ 361950 w 723900"/>
                <a:gd name="connsiteY7" fmla="*/ 723900 h 723900"/>
                <a:gd name="connsiteX8" fmla="*/ 723900 w 723900"/>
                <a:gd name="connsiteY8" fmla="*/ 361950 h 723900"/>
                <a:gd name="connsiteX9" fmla="*/ 361950 w 723900"/>
                <a:gd name="connsiteY9"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3900" h="723900">
                  <a:moveTo>
                    <a:pt x="361950" y="19050"/>
                  </a:moveTo>
                  <a:cubicBezTo>
                    <a:pt x="551328" y="19050"/>
                    <a:pt x="704850" y="172571"/>
                    <a:pt x="704850" y="361950"/>
                  </a:cubicBezTo>
                  <a:cubicBezTo>
                    <a:pt x="704850" y="551328"/>
                    <a:pt x="551328" y="704850"/>
                    <a:pt x="361950" y="704850"/>
                  </a:cubicBezTo>
                  <a:cubicBezTo>
                    <a:pt x="172571" y="704850"/>
                    <a:pt x="19050" y="551328"/>
                    <a:pt x="19050" y="361950"/>
                  </a:cubicBezTo>
                  <a:cubicBezTo>
                    <a:pt x="19249" y="172654"/>
                    <a:pt x="172654" y="19249"/>
                    <a:pt x="361950" y="19050"/>
                  </a:cubicBezTo>
                  <a:moveTo>
                    <a:pt x="361950" y="0"/>
                  </a:moveTo>
                  <a:cubicBezTo>
                    <a:pt x="162051" y="0"/>
                    <a:pt x="0" y="162051"/>
                    <a:pt x="0" y="361950"/>
                  </a:cubicBezTo>
                  <a:cubicBezTo>
                    <a:pt x="0" y="561849"/>
                    <a:pt x="162051" y="723900"/>
                    <a:pt x="361950" y="723900"/>
                  </a:cubicBezTo>
                  <a:cubicBezTo>
                    <a:pt x="561849" y="723900"/>
                    <a:pt x="723900" y="561849"/>
                    <a:pt x="723900" y="361950"/>
                  </a:cubicBezTo>
                  <a:cubicBezTo>
                    <a:pt x="723900" y="162051"/>
                    <a:pt x="561849" y="0"/>
                    <a:pt x="361950" y="0"/>
                  </a:cubicBezTo>
                  <a:close/>
                </a:path>
              </a:pathLst>
            </a:custGeom>
            <a:grpFill/>
            <a:ln w="9525" cap="flat">
              <a:noFill/>
              <a:prstDash val="solid"/>
              <a:miter/>
            </a:ln>
          </p:spPr>
          <p:txBody>
            <a:bodyPr rtlCol="0" anchor="ctr"/>
            <a:lstStyle/>
            <a:p>
              <a:endParaRPr lang="en-NZ"/>
            </a:p>
          </p:txBody>
        </p:sp>
        <p:sp>
          <p:nvSpPr>
            <p:cNvPr id="14" name="Free-form: Shape 13">
              <a:extLst>
                <a:ext uri="{FF2B5EF4-FFF2-40B4-BE49-F238E27FC236}">
                  <a16:creationId xmlns:a16="http://schemas.microsoft.com/office/drawing/2014/main" id="{472FA7E9-EA2A-D289-87A9-B669C48927FB}"/>
                </a:ext>
              </a:extLst>
            </p:cNvPr>
            <p:cNvSpPr/>
            <p:nvPr/>
          </p:nvSpPr>
          <p:spPr>
            <a:xfrm>
              <a:off x="2668061" y="6209487"/>
              <a:ext cx="482601" cy="304800"/>
            </a:xfrm>
            <a:custGeom>
              <a:avLst/>
              <a:gdLst>
                <a:gd name="connsiteX0" fmla="*/ 479812 w 482601"/>
                <a:gd name="connsiteY0" fmla="*/ 145549 h 304800"/>
                <a:gd name="connsiteX1" fmla="*/ 336937 w 482601"/>
                <a:gd name="connsiteY1" fmla="*/ 2674 h 304800"/>
                <a:gd name="connsiteX2" fmla="*/ 323469 w 482601"/>
                <a:gd name="connsiteY2" fmla="*/ 2908 h 304800"/>
                <a:gd name="connsiteX3" fmla="*/ 323469 w 482601"/>
                <a:gd name="connsiteY3" fmla="*/ 16142 h 304800"/>
                <a:gd name="connsiteX4" fmla="*/ 449923 w 482601"/>
                <a:gd name="connsiteY4" fmla="*/ 142596 h 304800"/>
                <a:gd name="connsiteX5" fmla="*/ 449856 w 482601"/>
                <a:gd name="connsiteY5" fmla="*/ 142758 h 304800"/>
                <a:gd name="connsiteX6" fmla="*/ 9525 w 482601"/>
                <a:gd name="connsiteY6" fmla="*/ 142758 h 304800"/>
                <a:gd name="connsiteX7" fmla="*/ 0 w 482601"/>
                <a:gd name="connsiteY7" fmla="*/ 152283 h 304800"/>
                <a:gd name="connsiteX8" fmla="*/ 9525 w 482601"/>
                <a:gd name="connsiteY8" fmla="*/ 161808 h 304800"/>
                <a:gd name="connsiteX9" fmla="*/ 449856 w 482601"/>
                <a:gd name="connsiteY9" fmla="*/ 161808 h 304800"/>
                <a:gd name="connsiteX10" fmla="*/ 449951 w 482601"/>
                <a:gd name="connsiteY10" fmla="*/ 161904 h 304800"/>
                <a:gd name="connsiteX11" fmla="*/ 449923 w 482601"/>
                <a:gd name="connsiteY11" fmla="*/ 161970 h 304800"/>
                <a:gd name="connsiteX12" fmla="*/ 323469 w 482601"/>
                <a:gd name="connsiteY12" fmla="*/ 288424 h 304800"/>
                <a:gd name="connsiteX13" fmla="*/ 323235 w 482601"/>
                <a:gd name="connsiteY13" fmla="*/ 301892 h 304800"/>
                <a:gd name="connsiteX14" fmla="*/ 336703 w 482601"/>
                <a:gd name="connsiteY14" fmla="*/ 302127 h 304800"/>
                <a:gd name="connsiteX15" fmla="*/ 336937 w 482601"/>
                <a:gd name="connsiteY15" fmla="*/ 301892 h 304800"/>
                <a:gd name="connsiteX16" fmla="*/ 479812 w 482601"/>
                <a:gd name="connsiteY16" fmla="*/ 159017 h 304800"/>
                <a:gd name="connsiteX17" fmla="*/ 479812 w 482601"/>
                <a:gd name="connsiteY17" fmla="*/ 145549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2601" h="304800">
                  <a:moveTo>
                    <a:pt x="479812" y="145549"/>
                  </a:moveTo>
                  <a:lnTo>
                    <a:pt x="336937" y="2674"/>
                  </a:lnTo>
                  <a:cubicBezTo>
                    <a:pt x="333153" y="-981"/>
                    <a:pt x="327124" y="-876"/>
                    <a:pt x="323469" y="2908"/>
                  </a:cubicBezTo>
                  <a:cubicBezTo>
                    <a:pt x="319904" y="6599"/>
                    <a:pt x="319904" y="12451"/>
                    <a:pt x="323469" y="16142"/>
                  </a:cubicBezTo>
                  <a:lnTo>
                    <a:pt x="449923" y="142596"/>
                  </a:lnTo>
                  <a:cubicBezTo>
                    <a:pt x="450009" y="142682"/>
                    <a:pt x="449980" y="142758"/>
                    <a:pt x="449856" y="142758"/>
                  </a:cubicBezTo>
                  <a:lnTo>
                    <a:pt x="9525" y="142758"/>
                  </a:lnTo>
                  <a:cubicBezTo>
                    <a:pt x="4264" y="142758"/>
                    <a:pt x="0" y="147022"/>
                    <a:pt x="0" y="152283"/>
                  </a:cubicBezTo>
                  <a:cubicBezTo>
                    <a:pt x="0" y="157544"/>
                    <a:pt x="4264" y="161808"/>
                    <a:pt x="9525" y="161808"/>
                  </a:cubicBezTo>
                  <a:lnTo>
                    <a:pt x="449856" y="161808"/>
                  </a:lnTo>
                  <a:cubicBezTo>
                    <a:pt x="449909" y="161809"/>
                    <a:pt x="449951" y="161852"/>
                    <a:pt x="449951" y="161904"/>
                  </a:cubicBezTo>
                  <a:cubicBezTo>
                    <a:pt x="449950" y="161929"/>
                    <a:pt x="449940" y="161953"/>
                    <a:pt x="449923" y="161970"/>
                  </a:cubicBezTo>
                  <a:lnTo>
                    <a:pt x="323469" y="288424"/>
                  </a:lnTo>
                  <a:cubicBezTo>
                    <a:pt x="319685" y="292079"/>
                    <a:pt x="319580" y="298108"/>
                    <a:pt x="323235" y="301892"/>
                  </a:cubicBezTo>
                  <a:cubicBezTo>
                    <a:pt x="326889" y="305677"/>
                    <a:pt x="332920" y="305781"/>
                    <a:pt x="336703" y="302127"/>
                  </a:cubicBezTo>
                  <a:cubicBezTo>
                    <a:pt x="336783" y="302049"/>
                    <a:pt x="336861" y="301971"/>
                    <a:pt x="336937" y="301892"/>
                  </a:cubicBezTo>
                  <a:lnTo>
                    <a:pt x="479812" y="159017"/>
                  </a:lnTo>
                  <a:cubicBezTo>
                    <a:pt x="483531" y="155298"/>
                    <a:pt x="483531" y="149268"/>
                    <a:pt x="479812" y="145549"/>
                  </a:cubicBezTo>
                  <a:close/>
                </a:path>
              </a:pathLst>
            </a:custGeom>
            <a:grpFill/>
            <a:ln w="9525" cap="flat">
              <a:noFill/>
              <a:prstDash val="solid"/>
              <a:miter/>
            </a:ln>
          </p:spPr>
          <p:txBody>
            <a:bodyPr rtlCol="0" anchor="ctr"/>
            <a:lstStyle/>
            <a:p>
              <a:endParaRPr lang="en-NZ"/>
            </a:p>
          </p:txBody>
        </p:sp>
      </p:grpSp>
      <p:grpSp>
        <p:nvGrpSpPr>
          <p:cNvPr id="15" name="Graphic 20" descr="Circle with left arrow outline">
            <a:extLst>
              <a:ext uri="{FF2B5EF4-FFF2-40B4-BE49-F238E27FC236}">
                <a16:creationId xmlns:a16="http://schemas.microsoft.com/office/drawing/2014/main" id="{2673611E-6E4A-C08B-3354-3191DBC6D992}"/>
              </a:ext>
            </a:extLst>
          </p:cNvPr>
          <p:cNvGrpSpPr/>
          <p:nvPr userDrawn="1"/>
        </p:nvGrpSpPr>
        <p:grpSpPr>
          <a:xfrm>
            <a:off x="2663911" y="5965101"/>
            <a:ext cx="509188" cy="509188"/>
            <a:chOff x="3483561" y="6004983"/>
            <a:chExt cx="723900" cy="723900"/>
          </a:xfrm>
          <a:solidFill>
            <a:schemeClr val="bg1"/>
          </a:solidFill>
          <a:effectLst>
            <a:outerShdw blurRad="152400" dist="38100" dir="5400000" algn="t" rotWithShape="0">
              <a:prstClr val="black">
                <a:alpha val="40000"/>
              </a:prstClr>
            </a:outerShdw>
          </a:effectLst>
        </p:grpSpPr>
        <p:sp>
          <p:nvSpPr>
            <p:cNvPr id="16" name="Free-form: Shape 15">
              <a:extLst>
                <a:ext uri="{FF2B5EF4-FFF2-40B4-BE49-F238E27FC236}">
                  <a16:creationId xmlns:a16="http://schemas.microsoft.com/office/drawing/2014/main" id="{7B345EB6-FD6C-B257-6F5E-AE488394842D}"/>
                </a:ext>
              </a:extLst>
            </p:cNvPr>
            <p:cNvSpPr/>
            <p:nvPr/>
          </p:nvSpPr>
          <p:spPr>
            <a:xfrm>
              <a:off x="3483561" y="6004983"/>
              <a:ext cx="723900" cy="723900"/>
            </a:xfrm>
            <a:custGeom>
              <a:avLst/>
              <a:gdLst>
                <a:gd name="connsiteX0" fmla="*/ 361950 w 723900"/>
                <a:gd name="connsiteY0" fmla="*/ 19050 h 723900"/>
                <a:gd name="connsiteX1" fmla="*/ 704850 w 723900"/>
                <a:gd name="connsiteY1" fmla="*/ 361950 h 723900"/>
                <a:gd name="connsiteX2" fmla="*/ 361950 w 723900"/>
                <a:gd name="connsiteY2" fmla="*/ 704850 h 723900"/>
                <a:gd name="connsiteX3" fmla="*/ 19050 w 723900"/>
                <a:gd name="connsiteY3" fmla="*/ 361950 h 723900"/>
                <a:gd name="connsiteX4" fmla="*/ 361950 w 723900"/>
                <a:gd name="connsiteY4" fmla="*/ 19050 h 723900"/>
                <a:gd name="connsiteX5" fmla="*/ 361950 w 723900"/>
                <a:gd name="connsiteY5" fmla="*/ 0 h 723900"/>
                <a:gd name="connsiteX6" fmla="*/ 0 w 723900"/>
                <a:gd name="connsiteY6" fmla="*/ 361950 h 723900"/>
                <a:gd name="connsiteX7" fmla="*/ 361950 w 723900"/>
                <a:gd name="connsiteY7" fmla="*/ 723900 h 723900"/>
                <a:gd name="connsiteX8" fmla="*/ 723900 w 723900"/>
                <a:gd name="connsiteY8" fmla="*/ 361950 h 723900"/>
                <a:gd name="connsiteX9" fmla="*/ 361950 w 723900"/>
                <a:gd name="connsiteY9" fmla="*/ 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3900" h="723900">
                  <a:moveTo>
                    <a:pt x="361950" y="19050"/>
                  </a:moveTo>
                  <a:cubicBezTo>
                    <a:pt x="551328" y="19050"/>
                    <a:pt x="704850" y="172571"/>
                    <a:pt x="704850" y="361950"/>
                  </a:cubicBezTo>
                  <a:cubicBezTo>
                    <a:pt x="704850" y="551328"/>
                    <a:pt x="551328" y="704850"/>
                    <a:pt x="361950" y="704850"/>
                  </a:cubicBezTo>
                  <a:cubicBezTo>
                    <a:pt x="172571" y="704850"/>
                    <a:pt x="19050" y="551328"/>
                    <a:pt x="19050" y="361950"/>
                  </a:cubicBezTo>
                  <a:cubicBezTo>
                    <a:pt x="19249" y="172654"/>
                    <a:pt x="172654" y="19249"/>
                    <a:pt x="361950" y="19050"/>
                  </a:cubicBezTo>
                  <a:moveTo>
                    <a:pt x="361950" y="0"/>
                  </a:moveTo>
                  <a:cubicBezTo>
                    <a:pt x="162051" y="0"/>
                    <a:pt x="0" y="162051"/>
                    <a:pt x="0" y="361950"/>
                  </a:cubicBezTo>
                  <a:cubicBezTo>
                    <a:pt x="0" y="561849"/>
                    <a:pt x="162051" y="723900"/>
                    <a:pt x="361950" y="723900"/>
                  </a:cubicBezTo>
                  <a:cubicBezTo>
                    <a:pt x="561849" y="723900"/>
                    <a:pt x="723900" y="561849"/>
                    <a:pt x="723900" y="361950"/>
                  </a:cubicBezTo>
                  <a:cubicBezTo>
                    <a:pt x="723900" y="162051"/>
                    <a:pt x="561849" y="0"/>
                    <a:pt x="361950" y="0"/>
                  </a:cubicBezTo>
                  <a:close/>
                </a:path>
              </a:pathLst>
            </a:custGeom>
            <a:grpFill/>
            <a:ln w="9525" cap="flat">
              <a:noFill/>
              <a:prstDash val="solid"/>
              <a:miter/>
            </a:ln>
          </p:spPr>
          <p:txBody>
            <a:bodyPr rtlCol="0" anchor="ctr"/>
            <a:lstStyle/>
            <a:p>
              <a:endParaRPr lang="en-NZ"/>
            </a:p>
          </p:txBody>
        </p:sp>
        <p:sp>
          <p:nvSpPr>
            <p:cNvPr id="17" name="Free-form: Shape 16">
              <a:extLst>
                <a:ext uri="{FF2B5EF4-FFF2-40B4-BE49-F238E27FC236}">
                  <a16:creationId xmlns:a16="http://schemas.microsoft.com/office/drawing/2014/main" id="{FC6CCCD0-E911-276D-E754-8AA5F1F078D0}"/>
                </a:ext>
              </a:extLst>
            </p:cNvPr>
            <p:cNvSpPr/>
            <p:nvPr/>
          </p:nvSpPr>
          <p:spPr>
            <a:xfrm>
              <a:off x="3601042" y="6214649"/>
              <a:ext cx="482601" cy="304800"/>
            </a:xfrm>
            <a:custGeom>
              <a:avLst/>
              <a:gdLst>
                <a:gd name="connsiteX0" fmla="*/ 479812 w 482601"/>
                <a:gd name="connsiteY0" fmla="*/ 145549 h 304800"/>
                <a:gd name="connsiteX1" fmla="*/ 336937 w 482601"/>
                <a:gd name="connsiteY1" fmla="*/ 2674 h 304800"/>
                <a:gd name="connsiteX2" fmla="*/ 323469 w 482601"/>
                <a:gd name="connsiteY2" fmla="*/ 2908 h 304800"/>
                <a:gd name="connsiteX3" fmla="*/ 323469 w 482601"/>
                <a:gd name="connsiteY3" fmla="*/ 16142 h 304800"/>
                <a:gd name="connsiteX4" fmla="*/ 449923 w 482601"/>
                <a:gd name="connsiteY4" fmla="*/ 142596 h 304800"/>
                <a:gd name="connsiteX5" fmla="*/ 449856 w 482601"/>
                <a:gd name="connsiteY5" fmla="*/ 142758 h 304800"/>
                <a:gd name="connsiteX6" fmla="*/ 9525 w 482601"/>
                <a:gd name="connsiteY6" fmla="*/ 142758 h 304800"/>
                <a:gd name="connsiteX7" fmla="*/ 0 w 482601"/>
                <a:gd name="connsiteY7" fmla="*/ 152283 h 304800"/>
                <a:gd name="connsiteX8" fmla="*/ 9525 w 482601"/>
                <a:gd name="connsiteY8" fmla="*/ 161808 h 304800"/>
                <a:gd name="connsiteX9" fmla="*/ 449856 w 482601"/>
                <a:gd name="connsiteY9" fmla="*/ 161808 h 304800"/>
                <a:gd name="connsiteX10" fmla="*/ 449951 w 482601"/>
                <a:gd name="connsiteY10" fmla="*/ 161904 h 304800"/>
                <a:gd name="connsiteX11" fmla="*/ 449923 w 482601"/>
                <a:gd name="connsiteY11" fmla="*/ 161970 h 304800"/>
                <a:gd name="connsiteX12" fmla="*/ 323469 w 482601"/>
                <a:gd name="connsiteY12" fmla="*/ 288424 h 304800"/>
                <a:gd name="connsiteX13" fmla="*/ 323235 w 482601"/>
                <a:gd name="connsiteY13" fmla="*/ 301892 h 304800"/>
                <a:gd name="connsiteX14" fmla="*/ 336703 w 482601"/>
                <a:gd name="connsiteY14" fmla="*/ 302127 h 304800"/>
                <a:gd name="connsiteX15" fmla="*/ 336937 w 482601"/>
                <a:gd name="connsiteY15" fmla="*/ 301892 h 304800"/>
                <a:gd name="connsiteX16" fmla="*/ 479812 w 482601"/>
                <a:gd name="connsiteY16" fmla="*/ 159017 h 304800"/>
                <a:gd name="connsiteX17" fmla="*/ 479812 w 482601"/>
                <a:gd name="connsiteY17" fmla="*/ 145549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2601" h="304800">
                  <a:moveTo>
                    <a:pt x="479812" y="145549"/>
                  </a:moveTo>
                  <a:lnTo>
                    <a:pt x="336937" y="2674"/>
                  </a:lnTo>
                  <a:cubicBezTo>
                    <a:pt x="333153" y="-981"/>
                    <a:pt x="327124" y="-876"/>
                    <a:pt x="323469" y="2908"/>
                  </a:cubicBezTo>
                  <a:cubicBezTo>
                    <a:pt x="319904" y="6599"/>
                    <a:pt x="319904" y="12451"/>
                    <a:pt x="323469" y="16142"/>
                  </a:cubicBezTo>
                  <a:lnTo>
                    <a:pt x="449923" y="142596"/>
                  </a:lnTo>
                  <a:cubicBezTo>
                    <a:pt x="450009" y="142682"/>
                    <a:pt x="449980" y="142758"/>
                    <a:pt x="449856" y="142758"/>
                  </a:cubicBezTo>
                  <a:lnTo>
                    <a:pt x="9525" y="142758"/>
                  </a:lnTo>
                  <a:cubicBezTo>
                    <a:pt x="4264" y="142758"/>
                    <a:pt x="0" y="147022"/>
                    <a:pt x="0" y="152283"/>
                  </a:cubicBezTo>
                  <a:cubicBezTo>
                    <a:pt x="0" y="157544"/>
                    <a:pt x="4264" y="161808"/>
                    <a:pt x="9525" y="161808"/>
                  </a:cubicBezTo>
                  <a:lnTo>
                    <a:pt x="449856" y="161808"/>
                  </a:lnTo>
                  <a:cubicBezTo>
                    <a:pt x="449909" y="161809"/>
                    <a:pt x="449951" y="161852"/>
                    <a:pt x="449951" y="161904"/>
                  </a:cubicBezTo>
                  <a:cubicBezTo>
                    <a:pt x="449950" y="161929"/>
                    <a:pt x="449940" y="161953"/>
                    <a:pt x="449923" y="161970"/>
                  </a:cubicBezTo>
                  <a:lnTo>
                    <a:pt x="323469" y="288424"/>
                  </a:lnTo>
                  <a:cubicBezTo>
                    <a:pt x="319685" y="292079"/>
                    <a:pt x="319580" y="298108"/>
                    <a:pt x="323235" y="301892"/>
                  </a:cubicBezTo>
                  <a:cubicBezTo>
                    <a:pt x="326889" y="305677"/>
                    <a:pt x="332920" y="305781"/>
                    <a:pt x="336703" y="302127"/>
                  </a:cubicBezTo>
                  <a:cubicBezTo>
                    <a:pt x="336783" y="302049"/>
                    <a:pt x="336861" y="301971"/>
                    <a:pt x="336937" y="301892"/>
                  </a:cubicBezTo>
                  <a:lnTo>
                    <a:pt x="479812" y="159017"/>
                  </a:lnTo>
                  <a:cubicBezTo>
                    <a:pt x="483531" y="155298"/>
                    <a:pt x="483531" y="149268"/>
                    <a:pt x="479812" y="145549"/>
                  </a:cubicBezTo>
                  <a:close/>
                </a:path>
              </a:pathLst>
            </a:custGeom>
            <a:grpFill/>
            <a:ln w="9525" cap="flat">
              <a:noFill/>
              <a:prstDash val="solid"/>
              <a:miter/>
            </a:ln>
          </p:spPr>
          <p:txBody>
            <a:bodyPr rtlCol="0" anchor="ctr"/>
            <a:lstStyle/>
            <a:p>
              <a:endParaRPr lang="en-NZ"/>
            </a:p>
          </p:txBody>
        </p:sp>
      </p:grpSp>
      <p:sp>
        <p:nvSpPr>
          <p:cNvPr id="28" name="Picture Placeholder 27">
            <a:extLst>
              <a:ext uri="{FF2B5EF4-FFF2-40B4-BE49-F238E27FC236}">
                <a16:creationId xmlns:a16="http://schemas.microsoft.com/office/drawing/2014/main" id="{653E5AEF-4748-C91A-0C2B-DA40DFFFB34A}"/>
              </a:ext>
            </a:extLst>
          </p:cNvPr>
          <p:cNvSpPr>
            <a:spLocks noGrp="1"/>
          </p:cNvSpPr>
          <p:nvPr>
            <p:ph type="pic" sz="quarter" idx="13"/>
          </p:nvPr>
        </p:nvSpPr>
        <p:spPr>
          <a:xfrm>
            <a:off x="20207447" y="3007254"/>
            <a:ext cx="5458383" cy="2066120"/>
          </a:xfrm>
          <a:custGeom>
            <a:avLst/>
            <a:gdLst>
              <a:gd name="connsiteX0" fmla="*/ 344360 w 5458383"/>
              <a:gd name="connsiteY0" fmla="*/ 0 h 2066120"/>
              <a:gd name="connsiteX1" fmla="*/ 5114023 w 5458383"/>
              <a:gd name="connsiteY1" fmla="*/ 0 h 2066120"/>
              <a:gd name="connsiteX2" fmla="*/ 5458383 w 5458383"/>
              <a:gd name="connsiteY2" fmla="*/ 344360 h 2066120"/>
              <a:gd name="connsiteX3" fmla="*/ 5458383 w 5458383"/>
              <a:gd name="connsiteY3" fmla="*/ 1721760 h 2066120"/>
              <a:gd name="connsiteX4" fmla="*/ 5114023 w 5458383"/>
              <a:gd name="connsiteY4" fmla="*/ 2066120 h 2066120"/>
              <a:gd name="connsiteX5" fmla="*/ 344360 w 5458383"/>
              <a:gd name="connsiteY5" fmla="*/ 2066120 h 2066120"/>
              <a:gd name="connsiteX6" fmla="*/ 0 w 5458383"/>
              <a:gd name="connsiteY6" fmla="*/ 1721760 h 2066120"/>
              <a:gd name="connsiteX7" fmla="*/ 0 w 5458383"/>
              <a:gd name="connsiteY7" fmla="*/ 344360 h 2066120"/>
              <a:gd name="connsiteX8" fmla="*/ 344360 w 5458383"/>
              <a:gd name="connsiteY8" fmla="*/ 0 h 20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58383" h="2066120">
                <a:moveTo>
                  <a:pt x="344360" y="0"/>
                </a:moveTo>
                <a:lnTo>
                  <a:pt x="5114023" y="0"/>
                </a:lnTo>
                <a:cubicBezTo>
                  <a:pt x="5304207" y="0"/>
                  <a:pt x="5458383" y="154175"/>
                  <a:pt x="5458383" y="344360"/>
                </a:cubicBezTo>
                <a:lnTo>
                  <a:pt x="5458383" y="1721760"/>
                </a:lnTo>
                <a:cubicBezTo>
                  <a:pt x="5458383" y="1911945"/>
                  <a:pt x="5304207" y="2066120"/>
                  <a:pt x="5114023" y="2066120"/>
                </a:cubicBezTo>
                <a:lnTo>
                  <a:pt x="344360" y="2066120"/>
                </a:lnTo>
                <a:cubicBezTo>
                  <a:pt x="154175" y="2066120"/>
                  <a:pt x="0" y="1911945"/>
                  <a:pt x="0" y="1721760"/>
                </a:cubicBezTo>
                <a:lnTo>
                  <a:pt x="0" y="344360"/>
                </a:lnTo>
                <a:cubicBezTo>
                  <a:pt x="0" y="154175"/>
                  <a:pt x="154175" y="0"/>
                  <a:pt x="344360" y="0"/>
                </a:cubicBezTo>
                <a:close/>
              </a:path>
            </a:pathLst>
          </a:custGeom>
          <a:pattFill prst="pct20">
            <a:fgClr>
              <a:schemeClr val="accent1"/>
            </a:fgClr>
            <a:bgClr>
              <a:schemeClr val="bg1"/>
            </a:bgClr>
          </a:pattFill>
          <a:effectLst>
            <a:outerShdw blurRad="152400" dist="38100" dir="5400000" algn="t" rotWithShape="0">
              <a:prstClr val="black">
                <a:alpha val="40000"/>
              </a:prstClr>
            </a:outerShdw>
          </a:effectLst>
        </p:spPr>
        <p:txBody>
          <a:bodyPr wrap="square">
            <a:noAutofit/>
          </a:bodyPr>
          <a:lstStyle/>
          <a:p>
            <a:endParaRPr lang="en-NZ"/>
          </a:p>
        </p:txBody>
      </p:sp>
      <p:sp>
        <p:nvSpPr>
          <p:cNvPr id="29" name="Picture Placeholder 28">
            <a:extLst>
              <a:ext uri="{FF2B5EF4-FFF2-40B4-BE49-F238E27FC236}">
                <a16:creationId xmlns:a16="http://schemas.microsoft.com/office/drawing/2014/main" id="{F402DFAC-A795-AE89-BBB0-A9A9285109D0}"/>
              </a:ext>
            </a:extLst>
          </p:cNvPr>
          <p:cNvSpPr>
            <a:spLocks noGrp="1"/>
          </p:cNvSpPr>
          <p:nvPr>
            <p:ph type="pic" sz="quarter" idx="14"/>
          </p:nvPr>
        </p:nvSpPr>
        <p:spPr>
          <a:xfrm>
            <a:off x="25781529" y="3007254"/>
            <a:ext cx="5458383" cy="2066120"/>
          </a:xfrm>
          <a:custGeom>
            <a:avLst/>
            <a:gdLst>
              <a:gd name="connsiteX0" fmla="*/ 344360 w 5458383"/>
              <a:gd name="connsiteY0" fmla="*/ 0 h 2066120"/>
              <a:gd name="connsiteX1" fmla="*/ 5114023 w 5458383"/>
              <a:gd name="connsiteY1" fmla="*/ 0 h 2066120"/>
              <a:gd name="connsiteX2" fmla="*/ 5458383 w 5458383"/>
              <a:gd name="connsiteY2" fmla="*/ 344360 h 2066120"/>
              <a:gd name="connsiteX3" fmla="*/ 5458383 w 5458383"/>
              <a:gd name="connsiteY3" fmla="*/ 1721760 h 2066120"/>
              <a:gd name="connsiteX4" fmla="*/ 5114023 w 5458383"/>
              <a:gd name="connsiteY4" fmla="*/ 2066120 h 2066120"/>
              <a:gd name="connsiteX5" fmla="*/ 344360 w 5458383"/>
              <a:gd name="connsiteY5" fmla="*/ 2066120 h 2066120"/>
              <a:gd name="connsiteX6" fmla="*/ 0 w 5458383"/>
              <a:gd name="connsiteY6" fmla="*/ 1721760 h 2066120"/>
              <a:gd name="connsiteX7" fmla="*/ 0 w 5458383"/>
              <a:gd name="connsiteY7" fmla="*/ 344360 h 2066120"/>
              <a:gd name="connsiteX8" fmla="*/ 344360 w 5458383"/>
              <a:gd name="connsiteY8" fmla="*/ 0 h 206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58383" h="2066120">
                <a:moveTo>
                  <a:pt x="344360" y="0"/>
                </a:moveTo>
                <a:lnTo>
                  <a:pt x="5114023" y="0"/>
                </a:lnTo>
                <a:cubicBezTo>
                  <a:pt x="5304207" y="0"/>
                  <a:pt x="5458383" y="154175"/>
                  <a:pt x="5458383" y="344360"/>
                </a:cubicBezTo>
                <a:lnTo>
                  <a:pt x="5458383" y="1721760"/>
                </a:lnTo>
                <a:cubicBezTo>
                  <a:pt x="5458383" y="1911945"/>
                  <a:pt x="5304207" y="2066120"/>
                  <a:pt x="5114023" y="2066120"/>
                </a:cubicBezTo>
                <a:lnTo>
                  <a:pt x="344360" y="2066120"/>
                </a:lnTo>
                <a:cubicBezTo>
                  <a:pt x="154175" y="2066120"/>
                  <a:pt x="0" y="1911945"/>
                  <a:pt x="0" y="1721760"/>
                </a:cubicBezTo>
                <a:lnTo>
                  <a:pt x="0" y="344360"/>
                </a:lnTo>
                <a:cubicBezTo>
                  <a:pt x="0" y="154175"/>
                  <a:pt x="154175" y="0"/>
                  <a:pt x="344360" y="0"/>
                </a:cubicBezTo>
                <a:close/>
              </a:path>
            </a:pathLst>
          </a:custGeom>
          <a:pattFill prst="pct20">
            <a:fgClr>
              <a:schemeClr val="accent1"/>
            </a:fgClr>
            <a:bgClr>
              <a:schemeClr val="bg1"/>
            </a:bgClr>
          </a:pattFill>
          <a:effectLst>
            <a:outerShdw blurRad="152400" dist="38100" dir="5400000" algn="t" rotWithShape="0">
              <a:prstClr val="black">
                <a:alpha val="40000"/>
              </a:prstClr>
            </a:outerShdw>
          </a:effectLst>
        </p:spPr>
        <p:txBody>
          <a:bodyPr wrap="square">
            <a:noAutofit/>
          </a:bodyPr>
          <a:lstStyle/>
          <a:p>
            <a:endParaRPr lang="en-NZ"/>
          </a:p>
        </p:txBody>
      </p:sp>
    </p:spTree>
    <p:extLst>
      <p:ext uri="{BB962C8B-B14F-4D97-AF65-F5344CB8AC3E}">
        <p14:creationId xmlns:p14="http://schemas.microsoft.com/office/powerpoint/2010/main" val="340729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C62F0-D422-D177-DFB4-AC84111AFD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Z"/>
          </a:p>
        </p:txBody>
      </p:sp>
      <p:sp>
        <p:nvSpPr>
          <p:cNvPr id="3" name="Content Placeholder 2">
            <a:extLst>
              <a:ext uri="{FF2B5EF4-FFF2-40B4-BE49-F238E27FC236}">
                <a16:creationId xmlns:a16="http://schemas.microsoft.com/office/drawing/2014/main" id="{5F3277A4-44E1-670F-12C7-1BEBE3EC2C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Text Placeholder 3">
            <a:extLst>
              <a:ext uri="{FF2B5EF4-FFF2-40B4-BE49-F238E27FC236}">
                <a16:creationId xmlns:a16="http://schemas.microsoft.com/office/drawing/2014/main" id="{CD96DF37-EB7D-6601-3663-8BFDB4DA60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62EDC60-DB83-D0DB-79BD-70CBA8AE3805}"/>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6" name="Footer Placeholder 5">
            <a:extLst>
              <a:ext uri="{FF2B5EF4-FFF2-40B4-BE49-F238E27FC236}">
                <a16:creationId xmlns:a16="http://schemas.microsoft.com/office/drawing/2014/main" id="{2DEDC310-90C4-2B33-4DDB-E0ABB618FCFE}"/>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206F3C06-B4F6-8F30-DD34-5080B478D739}"/>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2508355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BC255-FD8C-202F-5736-3FA821F1F3C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Z"/>
          </a:p>
        </p:txBody>
      </p:sp>
      <p:sp>
        <p:nvSpPr>
          <p:cNvPr id="3" name="Picture Placeholder 2">
            <a:extLst>
              <a:ext uri="{FF2B5EF4-FFF2-40B4-BE49-F238E27FC236}">
                <a16:creationId xmlns:a16="http://schemas.microsoft.com/office/drawing/2014/main" id="{C425CC1B-6FC1-BDA0-128B-BAE12724CD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B7E7AB9A-D66C-8B34-1BD9-5A686EB4DC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1F2288-BD5C-3CBD-1406-FF63E22C3B2D}"/>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6" name="Footer Placeholder 5">
            <a:extLst>
              <a:ext uri="{FF2B5EF4-FFF2-40B4-BE49-F238E27FC236}">
                <a16:creationId xmlns:a16="http://schemas.microsoft.com/office/drawing/2014/main" id="{1C8149C3-7787-6E5A-0869-2E0422808AC5}"/>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649C24C6-2A77-1BF7-453E-849A8CF4C690}"/>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4247106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1E481-E289-579D-05F2-67CB15E1C068}"/>
              </a:ext>
            </a:extLst>
          </p:cNvPr>
          <p:cNvSpPr>
            <a:spLocks noGrp="1"/>
          </p:cNvSpPr>
          <p:nvPr>
            <p:ph type="title"/>
          </p:nvPr>
        </p:nvSpPr>
        <p:spPr/>
        <p:txBody>
          <a:bodyPr/>
          <a:lstStyle/>
          <a:p>
            <a:r>
              <a:rPr lang="en-GB"/>
              <a:t>Click to edit Master title style</a:t>
            </a:r>
            <a:endParaRPr lang="en-NZ"/>
          </a:p>
        </p:txBody>
      </p:sp>
      <p:sp>
        <p:nvSpPr>
          <p:cNvPr id="3" name="Vertical Text Placeholder 2">
            <a:extLst>
              <a:ext uri="{FF2B5EF4-FFF2-40B4-BE49-F238E27FC236}">
                <a16:creationId xmlns:a16="http://schemas.microsoft.com/office/drawing/2014/main" id="{D91DDB78-82B8-D153-6A18-D56B5166030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159522C9-4E7A-B0F2-C881-85B71202085F}"/>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5" name="Footer Placeholder 4">
            <a:extLst>
              <a:ext uri="{FF2B5EF4-FFF2-40B4-BE49-F238E27FC236}">
                <a16:creationId xmlns:a16="http://schemas.microsoft.com/office/drawing/2014/main" id="{6FBA2FE1-225C-DA52-3051-888D32C742E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1D4B9119-81B8-F174-EC64-1CAEB8D4E9FB}"/>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866461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2906D8-0896-1DFC-1119-17BB70DE506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Z"/>
          </a:p>
        </p:txBody>
      </p:sp>
      <p:sp>
        <p:nvSpPr>
          <p:cNvPr id="3" name="Vertical Text Placeholder 2">
            <a:extLst>
              <a:ext uri="{FF2B5EF4-FFF2-40B4-BE49-F238E27FC236}">
                <a16:creationId xmlns:a16="http://schemas.microsoft.com/office/drawing/2014/main" id="{CB7B0F13-D575-D7FC-6847-CB69C3E1F7A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15FCA60B-4CCD-EA2C-BF01-66E0BC4600C3}"/>
              </a:ext>
            </a:extLst>
          </p:cNvPr>
          <p:cNvSpPr>
            <a:spLocks noGrp="1"/>
          </p:cNvSpPr>
          <p:nvPr>
            <p:ph type="dt" sz="half" idx="10"/>
          </p:nvPr>
        </p:nvSpPr>
        <p:spPr/>
        <p:txBody>
          <a:bodyPr/>
          <a:lstStyle/>
          <a:p>
            <a:fld id="{D528E219-CF58-471D-A57B-EAC2992B0F29}" type="datetimeFigureOut">
              <a:rPr lang="en-NZ" smtClean="0"/>
              <a:t>21/05/2024</a:t>
            </a:fld>
            <a:endParaRPr lang="en-NZ"/>
          </a:p>
        </p:txBody>
      </p:sp>
      <p:sp>
        <p:nvSpPr>
          <p:cNvPr id="5" name="Footer Placeholder 4">
            <a:extLst>
              <a:ext uri="{FF2B5EF4-FFF2-40B4-BE49-F238E27FC236}">
                <a16:creationId xmlns:a16="http://schemas.microsoft.com/office/drawing/2014/main" id="{E144DACE-61D8-79F3-D666-15CAD08CD5B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F07A3442-B1E8-66A5-E9E4-4D480A8207FA}"/>
              </a:ext>
            </a:extLst>
          </p:cNvPr>
          <p:cNvSpPr>
            <a:spLocks noGrp="1"/>
          </p:cNvSpPr>
          <p:nvPr>
            <p:ph type="sldNum" sz="quarter" idx="12"/>
          </p:nvPr>
        </p:nvSpPr>
        <p:spPr/>
        <p:txBody>
          <a:bodyPr/>
          <a:lstStyle/>
          <a:p>
            <a:fld id="{B304492B-1D72-4A38-860B-7A7576562EA4}" type="slidenum">
              <a:rPr lang="en-NZ" smtClean="0"/>
              <a:t>‹#›</a:t>
            </a:fld>
            <a:endParaRPr lang="en-NZ"/>
          </a:p>
        </p:txBody>
      </p:sp>
    </p:spTree>
    <p:extLst>
      <p:ext uri="{BB962C8B-B14F-4D97-AF65-F5344CB8AC3E}">
        <p14:creationId xmlns:p14="http://schemas.microsoft.com/office/powerpoint/2010/main" val="2894205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9824B8-0FB2-1954-B240-0B0950343D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Z"/>
          </a:p>
        </p:txBody>
      </p:sp>
      <p:sp>
        <p:nvSpPr>
          <p:cNvPr id="3" name="Text Placeholder 2">
            <a:extLst>
              <a:ext uri="{FF2B5EF4-FFF2-40B4-BE49-F238E27FC236}">
                <a16:creationId xmlns:a16="http://schemas.microsoft.com/office/drawing/2014/main" id="{78817A83-D25B-8394-AFDD-EBF44796FC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Z"/>
          </a:p>
        </p:txBody>
      </p:sp>
      <p:sp>
        <p:nvSpPr>
          <p:cNvPr id="4" name="Date Placeholder 3">
            <a:extLst>
              <a:ext uri="{FF2B5EF4-FFF2-40B4-BE49-F238E27FC236}">
                <a16:creationId xmlns:a16="http://schemas.microsoft.com/office/drawing/2014/main" id="{61854B2A-0DA3-BABB-E87D-2FEAEBDB2B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28E219-CF58-471D-A57B-EAC2992B0F29}" type="datetimeFigureOut">
              <a:rPr lang="en-NZ" smtClean="0"/>
              <a:t>21/05/2024</a:t>
            </a:fld>
            <a:endParaRPr lang="en-NZ"/>
          </a:p>
        </p:txBody>
      </p:sp>
      <p:sp>
        <p:nvSpPr>
          <p:cNvPr id="5" name="Footer Placeholder 4">
            <a:extLst>
              <a:ext uri="{FF2B5EF4-FFF2-40B4-BE49-F238E27FC236}">
                <a16:creationId xmlns:a16="http://schemas.microsoft.com/office/drawing/2014/main" id="{8AA39193-A4C0-178B-34F3-1C58D3EB72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9396A620-838F-88C4-AE09-3A03E113E5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04492B-1D72-4A38-860B-7A7576562EA4}" type="slidenum">
              <a:rPr lang="en-NZ" smtClean="0"/>
              <a:t>‹#›</a:t>
            </a:fld>
            <a:endParaRPr lang="en-NZ"/>
          </a:p>
        </p:txBody>
      </p:sp>
    </p:spTree>
    <p:extLst>
      <p:ext uri="{BB962C8B-B14F-4D97-AF65-F5344CB8AC3E}">
        <p14:creationId xmlns:p14="http://schemas.microsoft.com/office/powerpoint/2010/main" val="27894492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png"/><Relationship Id="rId7" Type="http://schemas.openxmlformats.org/officeDocument/2006/relationships/diagramQuickStyle" Target="../diagrams/quickStyle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microsoft.com/office/2007/relationships/hdphoto" Target="../media/hdphoto1.wdp"/><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png"/><Relationship Id="rId2" Type="http://schemas.openxmlformats.org/officeDocument/2006/relationships/video" Target="../media/media1.mp4"/><Relationship Id="rId1" Type="http://schemas.microsoft.com/office/2007/relationships/media" Target="../media/media1.mp4"/><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9.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0.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18.png"/><Relationship Id="rId5" Type="http://schemas.openxmlformats.org/officeDocument/2006/relationships/image" Target="../media/image14.png"/><Relationship Id="rId15" Type="http://schemas.openxmlformats.org/officeDocument/2006/relationships/image" Target="../media/image22.png"/><Relationship Id="rId10" Type="http://schemas.microsoft.com/office/2007/relationships/hdphoto" Target="../media/hdphoto1.wdp"/><Relationship Id="rId4" Type="http://schemas.openxmlformats.org/officeDocument/2006/relationships/image" Target="../media/image13.png"/><Relationship Id="rId9" Type="http://schemas.openxmlformats.org/officeDocument/2006/relationships/image" Target="../media/image1.png"/><Relationship Id="rId1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microsoft.com/office/2007/relationships/hdphoto" Target="../media/hdphoto1.wdp"/><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microsoft.com/office/2007/relationships/hdphoto" Target="../media/hdphoto1.wdp"/><Relationship Id="rId9"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51.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7.gif"/><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SQL Tutorial - GeeksforGeeks">
            <a:extLst>
              <a:ext uri="{FF2B5EF4-FFF2-40B4-BE49-F238E27FC236}">
                <a16:creationId xmlns:a16="http://schemas.microsoft.com/office/drawing/2014/main" id="{0980F2AF-BE18-EB8F-8329-62BEB885136F}"/>
              </a:ext>
            </a:extLst>
          </p:cNvPr>
          <p:cNvPicPr>
            <a:picLocks noGrp="1" noRot="1" noChangeAspect="1" noMove="1" noResize="1" noEditPoints="1" noAdjustHandles="1" noChangeArrowheads="1" noChangeShapeType="1" noCrop="1"/>
          </p:cNvPicPr>
          <p:nvPr/>
        </p:nvPicPr>
        <p:blipFill rotWithShape="1">
          <a:blip r:embed="rId2">
            <a:alphaModFix amt="50000"/>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l="8222" r="8222"/>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SQL Tutorial - GeeksforGeeks">
            <a:extLst>
              <a:ext uri="{FF2B5EF4-FFF2-40B4-BE49-F238E27FC236}">
                <a16:creationId xmlns:a16="http://schemas.microsoft.com/office/drawing/2014/main" id="{F63E5969-59B8-01D5-090D-FACDF04127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4293" r="556" b="20129"/>
          <a:stretch>
            <a:fillRect/>
          </a:stretch>
        </p:blipFill>
        <p:spPr bwMode="auto">
          <a:xfrm>
            <a:off x="463263" y="2695673"/>
            <a:ext cx="9644890" cy="2077641"/>
          </a:xfrm>
          <a:custGeom>
            <a:avLst/>
            <a:gdLst/>
            <a:ahLst/>
            <a:cxnLst/>
            <a:rect l="l" t="t" r="r" b="b"/>
            <a:pathLst>
              <a:path w="9644890" h="2077641">
                <a:moveTo>
                  <a:pt x="1602517" y="1572370"/>
                </a:moveTo>
                <a:lnTo>
                  <a:pt x="1538967" y="1774999"/>
                </a:lnTo>
                <a:lnTo>
                  <a:pt x="1667108" y="1774999"/>
                </a:lnTo>
                <a:close/>
                <a:moveTo>
                  <a:pt x="2375232" y="1477045"/>
                </a:moveTo>
                <a:lnTo>
                  <a:pt x="2375232" y="1615083"/>
                </a:lnTo>
                <a:lnTo>
                  <a:pt x="2420029" y="1615083"/>
                </a:lnTo>
                <a:cubicBezTo>
                  <a:pt x="2472120" y="1615083"/>
                  <a:pt x="2509277" y="1609527"/>
                  <a:pt x="2531502" y="1598415"/>
                </a:cubicBezTo>
                <a:cubicBezTo>
                  <a:pt x="2553727" y="1587302"/>
                  <a:pt x="2564839" y="1568202"/>
                  <a:pt x="2564839" y="1541116"/>
                </a:cubicBezTo>
                <a:cubicBezTo>
                  <a:pt x="2564839" y="1524447"/>
                  <a:pt x="2560499" y="1511511"/>
                  <a:pt x="2551817" y="1502309"/>
                </a:cubicBezTo>
                <a:cubicBezTo>
                  <a:pt x="2543135" y="1493106"/>
                  <a:pt x="2530721" y="1486595"/>
                  <a:pt x="2514573" y="1482775"/>
                </a:cubicBezTo>
                <a:cubicBezTo>
                  <a:pt x="2498425" y="1478955"/>
                  <a:pt x="2470557" y="1477045"/>
                  <a:pt x="2430968" y="1477045"/>
                </a:cubicBezTo>
                <a:close/>
                <a:moveTo>
                  <a:pt x="5091047" y="1465585"/>
                </a:moveTo>
                <a:cubicBezTo>
                  <a:pt x="5042083" y="1465585"/>
                  <a:pt x="5005707" y="1483209"/>
                  <a:pt x="4981919" y="1518457"/>
                </a:cubicBezTo>
                <a:cubicBezTo>
                  <a:pt x="4958131" y="1553704"/>
                  <a:pt x="4946238" y="1606749"/>
                  <a:pt x="4946238" y="1677591"/>
                </a:cubicBezTo>
                <a:cubicBezTo>
                  <a:pt x="4946238" y="1747391"/>
                  <a:pt x="4958739" y="1800089"/>
                  <a:pt x="4983742" y="1835684"/>
                </a:cubicBezTo>
                <a:cubicBezTo>
                  <a:pt x="5008745" y="1871278"/>
                  <a:pt x="5044514" y="1889076"/>
                  <a:pt x="5091047" y="1889076"/>
                </a:cubicBezTo>
                <a:cubicBezTo>
                  <a:pt x="5140359" y="1889076"/>
                  <a:pt x="5176648" y="1872407"/>
                  <a:pt x="5199915" y="1839070"/>
                </a:cubicBezTo>
                <a:cubicBezTo>
                  <a:pt x="5223182" y="1805732"/>
                  <a:pt x="5234815" y="1751732"/>
                  <a:pt x="5234815" y="1677070"/>
                </a:cubicBezTo>
                <a:cubicBezTo>
                  <a:pt x="5234815" y="1603797"/>
                  <a:pt x="5223182" y="1550231"/>
                  <a:pt x="5199915" y="1516373"/>
                </a:cubicBezTo>
                <a:cubicBezTo>
                  <a:pt x="5176648" y="1482515"/>
                  <a:pt x="5140359" y="1465585"/>
                  <a:pt x="5091047" y="1465585"/>
                </a:cubicBezTo>
                <a:close/>
                <a:moveTo>
                  <a:pt x="7980099" y="1285875"/>
                </a:moveTo>
                <a:lnTo>
                  <a:pt x="8235339" y="1285875"/>
                </a:lnTo>
                <a:lnTo>
                  <a:pt x="8498393" y="1666652"/>
                </a:lnTo>
                <a:lnTo>
                  <a:pt x="8498393" y="1285875"/>
                </a:lnTo>
                <a:lnTo>
                  <a:pt x="8733839" y="1285875"/>
                </a:lnTo>
                <a:lnTo>
                  <a:pt x="8733839" y="2061493"/>
                </a:lnTo>
                <a:lnTo>
                  <a:pt x="8489016" y="2061493"/>
                </a:lnTo>
                <a:lnTo>
                  <a:pt x="8215024" y="1669257"/>
                </a:lnTo>
                <a:lnTo>
                  <a:pt x="8215024" y="2061493"/>
                </a:lnTo>
                <a:lnTo>
                  <a:pt x="7980099" y="2061493"/>
                </a:lnTo>
                <a:close/>
                <a:moveTo>
                  <a:pt x="7297350" y="1285875"/>
                </a:moveTo>
                <a:lnTo>
                  <a:pt x="7825541" y="1285875"/>
                </a:lnTo>
                <a:lnTo>
                  <a:pt x="7825541" y="1471315"/>
                </a:lnTo>
                <a:lnTo>
                  <a:pt x="7693754" y="1471315"/>
                </a:lnTo>
                <a:lnTo>
                  <a:pt x="7693754" y="1875532"/>
                </a:lnTo>
                <a:lnTo>
                  <a:pt x="7825541" y="1875532"/>
                </a:lnTo>
                <a:lnTo>
                  <a:pt x="7825541" y="2061493"/>
                </a:lnTo>
                <a:lnTo>
                  <a:pt x="7297350" y="2061493"/>
                </a:lnTo>
                <a:lnTo>
                  <a:pt x="7297350" y="1875532"/>
                </a:lnTo>
                <a:lnTo>
                  <a:pt x="7428616" y="1875532"/>
                </a:lnTo>
                <a:lnTo>
                  <a:pt x="7428616" y="1471315"/>
                </a:lnTo>
                <a:lnTo>
                  <a:pt x="7297350" y="1471315"/>
                </a:lnTo>
                <a:close/>
                <a:moveTo>
                  <a:pt x="5644539" y="1285875"/>
                </a:moveTo>
                <a:lnTo>
                  <a:pt x="5909155" y="1285875"/>
                </a:lnTo>
                <a:lnTo>
                  <a:pt x="5909155" y="1706240"/>
                </a:lnTo>
                <a:cubicBezTo>
                  <a:pt x="5909155" y="1763192"/>
                  <a:pt x="5917317" y="1803822"/>
                  <a:pt x="5933638" y="1828131"/>
                </a:cubicBezTo>
                <a:cubicBezTo>
                  <a:pt x="5949959" y="1852439"/>
                  <a:pt x="5976699" y="1864594"/>
                  <a:pt x="6013856" y="1864594"/>
                </a:cubicBezTo>
                <a:cubicBezTo>
                  <a:pt x="6042679" y="1864594"/>
                  <a:pt x="6064036" y="1859558"/>
                  <a:pt x="6077927" y="1849487"/>
                </a:cubicBezTo>
                <a:cubicBezTo>
                  <a:pt x="6091818" y="1839417"/>
                  <a:pt x="6101975" y="1822748"/>
                  <a:pt x="6108399" y="1799481"/>
                </a:cubicBezTo>
                <a:cubicBezTo>
                  <a:pt x="6114823" y="1776214"/>
                  <a:pt x="6118036" y="1744613"/>
                  <a:pt x="6118036" y="1704678"/>
                </a:cubicBezTo>
                <a:lnTo>
                  <a:pt x="6118036" y="1285875"/>
                </a:lnTo>
                <a:lnTo>
                  <a:pt x="6383173" y="1285875"/>
                </a:lnTo>
                <a:lnTo>
                  <a:pt x="6383173" y="1777604"/>
                </a:lnTo>
                <a:cubicBezTo>
                  <a:pt x="6383173" y="1870323"/>
                  <a:pt x="6350444" y="1943510"/>
                  <a:pt x="6284984" y="1997162"/>
                </a:cubicBezTo>
                <a:cubicBezTo>
                  <a:pt x="6219524" y="2050815"/>
                  <a:pt x="6128975" y="2077641"/>
                  <a:pt x="6013335" y="2077641"/>
                </a:cubicBezTo>
                <a:cubicBezTo>
                  <a:pt x="5898043" y="2077641"/>
                  <a:pt x="5807754" y="2050902"/>
                  <a:pt x="5742468" y="1997423"/>
                </a:cubicBezTo>
                <a:cubicBezTo>
                  <a:pt x="5677182" y="1943944"/>
                  <a:pt x="5644539" y="1870844"/>
                  <a:pt x="5644539" y="1778124"/>
                </a:cubicBezTo>
                <a:close/>
                <a:moveTo>
                  <a:pt x="3779574" y="1285875"/>
                </a:moveTo>
                <a:lnTo>
                  <a:pt x="4044711" y="1285875"/>
                </a:lnTo>
                <a:lnTo>
                  <a:pt x="4044711" y="1543199"/>
                </a:lnTo>
                <a:lnTo>
                  <a:pt x="4258801" y="1543199"/>
                </a:lnTo>
                <a:lnTo>
                  <a:pt x="4258801" y="1285875"/>
                </a:lnTo>
                <a:lnTo>
                  <a:pt x="4523938" y="1285875"/>
                </a:lnTo>
                <a:lnTo>
                  <a:pt x="4523938" y="2061493"/>
                </a:lnTo>
                <a:lnTo>
                  <a:pt x="4258801" y="2061493"/>
                </a:lnTo>
                <a:lnTo>
                  <a:pt x="4258801" y="1755726"/>
                </a:lnTo>
                <a:lnTo>
                  <a:pt x="4044711" y="1755726"/>
                </a:lnTo>
                <a:lnTo>
                  <a:pt x="4044711" y="2061493"/>
                </a:lnTo>
                <a:lnTo>
                  <a:pt x="3779574" y="2061493"/>
                </a:lnTo>
                <a:close/>
                <a:moveTo>
                  <a:pt x="3008049" y="1285875"/>
                </a:moveTo>
                <a:lnTo>
                  <a:pt x="3628960" y="1285875"/>
                </a:lnTo>
                <a:lnTo>
                  <a:pt x="3628960" y="1478608"/>
                </a:lnTo>
                <a:lnTo>
                  <a:pt x="3266936" y="1478608"/>
                </a:lnTo>
                <a:lnTo>
                  <a:pt x="3266936" y="1551013"/>
                </a:lnTo>
                <a:lnTo>
                  <a:pt x="3589893" y="1551013"/>
                </a:lnTo>
                <a:lnTo>
                  <a:pt x="3589893" y="1745308"/>
                </a:lnTo>
                <a:lnTo>
                  <a:pt x="3266936" y="1745308"/>
                </a:lnTo>
                <a:lnTo>
                  <a:pt x="3266936" y="1868761"/>
                </a:lnTo>
                <a:lnTo>
                  <a:pt x="3628960" y="1868761"/>
                </a:lnTo>
                <a:lnTo>
                  <a:pt x="3628960" y="2061493"/>
                </a:lnTo>
                <a:lnTo>
                  <a:pt x="3008049" y="2061493"/>
                </a:lnTo>
                <a:close/>
                <a:moveTo>
                  <a:pt x="2112700" y="1285875"/>
                </a:moveTo>
                <a:lnTo>
                  <a:pt x="2505978" y="1285875"/>
                </a:lnTo>
                <a:cubicBezTo>
                  <a:pt x="2610852" y="1285875"/>
                  <a:pt x="2690984" y="1303239"/>
                  <a:pt x="2746373" y="1337965"/>
                </a:cubicBezTo>
                <a:cubicBezTo>
                  <a:pt x="2801761" y="1372692"/>
                  <a:pt x="2829456" y="1424434"/>
                  <a:pt x="2829456" y="1493193"/>
                </a:cubicBezTo>
                <a:cubicBezTo>
                  <a:pt x="2829456" y="1547714"/>
                  <a:pt x="2817649" y="1593726"/>
                  <a:pt x="2794034" y="1631231"/>
                </a:cubicBezTo>
                <a:cubicBezTo>
                  <a:pt x="2770420" y="1668736"/>
                  <a:pt x="2730485" y="1702594"/>
                  <a:pt x="2674228" y="1732806"/>
                </a:cubicBezTo>
                <a:lnTo>
                  <a:pt x="2937281" y="2061493"/>
                </a:lnTo>
                <a:lnTo>
                  <a:pt x="2619013" y="2061493"/>
                </a:lnTo>
                <a:lnTo>
                  <a:pt x="2415341" y="1789063"/>
                </a:lnTo>
                <a:lnTo>
                  <a:pt x="2377837" y="1789063"/>
                </a:lnTo>
                <a:lnTo>
                  <a:pt x="2377837" y="2061493"/>
                </a:lnTo>
                <a:lnTo>
                  <a:pt x="2112700" y="2061493"/>
                </a:lnTo>
                <a:close/>
                <a:moveTo>
                  <a:pt x="1464999" y="1285875"/>
                </a:moveTo>
                <a:lnTo>
                  <a:pt x="1741597" y="1285875"/>
                </a:lnTo>
                <a:lnTo>
                  <a:pt x="2030174" y="2061493"/>
                </a:lnTo>
                <a:lnTo>
                  <a:pt x="1757745" y="2061493"/>
                </a:lnTo>
                <a:lnTo>
                  <a:pt x="1721803" y="1954188"/>
                </a:lnTo>
                <a:lnTo>
                  <a:pt x="1480626" y="1954188"/>
                </a:lnTo>
                <a:lnTo>
                  <a:pt x="1447289" y="2061493"/>
                </a:lnTo>
                <a:lnTo>
                  <a:pt x="1176422" y="2061493"/>
                </a:lnTo>
                <a:close/>
                <a:moveTo>
                  <a:pt x="0" y="1285875"/>
                </a:moveTo>
                <a:lnTo>
                  <a:pt x="224814" y="1285875"/>
                </a:lnTo>
                <a:lnTo>
                  <a:pt x="322223" y="1764581"/>
                </a:lnTo>
                <a:lnTo>
                  <a:pt x="456093" y="1285875"/>
                </a:lnTo>
                <a:lnTo>
                  <a:pt x="703520" y="1285875"/>
                </a:lnTo>
                <a:lnTo>
                  <a:pt x="826452" y="1761456"/>
                </a:lnTo>
                <a:lnTo>
                  <a:pt x="932716" y="1285875"/>
                </a:lnTo>
                <a:lnTo>
                  <a:pt x="1187956" y="1285875"/>
                </a:lnTo>
                <a:lnTo>
                  <a:pt x="975429" y="2061493"/>
                </a:lnTo>
                <a:lnTo>
                  <a:pt x="701437" y="2061493"/>
                </a:lnTo>
                <a:lnTo>
                  <a:pt x="573816" y="1625501"/>
                </a:lnTo>
                <a:lnTo>
                  <a:pt x="450363" y="2061493"/>
                </a:lnTo>
                <a:lnTo>
                  <a:pt x="174808" y="2061493"/>
                </a:lnTo>
                <a:lnTo>
                  <a:pt x="0" y="1417213"/>
                </a:lnTo>
                <a:close/>
                <a:moveTo>
                  <a:pt x="6849303" y="1271811"/>
                </a:moveTo>
                <a:cubicBezTo>
                  <a:pt x="6951399" y="1271811"/>
                  <a:pt x="7053495" y="1288827"/>
                  <a:pt x="7155591" y="1322859"/>
                </a:cubicBezTo>
                <a:lnTo>
                  <a:pt x="7155591" y="1531740"/>
                </a:lnTo>
                <a:lnTo>
                  <a:pt x="7127463" y="1531740"/>
                </a:lnTo>
                <a:cubicBezTo>
                  <a:pt x="7053843" y="1475830"/>
                  <a:pt x="6964595" y="1447875"/>
                  <a:pt x="6859721" y="1447875"/>
                </a:cubicBezTo>
                <a:cubicBezTo>
                  <a:pt x="6830203" y="1447875"/>
                  <a:pt x="6807370" y="1451174"/>
                  <a:pt x="6791223" y="1457772"/>
                </a:cubicBezTo>
                <a:cubicBezTo>
                  <a:pt x="6775075" y="1464370"/>
                  <a:pt x="6767001" y="1475656"/>
                  <a:pt x="6767001" y="1491630"/>
                </a:cubicBezTo>
                <a:cubicBezTo>
                  <a:pt x="6767001" y="1507257"/>
                  <a:pt x="6776550" y="1520019"/>
                  <a:pt x="6795650" y="1529916"/>
                </a:cubicBezTo>
                <a:cubicBezTo>
                  <a:pt x="6814750" y="1539813"/>
                  <a:pt x="6847392" y="1549276"/>
                  <a:pt x="6893579" y="1558305"/>
                </a:cubicBezTo>
                <a:cubicBezTo>
                  <a:pt x="6965811" y="1572196"/>
                  <a:pt x="7019810" y="1586521"/>
                  <a:pt x="7055579" y="1601279"/>
                </a:cubicBezTo>
                <a:cubicBezTo>
                  <a:pt x="7091347" y="1616038"/>
                  <a:pt x="7119389" y="1632707"/>
                  <a:pt x="7139704" y="1651286"/>
                </a:cubicBezTo>
                <a:cubicBezTo>
                  <a:pt x="7160019" y="1669864"/>
                  <a:pt x="7175646" y="1692089"/>
                  <a:pt x="7186584" y="1717961"/>
                </a:cubicBezTo>
                <a:cubicBezTo>
                  <a:pt x="7197523" y="1743832"/>
                  <a:pt x="7202993" y="1773436"/>
                  <a:pt x="7202993" y="1806774"/>
                </a:cubicBezTo>
                <a:cubicBezTo>
                  <a:pt x="7202993" y="1860253"/>
                  <a:pt x="7189189" y="1907047"/>
                  <a:pt x="7161581" y="1947156"/>
                </a:cubicBezTo>
                <a:cubicBezTo>
                  <a:pt x="7133974" y="1987265"/>
                  <a:pt x="7092650" y="2018693"/>
                  <a:pt x="7037608" y="2041439"/>
                </a:cubicBezTo>
                <a:cubicBezTo>
                  <a:pt x="6982566" y="2064184"/>
                  <a:pt x="6919624" y="2075557"/>
                  <a:pt x="6848782" y="2075557"/>
                </a:cubicBezTo>
                <a:cubicBezTo>
                  <a:pt x="6782455" y="2075557"/>
                  <a:pt x="6723072" y="2071303"/>
                  <a:pt x="6670635" y="2062795"/>
                </a:cubicBezTo>
                <a:cubicBezTo>
                  <a:pt x="6618197" y="2054287"/>
                  <a:pt x="6563677" y="2038921"/>
                  <a:pt x="6507072" y="2016696"/>
                </a:cubicBezTo>
                <a:lnTo>
                  <a:pt x="6507072" y="1791147"/>
                </a:lnTo>
                <a:lnTo>
                  <a:pt x="6536243" y="1791147"/>
                </a:lnTo>
                <a:cubicBezTo>
                  <a:pt x="6637991" y="1863031"/>
                  <a:pt x="6743387" y="1898973"/>
                  <a:pt x="6852428" y="1898973"/>
                </a:cubicBezTo>
                <a:cubicBezTo>
                  <a:pt x="6910769" y="1898973"/>
                  <a:pt x="6939939" y="1885082"/>
                  <a:pt x="6939939" y="1857301"/>
                </a:cubicBezTo>
                <a:cubicBezTo>
                  <a:pt x="6939939" y="1845841"/>
                  <a:pt x="6934903" y="1836986"/>
                  <a:pt x="6924833" y="1830735"/>
                </a:cubicBezTo>
                <a:cubicBezTo>
                  <a:pt x="6914763" y="1824484"/>
                  <a:pt x="6896792" y="1817192"/>
                  <a:pt x="6870920" y="1808857"/>
                </a:cubicBezTo>
                <a:cubicBezTo>
                  <a:pt x="6845048" y="1800523"/>
                  <a:pt x="6805374" y="1789063"/>
                  <a:pt x="6751895" y="1774478"/>
                </a:cubicBezTo>
                <a:cubicBezTo>
                  <a:pt x="6687303" y="1756420"/>
                  <a:pt x="6638252" y="1736800"/>
                  <a:pt x="6604741" y="1715617"/>
                </a:cubicBezTo>
                <a:cubicBezTo>
                  <a:pt x="6571230" y="1694433"/>
                  <a:pt x="6545967" y="1668649"/>
                  <a:pt x="6528950" y="1638263"/>
                </a:cubicBezTo>
                <a:cubicBezTo>
                  <a:pt x="6511934" y="1607877"/>
                  <a:pt x="6503426" y="1571501"/>
                  <a:pt x="6503426" y="1529135"/>
                </a:cubicBezTo>
                <a:cubicBezTo>
                  <a:pt x="6503426" y="1482601"/>
                  <a:pt x="6517838" y="1439801"/>
                  <a:pt x="6546661" y="1400734"/>
                </a:cubicBezTo>
                <a:cubicBezTo>
                  <a:pt x="6575483" y="1361666"/>
                  <a:pt x="6616809" y="1330412"/>
                  <a:pt x="6670635" y="1306972"/>
                </a:cubicBezTo>
                <a:cubicBezTo>
                  <a:pt x="6724460" y="1283531"/>
                  <a:pt x="6784017" y="1271811"/>
                  <a:pt x="6849303" y="1271811"/>
                </a:cubicBezTo>
                <a:close/>
                <a:moveTo>
                  <a:pt x="9309952" y="1270248"/>
                </a:moveTo>
                <a:cubicBezTo>
                  <a:pt x="9429759" y="1270248"/>
                  <a:pt x="9532376" y="1291605"/>
                  <a:pt x="9617803" y="1334319"/>
                </a:cubicBezTo>
                <a:lnTo>
                  <a:pt x="9617803" y="1543720"/>
                </a:lnTo>
                <a:lnTo>
                  <a:pt x="9590196" y="1543720"/>
                </a:lnTo>
                <a:cubicBezTo>
                  <a:pt x="9560331" y="1523231"/>
                  <a:pt x="9521437" y="1505868"/>
                  <a:pt x="9473514" y="1491630"/>
                </a:cubicBezTo>
                <a:cubicBezTo>
                  <a:pt x="9425592" y="1477392"/>
                  <a:pt x="9378538" y="1470273"/>
                  <a:pt x="9332351" y="1470273"/>
                </a:cubicBezTo>
                <a:cubicBezTo>
                  <a:pt x="9275052" y="1470273"/>
                  <a:pt x="9230863" y="1486855"/>
                  <a:pt x="9199782" y="1520019"/>
                </a:cubicBezTo>
                <a:cubicBezTo>
                  <a:pt x="9168702" y="1553183"/>
                  <a:pt x="9153162" y="1603797"/>
                  <a:pt x="9153162" y="1671861"/>
                </a:cubicBezTo>
                <a:cubicBezTo>
                  <a:pt x="9153162" y="1747218"/>
                  <a:pt x="9166879" y="1801044"/>
                  <a:pt x="9194313" y="1833340"/>
                </a:cubicBezTo>
                <a:cubicBezTo>
                  <a:pt x="9221747" y="1865635"/>
                  <a:pt x="9267933" y="1881783"/>
                  <a:pt x="9332872" y="1881783"/>
                </a:cubicBezTo>
                <a:cubicBezTo>
                  <a:pt x="9366209" y="1881783"/>
                  <a:pt x="9396595" y="1877790"/>
                  <a:pt x="9424029" y="1869803"/>
                </a:cubicBezTo>
                <a:lnTo>
                  <a:pt x="9424029" y="1792710"/>
                </a:lnTo>
                <a:lnTo>
                  <a:pt x="9262551" y="1792710"/>
                </a:lnTo>
                <a:lnTo>
                  <a:pt x="9262551" y="1611437"/>
                </a:lnTo>
                <a:lnTo>
                  <a:pt x="9644890" y="1611437"/>
                </a:lnTo>
                <a:lnTo>
                  <a:pt x="9644890" y="2012529"/>
                </a:lnTo>
                <a:cubicBezTo>
                  <a:pt x="9633430" y="2020516"/>
                  <a:pt x="9609729" y="2029718"/>
                  <a:pt x="9573787" y="2040136"/>
                </a:cubicBezTo>
                <a:cubicBezTo>
                  <a:pt x="9537845" y="2050554"/>
                  <a:pt x="9497215" y="2059323"/>
                  <a:pt x="9451897" y="2066442"/>
                </a:cubicBezTo>
                <a:cubicBezTo>
                  <a:pt x="9406579" y="2073561"/>
                  <a:pt x="9362737" y="2077120"/>
                  <a:pt x="9320370" y="2077120"/>
                </a:cubicBezTo>
                <a:cubicBezTo>
                  <a:pt x="9232512" y="2077120"/>
                  <a:pt x="9155245" y="2060451"/>
                  <a:pt x="9088570" y="2027114"/>
                </a:cubicBezTo>
                <a:cubicBezTo>
                  <a:pt x="9021895" y="1993776"/>
                  <a:pt x="8970674" y="1946375"/>
                  <a:pt x="8934905" y="1884909"/>
                </a:cubicBezTo>
                <a:cubicBezTo>
                  <a:pt x="8899137" y="1823443"/>
                  <a:pt x="8881253" y="1752774"/>
                  <a:pt x="8881253" y="1672903"/>
                </a:cubicBezTo>
                <a:cubicBezTo>
                  <a:pt x="8881253" y="1597546"/>
                  <a:pt x="8899919" y="1528527"/>
                  <a:pt x="8937249" y="1465846"/>
                </a:cubicBezTo>
                <a:cubicBezTo>
                  <a:pt x="8974581" y="1403164"/>
                  <a:pt x="9025802" y="1354894"/>
                  <a:pt x="9090915" y="1321036"/>
                </a:cubicBezTo>
                <a:cubicBezTo>
                  <a:pt x="9156027" y="1287178"/>
                  <a:pt x="9229040" y="1270248"/>
                  <a:pt x="9309952" y="1270248"/>
                </a:cubicBezTo>
                <a:close/>
                <a:moveTo>
                  <a:pt x="5090526" y="1269728"/>
                </a:moveTo>
                <a:cubicBezTo>
                  <a:pt x="5170397" y="1269728"/>
                  <a:pt x="5242455" y="1287091"/>
                  <a:pt x="5306699" y="1321817"/>
                </a:cubicBezTo>
                <a:cubicBezTo>
                  <a:pt x="5370943" y="1356544"/>
                  <a:pt x="5420863" y="1404901"/>
                  <a:pt x="5456458" y="1466888"/>
                </a:cubicBezTo>
                <a:cubicBezTo>
                  <a:pt x="5492052" y="1528875"/>
                  <a:pt x="5509850" y="1597894"/>
                  <a:pt x="5509850" y="1673945"/>
                </a:cubicBezTo>
                <a:cubicBezTo>
                  <a:pt x="5509850" y="1753121"/>
                  <a:pt x="5492920" y="1823356"/>
                  <a:pt x="5459062" y="1884648"/>
                </a:cubicBezTo>
                <a:cubicBezTo>
                  <a:pt x="5425204" y="1945940"/>
                  <a:pt x="5376587" y="1993429"/>
                  <a:pt x="5313210" y="2027114"/>
                </a:cubicBezTo>
                <a:cubicBezTo>
                  <a:pt x="5249834" y="2060799"/>
                  <a:pt x="5175606" y="2077641"/>
                  <a:pt x="5090526" y="2077641"/>
                </a:cubicBezTo>
                <a:cubicBezTo>
                  <a:pt x="5004405" y="2077641"/>
                  <a:pt x="4929829" y="2060972"/>
                  <a:pt x="4866801" y="2027635"/>
                </a:cubicBezTo>
                <a:cubicBezTo>
                  <a:pt x="4803772" y="1994297"/>
                  <a:pt x="4755415" y="1946982"/>
                  <a:pt x="4721731" y="1885690"/>
                </a:cubicBezTo>
                <a:cubicBezTo>
                  <a:pt x="4688046" y="1824398"/>
                  <a:pt x="4671204" y="1753816"/>
                  <a:pt x="4671204" y="1673945"/>
                </a:cubicBezTo>
                <a:cubicBezTo>
                  <a:pt x="4671204" y="1597199"/>
                  <a:pt x="4688914" y="1527746"/>
                  <a:pt x="4724335" y="1465585"/>
                </a:cubicBezTo>
                <a:cubicBezTo>
                  <a:pt x="4759756" y="1403425"/>
                  <a:pt x="4809589" y="1355242"/>
                  <a:pt x="4873833" y="1321036"/>
                </a:cubicBezTo>
                <a:cubicBezTo>
                  <a:pt x="4938076" y="1286830"/>
                  <a:pt x="5010308" y="1269728"/>
                  <a:pt x="5090526" y="1269728"/>
                </a:cubicBezTo>
                <a:close/>
                <a:moveTo>
                  <a:pt x="2755041" y="286495"/>
                </a:moveTo>
                <a:lnTo>
                  <a:pt x="2691492" y="489124"/>
                </a:lnTo>
                <a:lnTo>
                  <a:pt x="2819633" y="489124"/>
                </a:lnTo>
                <a:close/>
                <a:moveTo>
                  <a:pt x="1269141" y="286495"/>
                </a:moveTo>
                <a:lnTo>
                  <a:pt x="1205592" y="489124"/>
                </a:lnTo>
                <a:lnTo>
                  <a:pt x="1333733" y="489124"/>
                </a:lnTo>
                <a:close/>
                <a:moveTo>
                  <a:pt x="294094" y="200025"/>
                </a:moveTo>
                <a:lnTo>
                  <a:pt x="294094" y="574551"/>
                </a:lnTo>
                <a:lnTo>
                  <a:pt x="310763" y="574551"/>
                </a:lnTo>
                <a:cubicBezTo>
                  <a:pt x="368409" y="574551"/>
                  <a:pt x="412251" y="567693"/>
                  <a:pt x="442289" y="553976"/>
                </a:cubicBezTo>
                <a:cubicBezTo>
                  <a:pt x="472328" y="540259"/>
                  <a:pt x="494379" y="519510"/>
                  <a:pt x="508444" y="491729"/>
                </a:cubicBezTo>
                <a:cubicBezTo>
                  <a:pt x="522508" y="463947"/>
                  <a:pt x="529540" y="429047"/>
                  <a:pt x="529540" y="387028"/>
                </a:cubicBezTo>
                <a:cubicBezTo>
                  <a:pt x="529540" y="321742"/>
                  <a:pt x="512698" y="274253"/>
                  <a:pt x="479013" y="244562"/>
                </a:cubicBezTo>
                <a:cubicBezTo>
                  <a:pt x="445328" y="214871"/>
                  <a:pt x="389245" y="200025"/>
                  <a:pt x="310763" y="200025"/>
                </a:cubicBezTo>
                <a:close/>
                <a:moveTo>
                  <a:pt x="2617525" y="0"/>
                </a:moveTo>
                <a:lnTo>
                  <a:pt x="2894122" y="0"/>
                </a:lnTo>
                <a:lnTo>
                  <a:pt x="3182699" y="775618"/>
                </a:lnTo>
                <a:lnTo>
                  <a:pt x="2910269" y="775618"/>
                </a:lnTo>
                <a:lnTo>
                  <a:pt x="2874327" y="668313"/>
                </a:lnTo>
                <a:lnTo>
                  <a:pt x="2633151" y="668313"/>
                </a:lnTo>
                <a:lnTo>
                  <a:pt x="2599814" y="775618"/>
                </a:lnTo>
                <a:lnTo>
                  <a:pt x="2328947" y="775618"/>
                </a:lnTo>
                <a:close/>
                <a:moveTo>
                  <a:pt x="1632952" y="0"/>
                </a:moveTo>
                <a:lnTo>
                  <a:pt x="2388255" y="0"/>
                </a:lnTo>
                <a:lnTo>
                  <a:pt x="2388255" y="197421"/>
                </a:lnTo>
                <a:lnTo>
                  <a:pt x="2142911" y="197421"/>
                </a:lnTo>
                <a:lnTo>
                  <a:pt x="2142911" y="775618"/>
                </a:lnTo>
                <a:lnTo>
                  <a:pt x="1878295" y="775618"/>
                </a:lnTo>
                <a:lnTo>
                  <a:pt x="1878295" y="197421"/>
                </a:lnTo>
                <a:lnTo>
                  <a:pt x="1632952" y="197421"/>
                </a:lnTo>
                <a:close/>
                <a:moveTo>
                  <a:pt x="1131624" y="0"/>
                </a:moveTo>
                <a:lnTo>
                  <a:pt x="1408221" y="0"/>
                </a:lnTo>
                <a:lnTo>
                  <a:pt x="1696799" y="775618"/>
                </a:lnTo>
                <a:lnTo>
                  <a:pt x="1424369" y="775618"/>
                </a:lnTo>
                <a:lnTo>
                  <a:pt x="1388427" y="668313"/>
                </a:lnTo>
                <a:lnTo>
                  <a:pt x="1147251" y="668313"/>
                </a:lnTo>
                <a:lnTo>
                  <a:pt x="1113914" y="775618"/>
                </a:lnTo>
                <a:lnTo>
                  <a:pt x="843046" y="775618"/>
                </a:lnTo>
                <a:close/>
                <a:moveTo>
                  <a:pt x="36249" y="0"/>
                </a:moveTo>
                <a:lnTo>
                  <a:pt x="319618" y="0"/>
                </a:lnTo>
                <a:cubicBezTo>
                  <a:pt x="485264" y="0"/>
                  <a:pt x="608022" y="31601"/>
                  <a:pt x="687893" y="94804"/>
                </a:cubicBezTo>
                <a:cubicBezTo>
                  <a:pt x="767764" y="158006"/>
                  <a:pt x="807700" y="255935"/>
                  <a:pt x="807700" y="388591"/>
                </a:cubicBezTo>
                <a:cubicBezTo>
                  <a:pt x="807700" y="514995"/>
                  <a:pt x="766549" y="611101"/>
                  <a:pt x="684247" y="676908"/>
                </a:cubicBezTo>
                <a:cubicBezTo>
                  <a:pt x="601945" y="742715"/>
                  <a:pt x="483180" y="775618"/>
                  <a:pt x="327952" y="775618"/>
                </a:cubicBezTo>
                <a:lnTo>
                  <a:pt x="36249" y="775618"/>
                </a:lnTo>
                <a:close/>
              </a:path>
            </a:pathLst>
          </a:cu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9B737C7-1F06-D072-1B21-0A12DBC0508F}"/>
              </a:ext>
            </a:extLst>
          </p:cNvPr>
          <p:cNvSpPr txBox="1"/>
          <p:nvPr/>
        </p:nvSpPr>
        <p:spPr>
          <a:xfrm>
            <a:off x="463263" y="2179844"/>
            <a:ext cx="2471961" cy="461665"/>
          </a:xfrm>
          <a:prstGeom prst="rect">
            <a:avLst/>
          </a:prstGeom>
          <a:noFill/>
        </p:spPr>
        <p:txBody>
          <a:bodyPr wrap="square" rtlCol="0">
            <a:spAutoFit/>
          </a:bodyPr>
          <a:lstStyle/>
          <a:p>
            <a:r>
              <a:rPr lang="en-NZ" sz="2400">
                <a:solidFill>
                  <a:srgbClr val="4D7EB5"/>
                </a:solidFill>
                <a:latin typeface="Verdana Pro Black" panose="020B0A04030504040204" pitchFamily="34" charset="0"/>
              </a:rPr>
              <a:t>ISCG 6425</a:t>
            </a:r>
          </a:p>
        </p:txBody>
      </p:sp>
      <p:sp>
        <p:nvSpPr>
          <p:cNvPr id="21" name="TextBox 20">
            <a:extLst>
              <a:ext uri="{FF2B5EF4-FFF2-40B4-BE49-F238E27FC236}">
                <a16:creationId xmlns:a16="http://schemas.microsoft.com/office/drawing/2014/main" id="{C3D2F9D7-3C8E-BB92-75A2-77C5BFB12AA2}"/>
              </a:ext>
            </a:extLst>
          </p:cNvPr>
          <p:cNvSpPr txBox="1"/>
          <p:nvPr/>
        </p:nvSpPr>
        <p:spPr>
          <a:xfrm>
            <a:off x="7671816" y="5541264"/>
            <a:ext cx="4197096" cy="923330"/>
          </a:xfrm>
          <a:prstGeom prst="rect">
            <a:avLst/>
          </a:prstGeom>
          <a:noFill/>
        </p:spPr>
        <p:txBody>
          <a:bodyPr wrap="square" rtlCol="0">
            <a:spAutoFit/>
          </a:bodyPr>
          <a:lstStyle/>
          <a:p>
            <a:pPr algn="r"/>
            <a:r>
              <a:rPr lang="en-NZ"/>
              <a:t>TEAM 1</a:t>
            </a:r>
          </a:p>
          <a:p>
            <a:pPr algn="r"/>
            <a:r>
              <a:rPr lang="en-NZ"/>
              <a:t>Jau-Chian Pan (1564921)</a:t>
            </a:r>
          </a:p>
          <a:p>
            <a:pPr algn="r"/>
            <a:r>
              <a:rPr lang="en-NZ"/>
              <a:t>HANNAH (1534249)</a:t>
            </a:r>
          </a:p>
        </p:txBody>
      </p:sp>
    </p:spTree>
    <p:extLst>
      <p:ext uri="{BB962C8B-B14F-4D97-AF65-F5344CB8AC3E}">
        <p14:creationId xmlns:p14="http://schemas.microsoft.com/office/powerpoint/2010/main" val="318204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QL Tutorial - GeeksforGeeks">
            <a:extLst>
              <a:ext uri="{FF2B5EF4-FFF2-40B4-BE49-F238E27FC236}">
                <a16:creationId xmlns:a16="http://schemas.microsoft.com/office/drawing/2014/main" id="{24570AAF-0F54-9785-55D8-F32905DC9E09}"/>
              </a:ext>
            </a:extLst>
          </p:cNvPr>
          <p:cNvPicPr>
            <a:picLocks noGrp="1" noRot="1" noChangeAspect="1" noMove="1" noResize="1" noEditPoints="1" noAdjustHandles="1" noChangeArrowheads="1" noChangeShapeType="1" noCrop="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2057" name="Group 2056">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2058" name="Freeform: Shape 2057">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060" name="Freeform: Shape 2059">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061" name="Freeform: Shape 2060">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83DF14BB-6736-1B0C-6968-A425C6599463}"/>
              </a:ext>
            </a:extLst>
          </p:cNvPr>
          <p:cNvSpPr txBox="1"/>
          <p:nvPr/>
        </p:nvSpPr>
        <p:spPr>
          <a:xfrm>
            <a:off x="3882718" y="1740978"/>
            <a:ext cx="4842993" cy="830997"/>
          </a:xfrm>
          <a:prstGeom prst="rect">
            <a:avLst/>
          </a:prstGeom>
          <a:noFill/>
        </p:spPr>
        <p:txBody>
          <a:bodyPr wrap="square" rtlCol="0">
            <a:spAutoFit/>
          </a:bodyPr>
          <a:lstStyle/>
          <a:p>
            <a:r>
              <a:rPr lang="en-NZ" sz="4800" b="1"/>
              <a:t>INTRODUCTION</a:t>
            </a:r>
          </a:p>
        </p:txBody>
      </p:sp>
      <p:graphicFrame>
        <p:nvGraphicFramePr>
          <p:cNvPr id="2074" name="TextBox 4">
            <a:extLst>
              <a:ext uri="{FF2B5EF4-FFF2-40B4-BE49-F238E27FC236}">
                <a16:creationId xmlns:a16="http://schemas.microsoft.com/office/drawing/2014/main" id="{461FD9FB-84BD-6331-18C5-A19767DC7525}"/>
              </a:ext>
            </a:extLst>
          </p:cNvPr>
          <p:cNvGraphicFramePr/>
          <p:nvPr>
            <p:extLst>
              <p:ext uri="{D42A27DB-BD31-4B8C-83A1-F6EECF244321}">
                <p14:modId xmlns:p14="http://schemas.microsoft.com/office/powerpoint/2010/main" val="1330755825"/>
              </p:ext>
            </p:extLst>
          </p:nvPr>
        </p:nvGraphicFramePr>
        <p:xfrm>
          <a:off x="160430" y="2419479"/>
          <a:ext cx="11906655" cy="422266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04578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QL Tutorial - GeeksforGeeks">
            <a:extLst>
              <a:ext uri="{FF2B5EF4-FFF2-40B4-BE49-F238E27FC236}">
                <a16:creationId xmlns:a16="http://schemas.microsoft.com/office/drawing/2014/main" id="{24570AAF-0F54-9785-55D8-F32905DC9E09}"/>
              </a:ext>
            </a:extLst>
          </p:cNvPr>
          <p:cNvPicPr>
            <a:picLocks noGrp="1" noRot="1" noChangeAspect="1" noMove="1" noResize="1" noEditPoints="1" noAdjustHandles="1" noChangeArrowheads="1" noChangeShapeType="1" noCrop="1"/>
          </p:cNvPicPr>
          <p:nvPr/>
        </p:nvPicPr>
        <p:blipFill rotWithShape="1">
          <a:blip r:embed="rId5">
            <a:alphaModFix amt="50000"/>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2057" name="Group 2056">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2058" name="Freeform: Shape 2057">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060" name="Freeform: Shape 2059">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061" name="Freeform: Shape 2060">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83DF14BB-6736-1B0C-6968-A425C6599463}"/>
              </a:ext>
            </a:extLst>
          </p:cNvPr>
          <p:cNvSpPr txBox="1"/>
          <p:nvPr/>
        </p:nvSpPr>
        <p:spPr>
          <a:xfrm>
            <a:off x="924539" y="839814"/>
            <a:ext cx="3758184" cy="830997"/>
          </a:xfrm>
          <a:prstGeom prst="rect">
            <a:avLst/>
          </a:prstGeom>
          <a:noFill/>
        </p:spPr>
        <p:txBody>
          <a:bodyPr wrap="square" rtlCol="0">
            <a:spAutoFit/>
          </a:bodyPr>
          <a:lstStyle/>
          <a:p>
            <a:r>
              <a:rPr lang="en-NZ" sz="4800" b="1"/>
              <a:t>Motivation</a:t>
            </a:r>
          </a:p>
        </p:txBody>
      </p:sp>
      <p:pic>
        <p:nvPicPr>
          <p:cNvPr id="4" name="Video 2" title="Graphs And Numbers">
            <a:hlinkClick r:id="" action="ppaction://media"/>
            <a:extLst>
              <a:ext uri="{FF2B5EF4-FFF2-40B4-BE49-F238E27FC236}">
                <a16:creationId xmlns:a16="http://schemas.microsoft.com/office/drawing/2014/main" id="{1414F8D6-3C41-218C-4A4C-94FAE75A241D}"/>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7358678" y="531108"/>
            <a:ext cx="4438550" cy="249668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fov="2700000">
              <a:rot lat="19800000" lon="1200000" rev="20820000"/>
            </a:camera>
            <a:lightRig rig="threePt" dir="t"/>
          </a:scene3d>
          <a:sp3d contourW="6350" prstMaterial="matte">
            <a:bevelT w="101600" h="101600"/>
            <a:contourClr>
              <a:srgbClr val="969696"/>
            </a:contourClr>
          </a:sp3d>
        </p:spPr>
      </p:pic>
      <p:grpSp>
        <p:nvGrpSpPr>
          <p:cNvPr id="6" name="Group 5">
            <a:extLst>
              <a:ext uri="{FF2B5EF4-FFF2-40B4-BE49-F238E27FC236}">
                <a16:creationId xmlns:a16="http://schemas.microsoft.com/office/drawing/2014/main" id="{CBDA95A6-D929-D9C5-E505-FBCAC131A971}"/>
              </a:ext>
            </a:extLst>
          </p:cNvPr>
          <p:cNvGrpSpPr/>
          <p:nvPr/>
        </p:nvGrpSpPr>
        <p:grpSpPr>
          <a:xfrm>
            <a:off x="782233" y="1701968"/>
            <a:ext cx="10939034" cy="4766924"/>
            <a:chOff x="782233" y="1701968"/>
            <a:chExt cx="10939034" cy="4766924"/>
          </a:xfrm>
        </p:grpSpPr>
        <p:sp>
          <p:nvSpPr>
            <p:cNvPr id="2" name="Rectangle: Rounded Corners 1">
              <a:extLst>
                <a:ext uri="{FF2B5EF4-FFF2-40B4-BE49-F238E27FC236}">
                  <a16:creationId xmlns:a16="http://schemas.microsoft.com/office/drawing/2014/main" id="{B23B6524-3DEC-633D-9BD2-0A7F00811EE8}"/>
                </a:ext>
              </a:extLst>
            </p:cNvPr>
            <p:cNvSpPr/>
            <p:nvPr/>
          </p:nvSpPr>
          <p:spPr>
            <a:xfrm>
              <a:off x="782233" y="1701968"/>
              <a:ext cx="10779781" cy="4766924"/>
            </a:xfrm>
            <a:prstGeom prst="roundRect">
              <a:avLst/>
            </a:prstGeom>
            <a:solidFill>
              <a:schemeClr val="bg1">
                <a:lumMod val="85000"/>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Z" sz="1400"/>
            </a:p>
          </p:txBody>
        </p:sp>
        <p:sp>
          <p:nvSpPr>
            <p:cNvPr id="5" name="TextBox 4">
              <a:extLst>
                <a:ext uri="{FF2B5EF4-FFF2-40B4-BE49-F238E27FC236}">
                  <a16:creationId xmlns:a16="http://schemas.microsoft.com/office/drawing/2014/main" id="{85303A50-F556-13E0-E4F0-BBBE7EA90B16}"/>
                </a:ext>
              </a:extLst>
            </p:cNvPr>
            <p:cNvSpPr txBox="1"/>
            <p:nvPr/>
          </p:nvSpPr>
          <p:spPr>
            <a:xfrm>
              <a:off x="1342827" y="1711893"/>
              <a:ext cx="10378440" cy="4524315"/>
            </a:xfrm>
            <a:prstGeom prst="rect">
              <a:avLst/>
            </a:prstGeom>
            <a:noFill/>
          </p:spPr>
          <p:txBody>
            <a:bodyPr wrap="square" rtlCol="0">
              <a:spAutoFit/>
            </a:bodyPr>
            <a:lstStyle/>
            <a:p>
              <a:endParaRPr lang="en-NZ" sz="2400"/>
            </a:p>
            <a:p>
              <a:r>
                <a:rPr lang="en-NZ" sz="2400"/>
                <a:t>The report is designed to quickly and easily compare and analyse </a:t>
              </a:r>
            </a:p>
            <a:p>
              <a:pPr marL="342900" indent="-342900">
                <a:buFont typeface="Arial" panose="020B0604020202020204" pitchFamily="34" charset="0"/>
                <a:buChar char="•"/>
              </a:pPr>
              <a:r>
                <a:rPr lang="en-NZ" sz="2400"/>
                <a:t>Monthly sales and profit/loss reports </a:t>
              </a:r>
            </a:p>
            <a:p>
              <a:pPr marL="342900" indent="-342900">
                <a:buFont typeface="Arial" panose="020B0604020202020204" pitchFamily="34" charset="0"/>
                <a:buChar char="•"/>
              </a:pPr>
              <a:r>
                <a:rPr lang="en-NZ" sz="2400"/>
                <a:t>Employees' monthly profit/loss reports</a:t>
              </a:r>
            </a:p>
            <a:p>
              <a:pPr marL="342900" indent="-342900">
                <a:buFont typeface="Arial" panose="020B0604020202020204" pitchFamily="34" charset="0"/>
                <a:buChar char="•"/>
              </a:pPr>
              <a:r>
                <a:rPr lang="en-NZ" sz="2400"/>
                <a:t>City-specific gross sales reports</a:t>
              </a:r>
            </a:p>
            <a:p>
              <a:pPr marL="342900" indent="-342900">
                <a:buFont typeface="Arial" panose="020B0604020202020204" pitchFamily="34" charset="0"/>
                <a:buChar char="•"/>
              </a:pPr>
              <a:r>
                <a:rPr lang="en-NZ" sz="2400"/>
                <a:t>Most purchased customer reports</a:t>
              </a:r>
            </a:p>
            <a:p>
              <a:pPr marL="342900" indent="-342900">
                <a:buFont typeface="Arial" panose="020B0604020202020204" pitchFamily="34" charset="0"/>
                <a:buChar char="•"/>
              </a:pPr>
              <a:r>
                <a:rPr lang="en-NZ" sz="2400"/>
                <a:t>Monthly gross sales and total available profit sales</a:t>
              </a:r>
            </a:p>
            <a:p>
              <a:endParaRPr lang="en-NZ" sz="2400"/>
            </a:p>
            <a:p>
              <a:r>
                <a:rPr lang="en-NZ" sz="2400"/>
                <a:t>Sales departments can quickly analyse data and read data briefly, reducing the time invested in comparative analysis, enabling active work. </a:t>
              </a:r>
            </a:p>
            <a:p>
              <a:r>
                <a:rPr lang="en-NZ" sz="2400"/>
                <a:t>This report will help the team learn about the products and regions in which "Models Sales Company" should invest.</a:t>
              </a:r>
            </a:p>
          </p:txBody>
        </p:sp>
      </p:grpSp>
    </p:spTree>
    <p:extLst>
      <p:ext uri="{BB962C8B-B14F-4D97-AF65-F5344CB8AC3E}">
        <p14:creationId xmlns:p14="http://schemas.microsoft.com/office/powerpoint/2010/main" val="27991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mute="1">
                <p:cTn id="12" repeatCount="indefinite" fill="hold" display="0">
                  <p:stCondLst>
                    <p:cond delay="indefinite"/>
                  </p:stCondLst>
                </p:cTn>
                <p:tgtEl>
                  <p:spTgt spid="4"/>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13B4A9-1C7C-4729-A016-AB42D397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SQL Tutorial - GeeksforGeeks">
            <a:extLst>
              <a:ext uri="{FF2B5EF4-FFF2-40B4-BE49-F238E27FC236}">
                <a16:creationId xmlns:a16="http://schemas.microsoft.com/office/drawing/2014/main" id="{6D92DEC4-DCB8-7C49-9AD7-91CCB413F265}"/>
              </a:ext>
            </a:extLst>
          </p:cNvPr>
          <p:cNvPicPr>
            <a:picLocks noChangeAspect="1" noChangeArrowheads="1"/>
          </p:cNvPicPr>
          <p:nvPr/>
        </p:nvPicPr>
        <p:blipFill rotWithShape="1">
          <a:blip r:embed="rId3">
            <a:alphaModFix amt="50000"/>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l="6715" r="11984" b="-3"/>
          <a:stretch/>
        </p:blipFill>
        <p:spPr bwMode="auto">
          <a:xfrm>
            <a:off x="7146414" y="10"/>
            <a:ext cx="5045585" cy="2916926"/>
          </a:xfrm>
          <a:custGeom>
            <a:avLst/>
            <a:gdLst/>
            <a:ahLst/>
            <a:cxnLst/>
            <a:rect l="l" t="t" r="r" b="b"/>
            <a:pathLst>
              <a:path w="11862684" h="6858000">
                <a:moveTo>
                  <a:pt x="1047342" y="0"/>
                </a:moveTo>
                <a:lnTo>
                  <a:pt x="4590463" y="0"/>
                </a:lnTo>
                <a:lnTo>
                  <a:pt x="5499874" y="0"/>
                </a:lnTo>
                <a:lnTo>
                  <a:pt x="5723425" y="0"/>
                </a:lnTo>
                <a:lnTo>
                  <a:pt x="7580390" y="0"/>
                </a:lnTo>
                <a:lnTo>
                  <a:pt x="7747884" y="0"/>
                </a:lnTo>
                <a:lnTo>
                  <a:pt x="7824084" y="0"/>
                </a:lnTo>
                <a:lnTo>
                  <a:pt x="11862684" y="0"/>
                </a:lnTo>
                <a:lnTo>
                  <a:pt x="11862684" y="6858000"/>
                </a:lnTo>
                <a:lnTo>
                  <a:pt x="7824084" y="6858000"/>
                </a:lnTo>
                <a:lnTo>
                  <a:pt x="7747884" y="6858000"/>
                </a:lnTo>
                <a:lnTo>
                  <a:pt x="7580390" y="6858000"/>
                </a:lnTo>
                <a:lnTo>
                  <a:pt x="5723425" y="6858000"/>
                </a:lnTo>
                <a:lnTo>
                  <a:pt x="5499874" y="6858000"/>
                </a:lnTo>
                <a:lnTo>
                  <a:pt x="4590463" y="6858000"/>
                </a:lnTo>
                <a:lnTo>
                  <a:pt x="1654188" y="6858000"/>
                </a:lnTo>
                <a:cubicBezTo>
                  <a:pt x="1530404" y="6786859"/>
                  <a:pt x="1412658" y="6701489"/>
                  <a:pt x="1279816" y="6658805"/>
                </a:cubicBezTo>
                <a:cubicBezTo>
                  <a:pt x="1189242" y="6630349"/>
                  <a:pt x="1101686" y="6580550"/>
                  <a:pt x="1116783" y="6431153"/>
                </a:cubicBezTo>
                <a:cubicBezTo>
                  <a:pt x="1119802" y="6388469"/>
                  <a:pt x="1095648" y="6356456"/>
                  <a:pt x="1059419" y="6367127"/>
                </a:cubicBezTo>
                <a:cubicBezTo>
                  <a:pt x="989979" y="6388469"/>
                  <a:pt x="956768" y="6327999"/>
                  <a:pt x="917520" y="6281757"/>
                </a:cubicBezTo>
                <a:cubicBezTo>
                  <a:pt x="848079" y="6199945"/>
                  <a:pt x="781658" y="6114575"/>
                  <a:pt x="669950" y="6100347"/>
                </a:cubicBezTo>
                <a:cubicBezTo>
                  <a:pt x="691084" y="6036320"/>
                  <a:pt x="727312" y="6043434"/>
                  <a:pt x="760524" y="6057663"/>
                </a:cubicBezTo>
                <a:cubicBezTo>
                  <a:pt x="848079" y="6093234"/>
                  <a:pt x="935634" y="6132361"/>
                  <a:pt x="1023188" y="6167932"/>
                </a:cubicBezTo>
                <a:cubicBezTo>
                  <a:pt x="1080552" y="6189274"/>
                  <a:pt x="1137916" y="6221287"/>
                  <a:pt x="1213395" y="6196388"/>
                </a:cubicBezTo>
                <a:cubicBezTo>
                  <a:pt x="1146974" y="6068335"/>
                  <a:pt x="1035266" y="6043434"/>
                  <a:pt x="944692" y="6004307"/>
                </a:cubicBezTo>
                <a:cubicBezTo>
                  <a:pt x="832982" y="5954508"/>
                  <a:pt x="766562" y="5862025"/>
                  <a:pt x="685045" y="5755314"/>
                </a:cubicBezTo>
                <a:cubicBezTo>
                  <a:pt x="766562" y="5726858"/>
                  <a:pt x="817887" y="5805112"/>
                  <a:pt x="884310" y="5801555"/>
                </a:cubicBezTo>
                <a:cubicBezTo>
                  <a:pt x="887328" y="5790884"/>
                  <a:pt x="893366" y="5769542"/>
                  <a:pt x="893366" y="5769542"/>
                </a:cubicBezTo>
                <a:cubicBezTo>
                  <a:pt x="784676" y="5712629"/>
                  <a:pt x="736372" y="5605917"/>
                  <a:pt x="718256" y="5474306"/>
                </a:cubicBezTo>
                <a:cubicBezTo>
                  <a:pt x="712218" y="5406721"/>
                  <a:pt x="672970" y="5385379"/>
                  <a:pt x="633720" y="5353367"/>
                </a:cubicBezTo>
                <a:cubicBezTo>
                  <a:pt x="500878" y="5243097"/>
                  <a:pt x="358980" y="5143500"/>
                  <a:pt x="247270" y="4994104"/>
                </a:cubicBezTo>
                <a:cubicBezTo>
                  <a:pt x="377094" y="5011889"/>
                  <a:pt x="479744" y="5111487"/>
                  <a:pt x="615606" y="5154171"/>
                </a:cubicBezTo>
                <a:cubicBezTo>
                  <a:pt x="506917" y="4990547"/>
                  <a:pt x="365016" y="4905177"/>
                  <a:pt x="235194" y="4805580"/>
                </a:cubicBezTo>
                <a:cubicBezTo>
                  <a:pt x="174810" y="4759339"/>
                  <a:pt x="120468" y="4702425"/>
                  <a:pt x="51026" y="4677526"/>
                </a:cubicBezTo>
                <a:cubicBezTo>
                  <a:pt x="26873" y="4670412"/>
                  <a:pt x="-15396" y="4652628"/>
                  <a:pt x="5740" y="4602828"/>
                </a:cubicBezTo>
                <a:cubicBezTo>
                  <a:pt x="23854" y="4560144"/>
                  <a:pt x="57065" y="4574373"/>
                  <a:pt x="87257" y="4585042"/>
                </a:cubicBezTo>
                <a:cubicBezTo>
                  <a:pt x="159715" y="4613499"/>
                  <a:pt x="238213" y="4613499"/>
                  <a:pt x="337844" y="4613499"/>
                </a:cubicBezTo>
                <a:cubicBezTo>
                  <a:pt x="253310" y="4478331"/>
                  <a:pt x="99332" y="4521016"/>
                  <a:pt x="26873" y="4378734"/>
                </a:cubicBezTo>
                <a:cubicBezTo>
                  <a:pt x="117448" y="4353835"/>
                  <a:pt x="186888" y="4403633"/>
                  <a:pt x="259346" y="4414305"/>
                </a:cubicBezTo>
                <a:cubicBezTo>
                  <a:pt x="325769" y="4424975"/>
                  <a:pt x="340863" y="4400076"/>
                  <a:pt x="325769" y="4321821"/>
                </a:cubicBezTo>
                <a:cubicBezTo>
                  <a:pt x="301616" y="4200882"/>
                  <a:pt x="337844" y="4140411"/>
                  <a:pt x="434458" y="4172424"/>
                </a:cubicBezTo>
                <a:cubicBezTo>
                  <a:pt x="525031" y="4204438"/>
                  <a:pt x="534089" y="4158196"/>
                  <a:pt x="509936" y="4090612"/>
                </a:cubicBezTo>
                <a:cubicBezTo>
                  <a:pt x="473706" y="3991015"/>
                  <a:pt x="512954" y="3912759"/>
                  <a:pt x="540128" y="3827390"/>
                </a:cubicBezTo>
                <a:cubicBezTo>
                  <a:pt x="582395" y="3699337"/>
                  <a:pt x="564281" y="3635309"/>
                  <a:pt x="476725" y="3539269"/>
                </a:cubicBezTo>
                <a:cubicBezTo>
                  <a:pt x="425400" y="3485914"/>
                  <a:pt x="374074" y="3439672"/>
                  <a:pt x="301616" y="3393429"/>
                </a:cubicBezTo>
                <a:cubicBezTo>
                  <a:pt x="467668" y="3368530"/>
                  <a:pt x="295577" y="3283162"/>
                  <a:pt x="352940" y="3229805"/>
                </a:cubicBezTo>
                <a:cubicBezTo>
                  <a:pt x="470686" y="3208463"/>
                  <a:pt x="564281" y="3379202"/>
                  <a:pt x="724294" y="3329402"/>
                </a:cubicBezTo>
                <a:cubicBezTo>
                  <a:pt x="531070" y="3183563"/>
                  <a:pt x="313691" y="3137322"/>
                  <a:pt x="171792" y="2941684"/>
                </a:cubicBezTo>
                <a:cubicBezTo>
                  <a:pt x="205002" y="2899000"/>
                  <a:pt x="238213" y="2941684"/>
                  <a:pt x="265385" y="2923898"/>
                </a:cubicBezTo>
                <a:cubicBezTo>
                  <a:pt x="265385" y="2913227"/>
                  <a:pt x="582395" y="2980812"/>
                  <a:pt x="600510" y="2703362"/>
                </a:cubicBezTo>
                <a:cubicBezTo>
                  <a:pt x="606548" y="2703362"/>
                  <a:pt x="612587" y="2703362"/>
                  <a:pt x="618624" y="2692689"/>
                </a:cubicBezTo>
                <a:cubicBezTo>
                  <a:pt x="651834" y="2653563"/>
                  <a:pt x="621644" y="2561080"/>
                  <a:pt x="675988" y="2553965"/>
                </a:cubicBezTo>
                <a:cubicBezTo>
                  <a:pt x="736372" y="2546851"/>
                  <a:pt x="793735" y="2514837"/>
                  <a:pt x="857136" y="2532623"/>
                </a:cubicBezTo>
                <a:cubicBezTo>
                  <a:pt x="905443" y="2546851"/>
                  <a:pt x="956768" y="2564636"/>
                  <a:pt x="1008094" y="2564636"/>
                </a:cubicBezTo>
                <a:cubicBezTo>
                  <a:pt x="1062438" y="2564636"/>
                  <a:pt x="1137916" y="2685576"/>
                  <a:pt x="1171128" y="2525509"/>
                </a:cubicBezTo>
                <a:cubicBezTo>
                  <a:pt x="1171128" y="2518395"/>
                  <a:pt x="1264720" y="2536181"/>
                  <a:pt x="1316045" y="2543294"/>
                </a:cubicBezTo>
                <a:cubicBezTo>
                  <a:pt x="1358314" y="2550408"/>
                  <a:pt x="1409640" y="2582422"/>
                  <a:pt x="1439830" y="2518395"/>
                </a:cubicBezTo>
                <a:cubicBezTo>
                  <a:pt x="1454926" y="2479267"/>
                  <a:pt x="1382466" y="2408126"/>
                  <a:pt x="1319065" y="2401012"/>
                </a:cubicBezTo>
                <a:cubicBezTo>
                  <a:pt x="1261702" y="2393898"/>
                  <a:pt x="1204338" y="2386784"/>
                  <a:pt x="1149994" y="2401012"/>
                </a:cubicBezTo>
                <a:cubicBezTo>
                  <a:pt x="1083572" y="2418796"/>
                  <a:pt x="1047342" y="2390340"/>
                  <a:pt x="1029227" y="2326314"/>
                </a:cubicBezTo>
                <a:cubicBezTo>
                  <a:pt x="1008094" y="2258731"/>
                  <a:pt x="968844" y="2223159"/>
                  <a:pt x="914500" y="2191146"/>
                </a:cubicBezTo>
                <a:cubicBezTo>
                  <a:pt x="781658" y="2112891"/>
                  <a:pt x="654854" y="2020407"/>
                  <a:pt x="509936" y="1974165"/>
                </a:cubicBezTo>
                <a:cubicBezTo>
                  <a:pt x="482764" y="1967051"/>
                  <a:pt x="449553" y="1952823"/>
                  <a:pt x="437476" y="1892353"/>
                </a:cubicBezTo>
                <a:cubicBezTo>
                  <a:pt x="829964" y="1984836"/>
                  <a:pt x="1186222" y="2223159"/>
                  <a:pt x="1590788" y="2208931"/>
                </a:cubicBezTo>
                <a:cubicBezTo>
                  <a:pt x="1482098" y="2134233"/>
                  <a:pt x="1352276" y="2130676"/>
                  <a:pt x="1234528" y="2077320"/>
                </a:cubicBezTo>
                <a:cubicBezTo>
                  <a:pt x="1319065" y="2038192"/>
                  <a:pt x="1397562" y="2080877"/>
                  <a:pt x="1476060" y="2102219"/>
                </a:cubicBezTo>
                <a:cubicBezTo>
                  <a:pt x="1542482" y="2120004"/>
                  <a:pt x="1602864" y="2123562"/>
                  <a:pt x="1608902" y="2013292"/>
                </a:cubicBezTo>
                <a:cubicBezTo>
                  <a:pt x="1608902" y="2002622"/>
                  <a:pt x="1608902" y="1995507"/>
                  <a:pt x="1608902" y="1984836"/>
                </a:cubicBezTo>
                <a:cubicBezTo>
                  <a:pt x="1584749" y="1938595"/>
                  <a:pt x="1551538" y="1917252"/>
                  <a:pt x="1509271" y="1903025"/>
                </a:cubicBezTo>
                <a:cubicBezTo>
                  <a:pt x="1485118" y="1895910"/>
                  <a:pt x="1451907" y="1881683"/>
                  <a:pt x="1451907" y="1849668"/>
                </a:cubicBezTo>
                <a:cubicBezTo>
                  <a:pt x="1454926" y="1728729"/>
                  <a:pt x="1373409" y="1693158"/>
                  <a:pt x="1294912" y="1657587"/>
                </a:cubicBezTo>
                <a:cubicBezTo>
                  <a:pt x="1337180" y="1597117"/>
                  <a:pt x="1373409" y="1639802"/>
                  <a:pt x="1406620" y="1636245"/>
                </a:cubicBezTo>
                <a:cubicBezTo>
                  <a:pt x="1427754" y="1632688"/>
                  <a:pt x="1448887" y="1629132"/>
                  <a:pt x="1448887" y="1597117"/>
                </a:cubicBezTo>
                <a:cubicBezTo>
                  <a:pt x="1448887" y="1572219"/>
                  <a:pt x="1439830" y="1540204"/>
                  <a:pt x="1418696" y="1540204"/>
                </a:cubicBezTo>
                <a:cubicBezTo>
                  <a:pt x="1285854" y="1536647"/>
                  <a:pt x="1210375" y="1365909"/>
                  <a:pt x="1071494" y="1365909"/>
                </a:cubicBezTo>
                <a:cubicBezTo>
                  <a:pt x="986960" y="1365909"/>
                  <a:pt x="1113764" y="1269868"/>
                  <a:pt x="1044324" y="1230741"/>
                </a:cubicBezTo>
                <a:cubicBezTo>
                  <a:pt x="1029227" y="1220069"/>
                  <a:pt x="1086591" y="1205842"/>
                  <a:pt x="1110744" y="1209399"/>
                </a:cubicBezTo>
                <a:cubicBezTo>
                  <a:pt x="1134897" y="1212955"/>
                  <a:pt x="1156032" y="1237855"/>
                  <a:pt x="1186222" y="1220069"/>
                </a:cubicBezTo>
                <a:cubicBezTo>
                  <a:pt x="1201318" y="1156043"/>
                  <a:pt x="1162069" y="1131144"/>
                  <a:pt x="1125840" y="1113358"/>
                </a:cubicBezTo>
                <a:cubicBezTo>
                  <a:pt x="1047342" y="1070674"/>
                  <a:pt x="968844" y="1020875"/>
                  <a:pt x="881290" y="1006647"/>
                </a:cubicBezTo>
                <a:cubicBezTo>
                  <a:pt x="851099" y="1003089"/>
                  <a:pt x="832982" y="985305"/>
                  <a:pt x="836002" y="949734"/>
                </a:cubicBezTo>
                <a:cubicBezTo>
                  <a:pt x="842040" y="903491"/>
                  <a:pt x="872232" y="917720"/>
                  <a:pt x="896385" y="921277"/>
                </a:cubicBezTo>
                <a:cubicBezTo>
                  <a:pt x="911482" y="924835"/>
                  <a:pt x="926577" y="935506"/>
                  <a:pt x="941672" y="910606"/>
                </a:cubicBezTo>
                <a:cubicBezTo>
                  <a:pt x="588434" y="658055"/>
                  <a:pt x="401247" y="672284"/>
                  <a:pt x="5740" y="465975"/>
                </a:cubicBezTo>
                <a:cubicBezTo>
                  <a:pt x="93294" y="426847"/>
                  <a:pt x="156696" y="455303"/>
                  <a:pt x="217079" y="462417"/>
                </a:cubicBezTo>
                <a:cubicBezTo>
                  <a:pt x="368036" y="480203"/>
                  <a:pt x="274442" y="512216"/>
                  <a:pt x="425400" y="533558"/>
                </a:cubicBezTo>
                <a:cubicBezTo>
                  <a:pt x="497860" y="544229"/>
                  <a:pt x="564281" y="579800"/>
                  <a:pt x="645798" y="522887"/>
                </a:cubicBezTo>
                <a:cubicBezTo>
                  <a:pt x="700142" y="483759"/>
                  <a:pt x="787696" y="526444"/>
                  <a:pt x="854118" y="558458"/>
                </a:cubicBezTo>
                <a:cubicBezTo>
                  <a:pt x="908462" y="586915"/>
                  <a:pt x="962806" y="594028"/>
                  <a:pt x="1035266" y="558458"/>
                </a:cubicBezTo>
                <a:cubicBezTo>
                  <a:pt x="968844" y="537116"/>
                  <a:pt x="917520" y="519330"/>
                  <a:pt x="866193" y="505101"/>
                </a:cubicBezTo>
                <a:cubicBezTo>
                  <a:pt x="823926" y="494431"/>
                  <a:pt x="799772" y="469532"/>
                  <a:pt x="802792" y="416176"/>
                </a:cubicBezTo>
                <a:cubicBezTo>
                  <a:pt x="802792" y="387720"/>
                  <a:pt x="793735" y="348592"/>
                  <a:pt x="823926" y="334364"/>
                </a:cubicBezTo>
                <a:cubicBezTo>
                  <a:pt x="848079" y="320135"/>
                  <a:pt x="881290" y="334364"/>
                  <a:pt x="893366" y="359262"/>
                </a:cubicBezTo>
                <a:cubicBezTo>
                  <a:pt x="908462" y="405504"/>
                  <a:pt x="923557" y="448189"/>
                  <a:pt x="974883" y="451747"/>
                </a:cubicBezTo>
                <a:cubicBezTo>
                  <a:pt x="1044324" y="458860"/>
                  <a:pt x="1005074" y="430405"/>
                  <a:pt x="992998" y="394834"/>
                </a:cubicBezTo>
                <a:cubicBezTo>
                  <a:pt x="980921" y="355706"/>
                  <a:pt x="1017152" y="345034"/>
                  <a:pt x="1041304" y="352148"/>
                </a:cubicBezTo>
                <a:cubicBezTo>
                  <a:pt x="1131878" y="384162"/>
                  <a:pt x="1225472" y="327250"/>
                  <a:pt x="1319065" y="373491"/>
                </a:cubicBezTo>
                <a:cubicBezTo>
                  <a:pt x="1294912" y="259665"/>
                  <a:pt x="1243586" y="209867"/>
                  <a:pt x="1134897" y="192082"/>
                </a:cubicBezTo>
                <a:cubicBezTo>
                  <a:pt x="1095648" y="188525"/>
                  <a:pt x="1053380" y="195638"/>
                  <a:pt x="1017152" y="163625"/>
                </a:cubicBezTo>
                <a:cubicBezTo>
                  <a:pt x="996016" y="145839"/>
                  <a:pt x="974883" y="124497"/>
                  <a:pt x="989979" y="88927"/>
                </a:cubicBezTo>
                <a:cubicBezTo>
                  <a:pt x="999036" y="64027"/>
                  <a:pt x="1023188" y="64027"/>
                  <a:pt x="1044324" y="71141"/>
                </a:cubicBezTo>
                <a:cubicBezTo>
                  <a:pt x="1131878" y="110269"/>
                  <a:pt x="1225472" y="120941"/>
                  <a:pt x="1316045" y="135168"/>
                </a:cubicBezTo>
                <a:cubicBezTo>
                  <a:pt x="1331142" y="138725"/>
                  <a:pt x="1346237" y="145839"/>
                  <a:pt x="1361334" y="110269"/>
                </a:cubicBezTo>
                <a:cubicBezTo>
                  <a:pt x="1255664" y="78255"/>
                  <a:pt x="1153012" y="35571"/>
                  <a:pt x="1047342" y="0"/>
                </a:cubicBezTo>
                <a:close/>
              </a:path>
            </a:pathLst>
          </a:cu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A52B56B-F884-70CF-B09A-3844631CD320}"/>
              </a:ext>
            </a:extLst>
          </p:cNvPr>
          <p:cNvSpPr txBox="1"/>
          <p:nvPr/>
        </p:nvSpPr>
        <p:spPr>
          <a:xfrm>
            <a:off x="329184" y="3241424"/>
            <a:ext cx="11274552" cy="2862322"/>
          </a:xfrm>
          <a:prstGeom prst="rect">
            <a:avLst/>
          </a:prstGeom>
          <a:noFill/>
        </p:spPr>
        <p:txBody>
          <a:bodyPr wrap="square" rtlCol="0">
            <a:spAutoFit/>
          </a:bodyPr>
          <a:lstStyle/>
          <a:p>
            <a:r>
              <a:rPr lang="en-NZ" b="1"/>
              <a:t>Product</a:t>
            </a:r>
            <a:r>
              <a:rPr lang="en-NZ"/>
              <a:t>(</a:t>
            </a:r>
            <a:r>
              <a:rPr lang="en-NZ" u="sng"/>
              <a:t>productCode</a:t>
            </a:r>
            <a:r>
              <a:rPr lang="en-NZ"/>
              <a:t>, productName, productLine*, productScale, productVendor, 	productDescripion, 	quantityInStock, buyPrice, MSRP)</a:t>
            </a:r>
          </a:p>
          <a:p>
            <a:r>
              <a:rPr lang="en-NZ" b="1"/>
              <a:t>productLine</a:t>
            </a:r>
            <a:r>
              <a:rPr lang="en-NZ"/>
              <a:t>(</a:t>
            </a:r>
            <a:r>
              <a:rPr lang="en-NZ" u="sng"/>
              <a:t>productLine</a:t>
            </a:r>
            <a:r>
              <a:rPr lang="en-NZ"/>
              <a:t>, textDescription, htmlDescription, image)</a:t>
            </a:r>
          </a:p>
          <a:p>
            <a:r>
              <a:rPr lang="en-NZ" b="1"/>
              <a:t>orderDetail</a:t>
            </a:r>
            <a:r>
              <a:rPr lang="en-NZ"/>
              <a:t>( </a:t>
            </a:r>
            <a:r>
              <a:rPr lang="en-NZ" u="sng"/>
              <a:t>orderNumber*, productCode*</a:t>
            </a:r>
            <a:r>
              <a:rPr lang="en-NZ"/>
              <a:t>, quantityInOrdered, priceEach, orderLineNumber)</a:t>
            </a:r>
          </a:p>
          <a:p>
            <a:r>
              <a:rPr lang="en-NZ" b="1"/>
              <a:t>productOrder</a:t>
            </a:r>
            <a:r>
              <a:rPr lang="en-NZ"/>
              <a:t>(</a:t>
            </a:r>
            <a:r>
              <a:rPr lang="en-NZ" u="sng"/>
              <a:t>orderNumber</a:t>
            </a:r>
            <a:r>
              <a:rPr lang="en-NZ"/>
              <a:t>, orderDate, requiredDate, shippedDate, status, comments, customerNumber*)</a:t>
            </a:r>
          </a:p>
          <a:p>
            <a:r>
              <a:rPr lang="en-NZ" b="1"/>
              <a:t>Payment</a:t>
            </a:r>
            <a:r>
              <a:rPr lang="en-NZ"/>
              <a:t>(</a:t>
            </a:r>
            <a:r>
              <a:rPr lang="en-NZ" u="sng"/>
              <a:t>customerNumber, checkNumber</a:t>
            </a:r>
            <a:r>
              <a:rPr lang="en-NZ"/>
              <a:t>, paymentDate, amount)</a:t>
            </a:r>
          </a:p>
          <a:p>
            <a:r>
              <a:rPr lang="en-NZ" b="1"/>
              <a:t>Customer</a:t>
            </a:r>
            <a:r>
              <a:rPr lang="en-NZ"/>
              <a:t>(</a:t>
            </a:r>
            <a:r>
              <a:rPr lang="en-NZ" u="sng"/>
              <a:t>customerNumbrer,</a:t>
            </a:r>
            <a:r>
              <a:rPr lang="en-NZ"/>
              <a:t> customerName, contractLastName, contractFirstName, phone, addressLine1, 		  addressLine2, city, state, postalCode, country, salesRepEmployeeNumbrer*, creditLimit)</a:t>
            </a:r>
          </a:p>
          <a:p>
            <a:r>
              <a:rPr lang="en-NZ" b="1"/>
              <a:t>Employee</a:t>
            </a:r>
            <a:r>
              <a:rPr lang="en-NZ"/>
              <a:t>(</a:t>
            </a:r>
            <a:r>
              <a:rPr lang="en-NZ" u="sng"/>
              <a:t>employeeNumber</a:t>
            </a:r>
            <a:r>
              <a:rPr lang="en-NZ"/>
              <a:t>, lastName, firstName, extension, email, officeCode*, reportsTo*, jobTitle)</a:t>
            </a:r>
          </a:p>
          <a:p>
            <a:r>
              <a:rPr lang="en-NZ" b="1"/>
              <a:t>Office</a:t>
            </a:r>
            <a:r>
              <a:rPr lang="en-NZ"/>
              <a:t>(</a:t>
            </a:r>
            <a:r>
              <a:rPr lang="en-NZ" u="sng"/>
              <a:t>officeCode</a:t>
            </a:r>
            <a:r>
              <a:rPr lang="en-NZ"/>
              <a:t>, city, phone, addressLine1, addressLine2, state, country, postalCode, territory)</a:t>
            </a:r>
          </a:p>
        </p:txBody>
      </p:sp>
      <p:sp>
        <p:nvSpPr>
          <p:cNvPr id="6" name="TextBox 5">
            <a:extLst>
              <a:ext uri="{FF2B5EF4-FFF2-40B4-BE49-F238E27FC236}">
                <a16:creationId xmlns:a16="http://schemas.microsoft.com/office/drawing/2014/main" id="{30AA15BF-D8D4-8E3B-CB9B-FB4BE7E2A143}"/>
              </a:ext>
            </a:extLst>
          </p:cNvPr>
          <p:cNvSpPr txBox="1"/>
          <p:nvPr/>
        </p:nvSpPr>
        <p:spPr>
          <a:xfrm>
            <a:off x="329184" y="2432849"/>
            <a:ext cx="3675888" cy="646331"/>
          </a:xfrm>
          <a:prstGeom prst="rect">
            <a:avLst/>
          </a:prstGeom>
          <a:noFill/>
        </p:spPr>
        <p:txBody>
          <a:bodyPr wrap="square" rtlCol="0">
            <a:spAutoFit/>
          </a:bodyPr>
          <a:lstStyle/>
          <a:p>
            <a:r>
              <a:rPr lang="en-NZ" sz="3600" b="1" err="1"/>
              <a:t>DataSet</a:t>
            </a:r>
            <a:r>
              <a:rPr lang="en-NZ" sz="3600" b="1"/>
              <a:t> of OLTP</a:t>
            </a:r>
          </a:p>
        </p:txBody>
      </p:sp>
    </p:spTree>
    <p:extLst>
      <p:ext uri="{BB962C8B-B14F-4D97-AF65-F5344CB8AC3E}">
        <p14:creationId xmlns:p14="http://schemas.microsoft.com/office/powerpoint/2010/main" val="3941917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13B4A9-1C7C-4729-A016-AB42D397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SQL Tutorial - GeeksforGeeks">
            <a:extLst>
              <a:ext uri="{FF2B5EF4-FFF2-40B4-BE49-F238E27FC236}">
                <a16:creationId xmlns:a16="http://schemas.microsoft.com/office/drawing/2014/main" id="{6D92DEC4-DCB8-7C49-9AD7-91CCB413F265}"/>
              </a:ext>
            </a:extLst>
          </p:cNvPr>
          <p:cNvPicPr>
            <a:picLocks noChangeAspect="1" noChangeArrowheads="1"/>
          </p:cNvPicPr>
          <p:nvPr/>
        </p:nvPicPr>
        <p:blipFill rotWithShape="1">
          <a:blip r:embed="rId3">
            <a:alphaModFix amt="50000"/>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l="6715" r="11984" b="-3"/>
          <a:stretch/>
        </p:blipFill>
        <p:spPr bwMode="auto">
          <a:xfrm>
            <a:off x="7146414" y="10"/>
            <a:ext cx="5045585" cy="2916926"/>
          </a:xfrm>
          <a:custGeom>
            <a:avLst/>
            <a:gdLst/>
            <a:ahLst/>
            <a:cxnLst/>
            <a:rect l="l" t="t" r="r" b="b"/>
            <a:pathLst>
              <a:path w="11862684" h="6858000">
                <a:moveTo>
                  <a:pt x="1047342" y="0"/>
                </a:moveTo>
                <a:lnTo>
                  <a:pt x="4590463" y="0"/>
                </a:lnTo>
                <a:lnTo>
                  <a:pt x="5499874" y="0"/>
                </a:lnTo>
                <a:lnTo>
                  <a:pt x="5723425" y="0"/>
                </a:lnTo>
                <a:lnTo>
                  <a:pt x="7580390" y="0"/>
                </a:lnTo>
                <a:lnTo>
                  <a:pt x="7747884" y="0"/>
                </a:lnTo>
                <a:lnTo>
                  <a:pt x="7824084" y="0"/>
                </a:lnTo>
                <a:lnTo>
                  <a:pt x="11862684" y="0"/>
                </a:lnTo>
                <a:lnTo>
                  <a:pt x="11862684" y="6858000"/>
                </a:lnTo>
                <a:lnTo>
                  <a:pt x="7824084" y="6858000"/>
                </a:lnTo>
                <a:lnTo>
                  <a:pt x="7747884" y="6858000"/>
                </a:lnTo>
                <a:lnTo>
                  <a:pt x="7580390" y="6858000"/>
                </a:lnTo>
                <a:lnTo>
                  <a:pt x="5723425" y="6858000"/>
                </a:lnTo>
                <a:lnTo>
                  <a:pt x="5499874" y="6858000"/>
                </a:lnTo>
                <a:lnTo>
                  <a:pt x="4590463" y="6858000"/>
                </a:lnTo>
                <a:lnTo>
                  <a:pt x="1654188" y="6858000"/>
                </a:lnTo>
                <a:cubicBezTo>
                  <a:pt x="1530404" y="6786859"/>
                  <a:pt x="1412658" y="6701489"/>
                  <a:pt x="1279816" y="6658805"/>
                </a:cubicBezTo>
                <a:cubicBezTo>
                  <a:pt x="1189242" y="6630349"/>
                  <a:pt x="1101686" y="6580550"/>
                  <a:pt x="1116783" y="6431153"/>
                </a:cubicBezTo>
                <a:cubicBezTo>
                  <a:pt x="1119802" y="6388469"/>
                  <a:pt x="1095648" y="6356456"/>
                  <a:pt x="1059419" y="6367127"/>
                </a:cubicBezTo>
                <a:cubicBezTo>
                  <a:pt x="989979" y="6388469"/>
                  <a:pt x="956768" y="6327999"/>
                  <a:pt x="917520" y="6281757"/>
                </a:cubicBezTo>
                <a:cubicBezTo>
                  <a:pt x="848079" y="6199945"/>
                  <a:pt x="781658" y="6114575"/>
                  <a:pt x="669950" y="6100347"/>
                </a:cubicBezTo>
                <a:cubicBezTo>
                  <a:pt x="691084" y="6036320"/>
                  <a:pt x="727312" y="6043434"/>
                  <a:pt x="760524" y="6057663"/>
                </a:cubicBezTo>
                <a:cubicBezTo>
                  <a:pt x="848079" y="6093234"/>
                  <a:pt x="935634" y="6132361"/>
                  <a:pt x="1023188" y="6167932"/>
                </a:cubicBezTo>
                <a:cubicBezTo>
                  <a:pt x="1080552" y="6189274"/>
                  <a:pt x="1137916" y="6221287"/>
                  <a:pt x="1213395" y="6196388"/>
                </a:cubicBezTo>
                <a:cubicBezTo>
                  <a:pt x="1146974" y="6068335"/>
                  <a:pt x="1035266" y="6043434"/>
                  <a:pt x="944692" y="6004307"/>
                </a:cubicBezTo>
                <a:cubicBezTo>
                  <a:pt x="832982" y="5954508"/>
                  <a:pt x="766562" y="5862025"/>
                  <a:pt x="685045" y="5755314"/>
                </a:cubicBezTo>
                <a:cubicBezTo>
                  <a:pt x="766562" y="5726858"/>
                  <a:pt x="817887" y="5805112"/>
                  <a:pt x="884310" y="5801555"/>
                </a:cubicBezTo>
                <a:cubicBezTo>
                  <a:pt x="887328" y="5790884"/>
                  <a:pt x="893366" y="5769542"/>
                  <a:pt x="893366" y="5769542"/>
                </a:cubicBezTo>
                <a:cubicBezTo>
                  <a:pt x="784676" y="5712629"/>
                  <a:pt x="736372" y="5605917"/>
                  <a:pt x="718256" y="5474306"/>
                </a:cubicBezTo>
                <a:cubicBezTo>
                  <a:pt x="712218" y="5406721"/>
                  <a:pt x="672970" y="5385379"/>
                  <a:pt x="633720" y="5353367"/>
                </a:cubicBezTo>
                <a:cubicBezTo>
                  <a:pt x="500878" y="5243097"/>
                  <a:pt x="358980" y="5143500"/>
                  <a:pt x="247270" y="4994104"/>
                </a:cubicBezTo>
                <a:cubicBezTo>
                  <a:pt x="377094" y="5011889"/>
                  <a:pt x="479744" y="5111487"/>
                  <a:pt x="615606" y="5154171"/>
                </a:cubicBezTo>
                <a:cubicBezTo>
                  <a:pt x="506917" y="4990547"/>
                  <a:pt x="365016" y="4905177"/>
                  <a:pt x="235194" y="4805580"/>
                </a:cubicBezTo>
                <a:cubicBezTo>
                  <a:pt x="174810" y="4759339"/>
                  <a:pt x="120468" y="4702425"/>
                  <a:pt x="51026" y="4677526"/>
                </a:cubicBezTo>
                <a:cubicBezTo>
                  <a:pt x="26873" y="4670412"/>
                  <a:pt x="-15396" y="4652628"/>
                  <a:pt x="5740" y="4602828"/>
                </a:cubicBezTo>
                <a:cubicBezTo>
                  <a:pt x="23854" y="4560144"/>
                  <a:pt x="57065" y="4574373"/>
                  <a:pt x="87257" y="4585042"/>
                </a:cubicBezTo>
                <a:cubicBezTo>
                  <a:pt x="159715" y="4613499"/>
                  <a:pt x="238213" y="4613499"/>
                  <a:pt x="337844" y="4613499"/>
                </a:cubicBezTo>
                <a:cubicBezTo>
                  <a:pt x="253310" y="4478331"/>
                  <a:pt x="99332" y="4521016"/>
                  <a:pt x="26873" y="4378734"/>
                </a:cubicBezTo>
                <a:cubicBezTo>
                  <a:pt x="117448" y="4353835"/>
                  <a:pt x="186888" y="4403633"/>
                  <a:pt x="259346" y="4414305"/>
                </a:cubicBezTo>
                <a:cubicBezTo>
                  <a:pt x="325769" y="4424975"/>
                  <a:pt x="340863" y="4400076"/>
                  <a:pt x="325769" y="4321821"/>
                </a:cubicBezTo>
                <a:cubicBezTo>
                  <a:pt x="301616" y="4200882"/>
                  <a:pt x="337844" y="4140411"/>
                  <a:pt x="434458" y="4172424"/>
                </a:cubicBezTo>
                <a:cubicBezTo>
                  <a:pt x="525031" y="4204438"/>
                  <a:pt x="534089" y="4158196"/>
                  <a:pt x="509936" y="4090612"/>
                </a:cubicBezTo>
                <a:cubicBezTo>
                  <a:pt x="473706" y="3991015"/>
                  <a:pt x="512954" y="3912759"/>
                  <a:pt x="540128" y="3827390"/>
                </a:cubicBezTo>
                <a:cubicBezTo>
                  <a:pt x="582395" y="3699337"/>
                  <a:pt x="564281" y="3635309"/>
                  <a:pt x="476725" y="3539269"/>
                </a:cubicBezTo>
                <a:cubicBezTo>
                  <a:pt x="425400" y="3485914"/>
                  <a:pt x="374074" y="3439672"/>
                  <a:pt x="301616" y="3393429"/>
                </a:cubicBezTo>
                <a:cubicBezTo>
                  <a:pt x="467668" y="3368530"/>
                  <a:pt x="295577" y="3283162"/>
                  <a:pt x="352940" y="3229805"/>
                </a:cubicBezTo>
                <a:cubicBezTo>
                  <a:pt x="470686" y="3208463"/>
                  <a:pt x="564281" y="3379202"/>
                  <a:pt x="724294" y="3329402"/>
                </a:cubicBezTo>
                <a:cubicBezTo>
                  <a:pt x="531070" y="3183563"/>
                  <a:pt x="313691" y="3137322"/>
                  <a:pt x="171792" y="2941684"/>
                </a:cubicBezTo>
                <a:cubicBezTo>
                  <a:pt x="205002" y="2899000"/>
                  <a:pt x="238213" y="2941684"/>
                  <a:pt x="265385" y="2923898"/>
                </a:cubicBezTo>
                <a:cubicBezTo>
                  <a:pt x="265385" y="2913227"/>
                  <a:pt x="582395" y="2980812"/>
                  <a:pt x="600510" y="2703362"/>
                </a:cubicBezTo>
                <a:cubicBezTo>
                  <a:pt x="606548" y="2703362"/>
                  <a:pt x="612587" y="2703362"/>
                  <a:pt x="618624" y="2692689"/>
                </a:cubicBezTo>
                <a:cubicBezTo>
                  <a:pt x="651834" y="2653563"/>
                  <a:pt x="621644" y="2561080"/>
                  <a:pt x="675988" y="2553965"/>
                </a:cubicBezTo>
                <a:cubicBezTo>
                  <a:pt x="736372" y="2546851"/>
                  <a:pt x="793735" y="2514837"/>
                  <a:pt x="857136" y="2532623"/>
                </a:cubicBezTo>
                <a:cubicBezTo>
                  <a:pt x="905443" y="2546851"/>
                  <a:pt x="956768" y="2564636"/>
                  <a:pt x="1008094" y="2564636"/>
                </a:cubicBezTo>
                <a:cubicBezTo>
                  <a:pt x="1062438" y="2564636"/>
                  <a:pt x="1137916" y="2685576"/>
                  <a:pt x="1171128" y="2525509"/>
                </a:cubicBezTo>
                <a:cubicBezTo>
                  <a:pt x="1171128" y="2518395"/>
                  <a:pt x="1264720" y="2536181"/>
                  <a:pt x="1316045" y="2543294"/>
                </a:cubicBezTo>
                <a:cubicBezTo>
                  <a:pt x="1358314" y="2550408"/>
                  <a:pt x="1409640" y="2582422"/>
                  <a:pt x="1439830" y="2518395"/>
                </a:cubicBezTo>
                <a:cubicBezTo>
                  <a:pt x="1454926" y="2479267"/>
                  <a:pt x="1382466" y="2408126"/>
                  <a:pt x="1319065" y="2401012"/>
                </a:cubicBezTo>
                <a:cubicBezTo>
                  <a:pt x="1261702" y="2393898"/>
                  <a:pt x="1204338" y="2386784"/>
                  <a:pt x="1149994" y="2401012"/>
                </a:cubicBezTo>
                <a:cubicBezTo>
                  <a:pt x="1083572" y="2418796"/>
                  <a:pt x="1047342" y="2390340"/>
                  <a:pt x="1029227" y="2326314"/>
                </a:cubicBezTo>
                <a:cubicBezTo>
                  <a:pt x="1008094" y="2258731"/>
                  <a:pt x="968844" y="2223159"/>
                  <a:pt x="914500" y="2191146"/>
                </a:cubicBezTo>
                <a:cubicBezTo>
                  <a:pt x="781658" y="2112891"/>
                  <a:pt x="654854" y="2020407"/>
                  <a:pt x="509936" y="1974165"/>
                </a:cubicBezTo>
                <a:cubicBezTo>
                  <a:pt x="482764" y="1967051"/>
                  <a:pt x="449553" y="1952823"/>
                  <a:pt x="437476" y="1892353"/>
                </a:cubicBezTo>
                <a:cubicBezTo>
                  <a:pt x="829964" y="1984836"/>
                  <a:pt x="1186222" y="2223159"/>
                  <a:pt x="1590788" y="2208931"/>
                </a:cubicBezTo>
                <a:cubicBezTo>
                  <a:pt x="1482098" y="2134233"/>
                  <a:pt x="1352276" y="2130676"/>
                  <a:pt x="1234528" y="2077320"/>
                </a:cubicBezTo>
                <a:cubicBezTo>
                  <a:pt x="1319065" y="2038192"/>
                  <a:pt x="1397562" y="2080877"/>
                  <a:pt x="1476060" y="2102219"/>
                </a:cubicBezTo>
                <a:cubicBezTo>
                  <a:pt x="1542482" y="2120004"/>
                  <a:pt x="1602864" y="2123562"/>
                  <a:pt x="1608902" y="2013292"/>
                </a:cubicBezTo>
                <a:cubicBezTo>
                  <a:pt x="1608902" y="2002622"/>
                  <a:pt x="1608902" y="1995507"/>
                  <a:pt x="1608902" y="1984836"/>
                </a:cubicBezTo>
                <a:cubicBezTo>
                  <a:pt x="1584749" y="1938595"/>
                  <a:pt x="1551538" y="1917252"/>
                  <a:pt x="1509271" y="1903025"/>
                </a:cubicBezTo>
                <a:cubicBezTo>
                  <a:pt x="1485118" y="1895910"/>
                  <a:pt x="1451907" y="1881683"/>
                  <a:pt x="1451907" y="1849668"/>
                </a:cubicBezTo>
                <a:cubicBezTo>
                  <a:pt x="1454926" y="1728729"/>
                  <a:pt x="1373409" y="1693158"/>
                  <a:pt x="1294912" y="1657587"/>
                </a:cubicBezTo>
                <a:cubicBezTo>
                  <a:pt x="1337180" y="1597117"/>
                  <a:pt x="1373409" y="1639802"/>
                  <a:pt x="1406620" y="1636245"/>
                </a:cubicBezTo>
                <a:cubicBezTo>
                  <a:pt x="1427754" y="1632688"/>
                  <a:pt x="1448887" y="1629132"/>
                  <a:pt x="1448887" y="1597117"/>
                </a:cubicBezTo>
                <a:cubicBezTo>
                  <a:pt x="1448887" y="1572219"/>
                  <a:pt x="1439830" y="1540204"/>
                  <a:pt x="1418696" y="1540204"/>
                </a:cubicBezTo>
                <a:cubicBezTo>
                  <a:pt x="1285854" y="1536647"/>
                  <a:pt x="1210375" y="1365909"/>
                  <a:pt x="1071494" y="1365909"/>
                </a:cubicBezTo>
                <a:cubicBezTo>
                  <a:pt x="986960" y="1365909"/>
                  <a:pt x="1113764" y="1269868"/>
                  <a:pt x="1044324" y="1230741"/>
                </a:cubicBezTo>
                <a:cubicBezTo>
                  <a:pt x="1029227" y="1220069"/>
                  <a:pt x="1086591" y="1205842"/>
                  <a:pt x="1110744" y="1209399"/>
                </a:cubicBezTo>
                <a:cubicBezTo>
                  <a:pt x="1134897" y="1212955"/>
                  <a:pt x="1156032" y="1237855"/>
                  <a:pt x="1186222" y="1220069"/>
                </a:cubicBezTo>
                <a:cubicBezTo>
                  <a:pt x="1201318" y="1156043"/>
                  <a:pt x="1162069" y="1131144"/>
                  <a:pt x="1125840" y="1113358"/>
                </a:cubicBezTo>
                <a:cubicBezTo>
                  <a:pt x="1047342" y="1070674"/>
                  <a:pt x="968844" y="1020875"/>
                  <a:pt x="881290" y="1006647"/>
                </a:cubicBezTo>
                <a:cubicBezTo>
                  <a:pt x="851099" y="1003089"/>
                  <a:pt x="832982" y="985305"/>
                  <a:pt x="836002" y="949734"/>
                </a:cubicBezTo>
                <a:cubicBezTo>
                  <a:pt x="842040" y="903491"/>
                  <a:pt x="872232" y="917720"/>
                  <a:pt x="896385" y="921277"/>
                </a:cubicBezTo>
                <a:cubicBezTo>
                  <a:pt x="911482" y="924835"/>
                  <a:pt x="926577" y="935506"/>
                  <a:pt x="941672" y="910606"/>
                </a:cubicBezTo>
                <a:cubicBezTo>
                  <a:pt x="588434" y="658055"/>
                  <a:pt x="401247" y="672284"/>
                  <a:pt x="5740" y="465975"/>
                </a:cubicBezTo>
                <a:cubicBezTo>
                  <a:pt x="93294" y="426847"/>
                  <a:pt x="156696" y="455303"/>
                  <a:pt x="217079" y="462417"/>
                </a:cubicBezTo>
                <a:cubicBezTo>
                  <a:pt x="368036" y="480203"/>
                  <a:pt x="274442" y="512216"/>
                  <a:pt x="425400" y="533558"/>
                </a:cubicBezTo>
                <a:cubicBezTo>
                  <a:pt x="497860" y="544229"/>
                  <a:pt x="564281" y="579800"/>
                  <a:pt x="645798" y="522887"/>
                </a:cubicBezTo>
                <a:cubicBezTo>
                  <a:pt x="700142" y="483759"/>
                  <a:pt x="787696" y="526444"/>
                  <a:pt x="854118" y="558458"/>
                </a:cubicBezTo>
                <a:cubicBezTo>
                  <a:pt x="908462" y="586915"/>
                  <a:pt x="962806" y="594028"/>
                  <a:pt x="1035266" y="558458"/>
                </a:cubicBezTo>
                <a:cubicBezTo>
                  <a:pt x="968844" y="537116"/>
                  <a:pt x="917520" y="519330"/>
                  <a:pt x="866193" y="505101"/>
                </a:cubicBezTo>
                <a:cubicBezTo>
                  <a:pt x="823926" y="494431"/>
                  <a:pt x="799772" y="469532"/>
                  <a:pt x="802792" y="416176"/>
                </a:cubicBezTo>
                <a:cubicBezTo>
                  <a:pt x="802792" y="387720"/>
                  <a:pt x="793735" y="348592"/>
                  <a:pt x="823926" y="334364"/>
                </a:cubicBezTo>
                <a:cubicBezTo>
                  <a:pt x="848079" y="320135"/>
                  <a:pt x="881290" y="334364"/>
                  <a:pt x="893366" y="359262"/>
                </a:cubicBezTo>
                <a:cubicBezTo>
                  <a:pt x="908462" y="405504"/>
                  <a:pt x="923557" y="448189"/>
                  <a:pt x="974883" y="451747"/>
                </a:cubicBezTo>
                <a:cubicBezTo>
                  <a:pt x="1044324" y="458860"/>
                  <a:pt x="1005074" y="430405"/>
                  <a:pt x="992998" y="394834"/>
                </a:cubicBezTo>
                <a:cubicBezTo>
                  <a:pt x="980921" y="355706"/>
                  <a:pt x="1017152" y="345034"/>
                  <a:pt x="1041304" y="352148"/>
                </a:cubicBezTo>
                <a:cubicBezTo>
                  <a:pt x="1131878" y="384162"/>
                  <a:pt x="1225472" y="327250"/>
                  <a:pt x="1319065" y="373491"/>
                </a:cubicBezTo>
                <a:cubicBezTo>
                  <a:pt x="1294912" y="259665"/>
                  <a:pt x="1243586" y="209867"/>
                  <a:pt x="1134897" y="192082"/>
                </a:cubicBezTo>
                <a:cubicBezTo>
                  <a:pt x="1095648" y="188525"/>
                  <a:pt x="1053380" y="195638"/>
                  <a:pt x="1017152" y="163625"/>
                </a:cubicBezTo>
                <a:cubicBezTo>
                  <a:pt x="996016" y="145839"/>
                  <a:pt x="974883" y="124497"/>
                  <a:pt x="989979" y="88927"/>
                </a:cubicBezTo>
                <a:cubicBezTo>
                  <a:pt x="999036" y="64027"/>
                  <a:pt x="1023188" y="64027"/>
                  <a:pt x="1044324" y="71141"/>
                </a:cubicBezTo>
                <a:cubicBezTo>
                  <a:pt x="1131878" y="110269"/>
                  <a:pt x="1225472" y="120941"/>
                  <a:pt x="1316045" y="135168"/>
                </a:cubicBezTo>
                <a:cubicBezTo>
                  <a:pt x="1331142" y="138725"/>
                  <a:pt x="1346237" y="145839"/>
                  <a:pt x="1361334" y="110269"/>
                </a:cubicBezTo>
                <a:cubicBezTo>
                  <a:pt x="1255664" y="78255"/>
                  <a:pt x="1153012" y="35571"/>
                  <a:pt x="1047342" y="0"/>
                </a:cubicBezTo>
                <a:close/>
              </a:path>
            </a:pathLst>
          </a:cu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A52B56B-F884-70CF-B09A-3844631CD320}"/>
              </a:ext>
            </a:extLst>
          </p:cNvPr>
          <p:cNvSpPr txBox="1"/>
          <p:nvPr/>
        </p:nvSpPr>
        <p:spPr>
          <a:xfrm>
            <a:off x="329184" y="3241424"/>
            <a:ext cx="11274552" cy="2862322"/>
          </a:xfrm>
          <a:prstGeom prst="rect">
            <a:avLst/>
          </a:prstGeom>
          <a:noFill/>
        </p:spPr>
        <p:txBody>
          <a:bodyPr wrap="square" rtlCol="0">
            <a:spAutoFit/>
          </a:bodyPr>
          <a:lstStyle/>
          <a:p>
            <a:r>
              <a:rPr lang="en-NZ" b="1"/>
              <a:t>Product</a:t>
            </a:r>
            <a:r>
              <a:rPr lang="en-NZ"/>
              <a:t>(</a:t>
            </a:r>
            <a:r>
              <a:rPr lang="en-NZ" u="sng"/>
              <a:t>productCode</a:t>
            </a:r>
            <a:r>
              <a:rPr lang="en-NZ"/>
              <a:t>, productName, productLine*, productScale, productVendor, 	productDescripion, 	quantityInStock, buyPrice, MSRP)</a:t>
            </a:r>
          </a:p>
          <a:p>
            <a:r>
              <a:rPr lang="en-NZ" b="1">
                <a:solidFill>
                  <a:schemeClr val="bg1">
                    <a:lumMod val="95000"/>
                  </a:schemeClr>
                </a:solidFill>
              </a:rPr>
              <a:t>productLine</a:t>
            </a:r>
            <a:r>
              <a:rPr lang="en-NZ">
                <a:solidFill>
                  <a:schemeClr val="bg1">
                    <a:lumMod val="95000"/>
                  </a:schemeClr>
                </a:solidFill>
              </a:rPr>
              <a:t>(</a:t>
            </a:r>
            <a:r>
              <a:rPr lang="en-NZ" u="sng">
                <a:solidFill>
                  <a:schemeClr val="bg1">
                    <a:lumMod val="95000"/>
                  </a:schemeClr>
                </a:solidFill>
              </a:rPr>
              <a:t>productLine</a:t>
            </a:r>
            <a:r>
              <a:rPr lang="en-NZ">
                <a:solidFill>
                  <a:schemeClr val="bg1">
                    <a:lumMod val="95000"/>
                  </a:schemeClr>
                </a:solidFill>
              </a:rPr>
              <a:t>, textDescription, htmlDescription, image)</a:t>
            </a:r>
          </a:p>
          <a:p>
            <a:r>
              <a:rPr lang="en-NZ" b="1"/>
              <a:t>orderDetail</a:t>
            </a:r>
            <a:r>
              <a:rPr lang="en-NZ"/>
              <a:t>( </a:t>
            </a:r>
            <a:r>
              <a:rPr lang="en-NZ" u="sng"/>
              <a:t>orderNumber*, productCode*</a:t>
            </a:r>
            <a:r>
              <a:rPr lang="en-NZ"/>
              <a:t>, quantityInOrdered, priceEach</a:t>
            </a:r>
            <a:r>
              <a:rPr lang="en-NZ">
                <a:solidFill>
                  <a:schemeClr val="bg1">
                    <a:lumMod val="95000"/>
                  </a:schemeClr>
                </a:solidFill>
              </a:rPr>
              <a:t>, orderLineNumber</a:t>
            </a:r>
            <a:r>
              <a:rPr lang="en-NZ"/>
              <a:t>)</a:t>
            </a:r>
          </a:p>
          <a:p>
            <a:r>
              <a:rPr lang="en-NZ" b="1"/>
              <a:t>productOrder</a:t>
            </a:r>
            <a:r>
              <a:rPr lang="en-NZ"/>
              <a:t>(</a:t>
            </a:r>
            <a:r>
              <a:rPr lang="en-NZ" u="sng"/>
              <a:t>orderNumber</a:t>
            </a:r>
            <a:r>
              <a:rPr lang="en-NZ"/>
              <a:t>, orderDate, requiredDate, shippedDate, status, </a:t>
            </a:r>
            <a:r>
              <a:rPr lang="en-NZ">
                <a:solidFill>
                  <a:schemeClr val="bg1">
                    <a:lumMod val="95000"/>
                  </a:schemeClr>
                </a:solidFill>
              </a:rPr>
              <a:t>comments, </a:t>
            </a:r>
            <a:r>
              <a:rPr lang="en-NZ"/>
              <a:t>customerNumber*)</a:t>
            </a:r>
          </a:p>
          <a:p>
            <a:r>
              <a:rPr lang="en-NZ" b="1"/>
              <a:t>Payment</a:t>
            </a:r>
            <a:r>
              <a:rPr lang="en-NZ"/>
              <a:t>(</a:t>
            </a:r>
            <a:r>
              <a:rPr lang="en-NZ" u="sng"/>
              <a:t>customerNumber, checkNumber</a:t>
            </a:r>
            <a:r>
              <a:rPr lang="en-NZ"/>
              <a:t>, paymentDate, amount)</a:t>
            </a:r>
          </a:p>
          <a:p>
            <a:r>
              <a:rPr lang="en-NZ" b="1"/>
              <a:t>Customer</a:t>
            </a:r>
            <a:r>
              <a:rPr lang="en-NZ"/>
              <a:t>(</a:t>
            </a:r>
            <a:r>
              <a:rPr lang="en-NZ" u="sng"/>
              <a:t>customerNumbrer,</a:t>
            </a:r>
            <a:r>
              <a:rPr lang="en-NZ"/>
              <a:t> customerName</a:t>
            </a:r>
            <a:r>
              <a:rPr lang="en-NZ">
                <a:solidFill>
                  <a:schemeClr val="bg1">
                    <a:lumMod val="95000"/>
                  </a:schemeClr>
                </a:solidFill>
              </a:rPr>
              <a:t>, contractLastName, contractFirstName, phone, addressLine1, 		  addressLine2, </a:t>
            </a:r>
            <a:r>
              <a:rPr lang="en-NZ"/>
              <a:t>city, </a:t>
            </a:r>
            <a:r>
              <a:rPr lang="en-NZ">
                <a:solidFill>
                  <a:schemeClr val="bg1">
                    <a:lumMod val="95000"/>
                  </a:schemeClr>
                </a:solidFill>
              </a:rPr>
              <a:t>state, postalCode, </a:t>
            </a:r>
            <a:r>
              <a:rPr lang="en-NZ"/>
              <a:t>country, salesRepEmployeeNumbrer*</a:t>
            </a:r>
            <a:r>
              <a:rPr lang="en-NZ">
                <a:solidFill>
                  <a:schemeClr val="bg1">
                    <a:lumMod val="95000"/>
                  </a:schemeClr>
                </a:solidFill>
              </a:rPr>
              <a:t>, creditLimit</a:t>
            </a:r>
            <a:r>
              <a:rPr lang="en-NZ"/>
              <a:t>)</a:t>
            </a:r>
          </a:p>
          <a:p>
            <a:r>
              <a:rPr lang="en-NZ" b="1"/>
              <a:t>Employee</a:t>
            </a:r>
            <a:r>
              <a:rPr lang="en-NZ"/>
              <a:t>(</a:t>
            </a:r>
            <a:r>
              <a:rPr lang="en-NZ" u="sng"/>
              <a:t>employeeNumber</a:t>
            </a:r>
            <a:r>
              <a:rPr lang="en-NZ"/>
              <a:t>, lastName, firstName</a:t>
            </a:r>
            <a:r>
              <a:rPr lang="en-NZ">
                <a:solidFill>
                  <a:schemeClr val="bg1">
                    <a:lumMod val="95000"/>
                  </a:schemeClr>
                </a:solidFill>
              </a:rPr>
              <a:t>, extension, email, </a:t>
            </a:r>
            <a:r>
              <a:rPr lang="en-NZ"/>
              <a:t>officeCode*</a:t>
            </a:r>
            <a:r>
              <a:rPr lang="en-NZ">
                <a:solidFill>
                  <a:schemeClr val="bg1">
                    <a:lumMod val="95000"/>
                  </a:schemeClr>
                </a:solidFill>
              </a:rPr>
              <a:t>, reportsTo*, jobTitle</a:t>
            </a:r>
            <a:r>
              <a:rPr lang="en-NZ"/>
              <a:t>)</a:t>
            </a:r>
          </a:p>
          <a:p>
            <a:r>
              <a:rPr lang="en-NZ" b="1"/>
              <a:t>Office</a:t>
            </a:r>
            <a:r>
              <a:rPr lang="en-NZ"/>
              <a:t>(</a:t>
            </a:r>
            <a:r>
              <a:rPr lang="en-NZ" u="sng"/>
              <a:t>officeCode</a:t>
            </a:r>
            <a:r>
              <a:rPr lang="en-NZ"/>
              <a:t>, city,</a:t>
            </a:r>
            <a:r>
              <a:rPr lang="en-NZ">
                <a:solidFill>
                  <a:schemeClr val="bg1">
                    <a:lumMod val="95000"/>
                  </a:schemeClr>
                </a:solidFill>
              </a:rPr>
              <a:t> phone, addressLine1, addressLine2, state, </a:t>
            </a:r>
            <a:r>
              <a:rPr lang="en-NZ"/>
              <a:t>country</a:t>
            </a:r>
            <a:r>
              <a:rPr lang="en-NZ">
                <a:solidFill>
                  <a:schemeClr val="bg1">
                    <a:lumMod val="95000"/>
                  </a:schemeClr>
                </a:solidFill>
              </a:rPr>
              <a:t>, postalCode, territory</a:t>
            </a:r>
            <a:r>
              <a:rPr lang="en-NZ"/>
              <a:t>)</a:t>
            </a:r>
          </a:p>
        </p:txBody>
      </p:sp>
      <p:sp>
        <p:nvSpPr>
          <p:cNvPr id="6" name="TextBox 5">
            <a:extLst>
              <a:ext uri="{FF2B5EF4-FFF2-40B4-BE49-F238E27FC236}">
                <a16:creationId xmlns:a16="http://schemas.microsoft.com/office/drawing/2014/main" id="{30AA15BF-D8D4-8E3B-CB9B-FB4BE7E2A143}"/>
              </a:ext>
            </a:extLst>
          </p:cNvPr>
          <p:cNvSpPr txBox="1"/>
          <p:nvPr/>
        </p:nvSpPr>
        <p:spPr>
          <a:xfrm>
            <a:off x="329184" y="2432849"/>
            <a:ext cx="3675888" cy="646331"/>
          </a:xfrm>
          <a:prstGeom prst="rect">
            <a:avLst/>
          </a:prstGeom>
          <a:noFill/>
        </p:spPr>
        <p:txBody>
          <a:bodyPr wrap="square" rtlCol="0">
            <a:spAutoFit/>
          </a:bodyPr>
          <a:lstStyle/>
          <a:p>
            <a:r>
              <a:rPr lang="en-NZ" sz="3600" b="1" err="1"/>
              <a:t>DataSet</a:t>
            </a:r>
            <a:r>
              <a:rPr lang="en-NZ" sz="3600" b="1"/>
              <a:t> of OLAP</a:t>
            </a:r>
          </a:p>
        </p:txBody>
      </p:sp>
    </p:spTree>
    <p:extLst>
      <p:ext uri="{BB962C8B-B14F-4D97-AF65-F5344CB8AC3E}">
        <p14:creationId xmlns:p14="http://schemas.microsoft.com/office/powerpoint/2010/main" val="2994345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13B4A9-1C7C-4729-A016-AB42D397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SQL Tutorial - GeeksforGeeks">
            <a:extLst>
              <a:ext uri="{FF2B5EF4-FFF2-40B4-BE49-F238E27FC236}">
                <a16:creationId xmlns:a16="http://schemas.microsoft.com/office/drawing/2014/main" id="{6D92DEC4-DCB8-7C49-9AD7-91CCB413F265}"/>
              </a:ext>
            </a:extLst>
          </p:cNvPr>
          <p:cNvPicPr>
            <a:picLocks noChangeAspect="1" noChangeArrowheads="1"/>
          </p:cNvPicPr>
          <p:nvPr/>
        </p:nvPicPr>
        <p:blipFill rotWithShape="1">
          <a:blip r:embed="rId3">
            <a:alphaModFix amt="50000"/>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l="6715" r="11984" b="-3"/>
          <a:stretch/>
        </p:blipFill>
        <p:spPr bwMode="auto">
          <a:xfrm>
            <a:off x="7146414" y="10"/>
            <a:ext cx="5045585" cy="2916926"/>
          </a:xfrm>
          <a:custGeom>
            <a:avLst/>
            <a:gdLst/>
            <a:ahLst/>
            <a:cxnLst/>
            <a:rect l="l" t="t" r="r" b="b"/>
            <a:pathLst>
              <a:path w="11862684" h="6858000">
                <a:moveTo>
                  <a:pt x="1047342" y="0"/>
                </a:moveTo>
                <a:lnTo>
                  <a:pt x="4590463" y="0"/>
                </a:lnTo>
                <a:lnTo>
                  <a:pt x="5499874" y="0"/>
                </a:lnTo>
                <a:lnTo>
                  <a:pt x="5723425" y="0"/>
                </a:lnTo>
                <a:lnTo>
                  <a:pt x="7580390" y="0"/>
                </a:lnTo>
                <a:lnTo>
                  <a:pt x="7747884" y="0"/>
                </a:lnTo>
                <a:lnTo>
                  <a:pt x="7824084" y="0"/>
                </a:lnTo>
                <a:lnTo>
                  <a:pt x="11862684" y="0"/>
                </a:lnTo>
                <a:lnTo>
                  <a:pt x="11862684" y="6858000"/>
                </a:lnTo>
                <a:lnTo>
                  <a:pt x="7824084" y="6858000"/>
                </a:lnTo>
                <a:lnTo>
                  <a:pt x="7747884" y="6858000"/>
                </a:lnTo>
                <a:lnTo>
                  <a:pt x="7580390" y="6858000"/>
                </a:lnTo>
                <a:lnTo>
                  <a:pt x="5723425" y="6858000"/>
                </a:lnTo>
                <a:lnTo>
                  <a:pt x="5499874" y="6858000"/>
                </a:lnTo>
                <a:lnTo>
                  <a:pt x="4590463" y="6858000"/>
                </a:lnTo>
                <a:lnTo>
                  <a:pt x="1654188" y="6858000"/>
                </a:lnTo>
                <a:cubicBezTo>
                  <a:pt x="1530404" y="6786859"/>
                  <a:pt x="1412658" y="6701489"/>
                  <a:pt x="1279816" y="6658805"/>
                </a:cubicBezTo>
                <a:cubicBezTo>
                  <a:pt x="1189242" y="6630349"/>
                  <a:pt x="1101686" y="6580550"/>
                  <a:pt x="1116783" y="6431153"/>
                </a:cubicBezTo>
                <a:cubicBezTo>
                  <a:pt x="1119802" y="6388469"/>
                  <a:pt x="1095648" y="6356456"/>
                  <a:pt x="1059419" y="6367127"/>
                </a:cubicBezTo>
                <a:cubicBezTo>
                  <a:pt x="989979" y="6388469"/>
                  <a:pt x="956768" y="6327999"/>
                  <a:pt x="917520" y="6281757"/>
                </a:cubicBezTo>
                <a:cubicBezTo>
                  <a:pt x="848079" y="6199945"/>
                  <a:pt x="781658" y="6114575"/>
                  <a:pt x="669950" y="6100347"/>
                </a:cubicBezTo>
                <a:cubicBezTo>
                  <a:pt x="691084" y="6036320"/>
                  <a:pt x="727312" y="6043434"/>
                  <a:pt x="760524" y="6057663"/>
                </a:cubicBezTo>
                <a:cubicBezTo>
                  <a:pt x="848079" y="6093234"/>
                  <a:pt x="935634" y="6132361"/>
                  <a:pt x="1023188" y="6167932"/>
                </a:cubicBezTo>
                <a:cubicBezTo>
                  <a:pt x="1080552" y="6189274"/>
                  <a:pt x="1137916" y="6221287"/>
                  <a:pt x="1213395" y="6196388"/>
                </a:cubicBezTo>
                <a:cubicBezTo>
                  <a:pt x="1146974" y="6068335"/>
                  <a:pt x="1035266" y="6043434"/>
                  <a:pt x="944692" y="6004307"/>
                </a:cubicBezTo>
                <a:cubicBezTo>
                  <a:pt x="832982" y="5954508"/>
                  <a:pt x="766562" y="5862025"/>
                  <a:pt x="685045" y="5755314"/>
                </a:cubicBezTo>
                <a:cubicBezTo>
                  <a:pt x="766562" y="5726858"/>
                  <a:pt x="817887" y="5805112"/>
                  <a:pt x="884310" y="5801555"/>
                </a:cubicBezTo>
                <a:cubicBezTo>
                  <a:pt x="887328" y="5790884"/>
                  <a:pt x="893366" y="5769542"/>
                  <a:pt x="893366" y="5769542"/>
                </a:cubicBezTo>
                <a:cubicBezTo>
                  <a:pt x="784676" y="5712629"/>
                  <a:pt x="736372" y="5605917"/>
                  <a:pt x="718256" y="5474306"/>
                </a:cubicBezTo>
                <a:cubicBezTo>
                  <a:pt x="712218" y="5406721"/>
                  <a:pt x="672970" y="5385379"/>
                  <a:pt x="633720" y="5353367"/>
                </a:cubicBezTo>
                <a:cubicBezTo>
                  <a:pt x="500878" y="5243097"/>
                  <a:pt x="358980" y="5143500"/>
                  <a:pt x="247270" y="4994104"/>
                </a:cubicBezTo>
                <a:cubicBezTo>
                  <a:pt x="377094" y="5011889"/>
                  <a:pt x="479744" y="5111487"/>
                  <a:pt x="615606" y="5154171"/>
                </a:cubicBezTo>
                <a:cubicBezTo>
                  <a:pt x="506917" y="4990547"/>
                  <a:pt x="365016" y="4905177"/>
                  <a:pt x="235194" y="4805580"/>
                </a:cubicBezTo>
                <a:cubicBezTo>
                  <a:pt x="174810" y="4759339"/>
                  <a:pt x="120468" y="4702425"/>
                  <a:pt x="51026" y="4677526"/>
                </a:cubicBezTo>
                <a:cubicBezTo>
                  <a:pt x="26873" y="4670412"/>
                  <a:pt x="-15396" y="4652628"/>
                  <a:pt x="5740" y="4602828"/>
                </a:cubicBezTo>
                <a:cubicBezTo>
                  <a:pt x="23854" y="4560144"/>
                  <a:pt x="57065" y="4574373"/>
                  <a:pt x="87257" y="4585042"/>
                </a:cubicBezTo>
                <a:cubicBezTo>
                  <a:pt x="159715" y="4613499"/>
                  <a:pt x="238213" y="4613499"/>
                  <a:pt x="337844" y="4613499"/>
                </a:cubicBezTo>
                <a:cubicBezTo>
                  <a:pt x="253310" y="4478331"/>
                  <a:pt x="99332" y="4521016"/>
                  <a:pt x="26873" y="4378734"/>
                </a:cubicBezTo>
                <a:cubicBezTo>
                  <a:pt x="117448" y="4353835"/>
                  <a:pt x="186888" y="4403633"/>
                  <a:pt x="259346" y="4414305"/>
                </a:cubicBezTo>
                <a:cubicBezTo>
                  <a:pt x="325769" y="4424975"/>
                  <a:pt x="340863" y="4400076"/>
                  <a:pt x="325769" y="4321821"/>
                </a:cubicBezTo>
                <a:cubicBezTo>
                  <a:pt x="301616" y="4200882"/>
                  <a:pt x="337844" y="4140411"/>
                  <a:pt x="434458" y="4172424"/>
                </a:cubicBezTo>
                <a:cubicBezTo>
                  <a:pt x="525031" y="4204438"/>
                  <a:pt x="534089" y="4158196"/>
                  <a:pt x="509936" y="4090612"/>
                </a:cubicBezTo>
                <a:cubicBezTo>
                  <a:pt x="473706" y="3991015"/>
                  <a:pt x="512954" y="3912759"/>
                  <a:pt x="540128" y="3827390"/>
                </a:cubicBezTo>
                <a:cubicBezTo>
                  <a:pt x="582395" y="3699337"/>
                  <a:pt x="564281" y="3635309"/>
                  <a:pt x="476725" y="3539269"/>
                </a:cubicBezTo>
                <a:cubicBezTo>
                  <a:pt x="425400" y="3485914"/>
                  <a:pt x="374074" y="3439672"/>
                  <a:pt x="301616" y="3393429"/>
                </a:cubicBezTo>
                <a:cubicBezTo>
                  <a:pt x="467668" y="3368530"/>
                  <a:pt x="295577" y="3283162"/>
                  <a:pt x="352940" y="3229805"/>
                </a:cubicBezTo>
                <a:cubicBezTo>
                  <a:pt x="470686" y="3208463"/>
                  <a:pt x="564281" y="3379202"/>
                  <a:pt x="724294" y="3329402"/>
                </a:cubicBezTo>
                <a:cubicBezTo>
                  <a:pt x="531070" y="3183563"/>
                  <a:pt x="313691" y="3137322"/>
                  <a:pt x="171792" y="2941684"/>
                </a:cubicBezTo>
                <a:cubicBezTo>
                  <a:pt x="205002" y="2899000"/>
                  <a:pt x="238213" y="2941684"/>
                  <a:pt x="265385" y="2923898"/>
                </a:cubicBezTo>
                <a:cubicBezTo>
                  <a:pt x="265385" y="2913227"/>
                  <a:pt x="582395" y="2980812"/>
                  <a:pt x="600510" y="2703362"/>
                </a:cubicBezTo>
                <a:cubicBezTo>
                  <a:pt x="606548" y="2703362"/>
                  <a:pt x="612587" y="2703362"/>
                  <a:pt x="618624" y="2692689"/>
                </a:cubicBezTo>
                <a:cubicBezTo>
                  <a:pt x="651834" y="2653563"/>
                  <a:pt x="621644" y="2561080"/>
                  <a:pt x="675988" y="2553965"/>
                </a:cubicBezTo>
                <a:cubicBezTo>
                  <a:pt x="736372" y="2546851"/>
                  <a:pt x="793735" y="2514837"/>
                  <a:pt x="857136" y="2532623"/>
                </a:cubicBezTo>
                <a:cubicBezTo>
                  <a:pt x="905443" y="2546851"/>
                  <a:pt x="956768" y="2564636"/>
                  <a:pt x="1008094" y="2564636"/>
                </a:cubicBezTo>
                <a:cubicBezTo>
                  <a:pt x="1062438" y="2564636"/>
                  <a:pt x="1137916" y="2685576"/>
                  <a:pt x="1171128" y="2525509"/>
                </a:cubicBezTo>
                <a:cubicBezTo>
                  <a:pt x="1171128" y="2518395"/>
                  <a:pt x="1264720" y="2536181"/>
                  <a:pt x="1316045" y="2543294"/>
                </a:cubicBezTo>
                <a:cubicBezTo>
                  <a:pt x="1358314" y="2550408"/>
                  <a:pt x="1409640" y="2582422"/>
                  <a:pt x="1439830" y="2518395"/>
                </a:cubicBezTo>
                <a:cubicBezTo>
                  <a:pt x="1454926" y="2479267"/>
                  <a:pt x="1382466" y="2408126"/>
                  <a:pt x="1319065" y="2401012"/>
                </a:cubicBezTo>
                <a:cubicBezTo>
                  <a:pt x="1261702" y="2393898"/>
                  <a:pt x="1204338" y="2386784"/>
                  <a:pt x="1149994" y="2401012"/>
                </a:cubicBezTo>
                <a:cubicBezTo>
                  <a:pt x="1083572" y="2418796"/>
                  <a:pt x="1047342" y="2390340"/>
                  <a:pt x="1029227" y="2326314"/>
                </a:cubicBezTo>
                <a:cubicBezTo>
                  <a:pt x="1008094" y="2258731"/>
                  <a:pt x="968844" y="2223159"/>
                  <a:pt x="914500" y="2191146"/>
                </a:cubicBezTo>
                <a:cubicBezTo>
                  <a:pt x="781658" y="2112891"/>
                  <a:pt x="654854" y="2020407"/>
                  <a:pt x="509936" y="1974165"/>
                </a:cubicBezTo>
                <a:cubicBezTo>
                  <a:pt x="482764" y="1967051"/>
                  <a:pt x="449553" y="1952823"/>
                  <a:pt x="437476" y="1892353"/>
                </a:cubicBezTo>
                <a:cubicBezTo>
                  <a:pt x="829964" y="1984836"/>
                  <a:pt x="1186222" y="2223159"/>
                  <a:pt x="1590788" y="2208931"/>
                </a:cubicBezTo>
                <a:cubicBezTo>
                  <a:pt x="1482098" y="2134233"/>
                  <a:pt x="1352276" y="2130676"/>
                  <a:pt x="1234528" y="2077320"/>
                </a:cubicBezTo>
                <a:cubicBezTo>
                  <a:pt x="1319065" y="2038192"/>
                  <a:pt x="1397562" y="2080877"/>
                  <a:pt x="1476060" y="2102219"/>
                </a:cubicBezTo>
                <a:cubicBezTo>
                  <a:pt x="1542482" y="2120004"/>
                  <a:pt x="1602864" y="2123562"/>
                  <a:pt x="1608902" y="2013292"/>
                </a:cubicBezTo>
                <a:cubicBezTo>
                  <a:pt x="1608902" y="2002622"/>
                  <a:pt x="1608902" y="1995507"/>
                  <a:pt x="1608902" y="1984836"/>
                </a:cubicBezTo>
                <a:cubicBezTo>
                  <a:pt x="1584749" y="1938595"/>
                  <a:pt x="1551538" y="1917252"/>
                  <a:pt x="1509271" y="1903025"/>
                </a:cubicBezTo>
                <a:cubicBezTo>
                  <a:pt x="1485118" y="1895910"/>
                  <a:pt x="1451907" y="1881683"/>
                  <a:pt x="1451907" y="1849668"/>
                </a:cubicBezTo>
                <a:cubicBezTo>
                  <a:pt x="1454926" y="1728729"/>
                  <a:pt x="1373409" y="1693158"/>
                  <a:pt x="1294912" y="1657587"/>
                </a:cubicBezTo>
                <a:cubicBezTo>
                  <a:pt x="1337180" y="1597117"/>
                  <a:pt x="1373409" y="1639802"/>
                  <a:pt x="1406620" y="1636245"/>
                </a:cubicBezTo>
                <a:cubicBezTo>
                  <a:pt x="1427754" y="1632688"/>
                  <a:pt x="1448887" y="1629132"/>
                  <a:pt x="1448887" y="1597117"/>
                </a:cubicBezTo>
                <a:cubicBezTo>
                  <a:pt x="1448887" y="1572219"/>
                  <a:pt x="1439830" y="1540204"/>
                  <a:pt x="1418696" y="1540204"/>
                </a:cubicBezTo>
                <a:cubicBezTo>
                  <a:pt x="1285854" y="1536647"/>
                  <a:pt x="1210375" y="1365909"/>
                  <a:pt x="1071494" y="1365909"/>
                </a:cubicBezTo>
                <a:cubicBezTo>
                  <a:pt x="986960" y="1365909"/>
                  <a:pt x="1113764" y="1269868"/>
                  <a:pt x="1044324" y="1230741"/>
                </a:cubicBezTo>
                <a:cubicBezTo>
                  <a:pt x="1029227" y="1220069"/>
                  <a:pt x="1086591" y="1205842"/>
                  <a:pt x="1110744" y="1209399"/>
                </a:cubicBezTo>
                <a:cubicBezTo>
                  <a:pt x="1134897" y="1212955"/>
                  <a:pt x="1156032" y="1237855"/>
                  <a:pt x="1186222" y="1220069"/>
                </a:cubicBezTo>
                <a:cubicBezTo>
                  <a:pt x="1201318" y="1156043"/>
                  <a:pt x="1162069" y="1131144"/>
                  <a:pt x="1125840" y="1113358"/>
                </a:cubicBezTo>
                <a:cubicBezTo>
                  <a:pt x="1047342" y="1070674"/>
                  <a:pt x="968844" y="1020875"/>
                  <a:pt x="881290" y="1006647"/>
                </a:cubicBezTo>
                <a:cubicBezTo>
                  <a:pt x="851099" y="1003089"/>
                  <a:pt x="832982" y="985305"/>
                  <a:pt x="836002" y="949734"/>
                </a:cubicBezTo>
                <a:cubicBezTo>
                  <a:pt x="842040" y="903491"/>
                  <a:pt x="872232" y="917720"/>
                  <a:pt x="896385" y="921277"/>
                </a:cubicBezTo>
                <a:cubicBezTo>
                  <a:pt x="911482" y="924835"/>
                  <a:pt x="926577" y="935506"/>
                  <a:pt x="941672" y="910606"/>
                </a:cubicBezTo>
                <a:cubicBezTo>
                  <a:pt x="588434" y="658055"/>
                  <a:pt x="401247" y="672284"/>
                  <a:pt x="5740" y="465975"/>
                </a:cubicBezTo>
                <a:cubicBezTo>
                  <a:pt x="93294" y="426847"/>
                  <a:pt x="156696" y="455303"/>
                  <a:pt x="217079" y="462417"/>
                </a:cubicBezTo>
                <a:cubicBezTo>
                  <a:pt x="368036" y="480203"/>
                  <a:pt x="274442" y="512216"/>
                  <a:pt x="425400" y="533558"/>
                </a:cubicBezTo>
                <a:cubicBezTo>
                  <a:pt x="497860" y="544229"/>
                  <a:pt x="564281" y="579800"/>
                  <a:pt x="645798" y="522887"/>
                </a:cubicBezTo>
                <a:cubicBezTo>
                  <a:pt x="700142" y="483759"/>
                  <a:pt x="787696" y="526444"/>
                  <a:pt x="854118" y="558458"/>
                </a:cubicBezTo>
                <a:cubicBezTo>
                  <a:pt x="908462" y="586915"/>
                  <a:pt x="962806" y="594028"/>
                  <a:pt x="1035266" y="558458"/>
                </a:cubicBezTo>
                <a:cubicBezTo>
                  <a:pt x="968844" y="537116"/>
                  <a:pt x="917520" y="519330"/>
                  <a:pt x="866193" y="505101"/>
                </a:cubicBezTo>
                <a:cubicBezTo>
                  <a:pt x="823926" y="494431"/>
                  <a:pt x="799772" y="469532"/>
                  <a:pt x="802792" y="416176"/>
                </a:cubicBezTo>
                <a:cubicBezTo>
                  <a:pt x="802792" y="387720"/>
                  <a:pt x="793735" y="348592"/>
                  <a:pt x="823926" y="334364"/>
                </a:cubicBezTo>
                <a:cubicBezTo>
                  <a:pt x="848079" y="320135"/>
                  <a:pt x="881290" y="334364"/>
                  <a:pt x="893366" y="359262"/>
                </a:cubicBezTo>
                <a:cubicBezTo>
                  <a:pt x="908462" y="405504"/>
                  <a:pt x="923557" y="448189"/>
                  <a:pt x="974883" y="451747"/>
                </a:cubicBezTo>
                <a:cubicBezTo>
                  <a:pt x="1044324" y="458860"/>
                  <a:pt x="1005074" y="430405"/>
                  <a:pt x="992998" y="394834"/>
                </a:cubicBezTo>
                <a:cubicBezTo>
                  <a:pt x="980921" y="355706"/>
                  <a:pt x="1017152" y="345034"/>
                  <a:pt x="1041304" y="352148"/>
                </a:cubicBezTo>
                <a:cubicBezTo>
                  <a:pt x="1131878" y="384162"/>
                  <a:pt x="1225472" y="327250"/>
                  <a:pt x="1319065" y="373491"/>
                </a:cubicBezTo>
                <a:cubicBezTo>
                  <a:pt x="1294912" y="259665"/>
                  <a:pt x="1243586" y="209867"/>
                  <a:pt x="1134897" y="192082"/>
                </a:cubicBezTo>
                <a:cubicBezTo>
                  <a:pt x="1095648" y="188525"/>
                  <a:pt x="1053380" y="195638"/>
                  <a:pt x="1017152" y="163625"/>
                </a:cubicBezTo>
                <a:cubicBezTo>
                  <a:pt x="996016" y="145839"/>
                  <a:pt x="974883" y="124497"/>
                  <a:pt x="989979" y="88927"/>
                </a:cubicBezTo>
                <a:cubicBezTo>
                  <a:pt x="999036" y="64027"/>
                  <a:pt x="1023188" y="64027"/>
                  <a:pt x="1044324" y="71141"/>
                </a:cubicBezTo>
                <a:cubicBezTo>
                  <a:pt x="1131878" y="110269"/>
                  <a:pt x="1225472" y="120941"/>
                  <a:pt x="1316045" y="135168"/>
                </a:cubicBezTo>
                <a:cubicBezTo>
                  <a:pt x="1331142" y="138725"/>
                  <a:pt x="1346237" y="145839"/>
                  <a:pt x="1361334" y="110269"/>
                </a:cubicBezTo>
                <a:cubicBezTo>
                  <a:pt x="1255664" y="78255"/>
                  <a:pt x="1153012" y="35571"/>
                  <a:pt x="1047342" y="0"/>
                </a:cubicBezTo>
                <a:close/>
              </a:path>
            </a:pathLst>
          </a:cu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A52B56B-F884-70CF-B09A-3844631CD320}"/>
              </a:ext>
            </a:extLst>
          </p:cNvPr>
          <p:cNvSpPr txBox="1"/>
          <p:nvPr/>
        </p:nvSpPr>
        <p:spPr>
          <a:xfrm>
            <a:off x="329184" y="3079180"/>
            <a:ext cx="11274552" cy="2960875"/>
          </a:xfrm>
          <a:prstGeom prst="rect">
            <a:avLst/>
          </a:prstGeom>
          <a:noFill/>
        </p:spPr>
        <p:txBody>
          <a:bodyPr wrap="square" rtlCol="0">
            <a:spAutoFit/>
          </a:bodyPr>
          <a:lstStyle/>
          <a:p>
            <a:pPr>
              <a:lnSpc>
                <a:spcPct val="150000"/>
              </a:lnSpc>
            </a:pPr>
            <a:r>
              <a:rPr lang="en-NZ" b="1"/>
              <a:t>dimProducts</a:t>
            </a:r>
            <a:r>
              <a:rPr lang="en-NZ"/>
              <a:t>(</a:t>
            </a:r>
            <a:r>
              <a:rPr lang="en-NZ" u="sng"/>
              <a:t>productKey, </a:t>
            </a:r>
            <a:r>
              <a:rPr lang="en-NZ" err="1"/>
              <a:t>productCode</a:t>
            </a:r>
            <a:r>
              <a:rPr lang="en-NZ"/>
              <a:t>, </a:t>
            </a:r>
            <a:r>
              <a:rPr lang="en-NZ" err="1"/>
              <a:t>productName</a:t>
            </a:r>
            <a:r>
              <a:rPr lang="en-NZ"/>
              <a:t>, </a:t>
            </a:r>
            <a:r>
              <a:rPr lang="en-NZ" err="1"/>
              <a:t>productLine</a:t>
            </a:r>
            <a:r>
              <a:rPr lang="en-NZ"/>
              <a:t>, </a:t>
            </a:r>
            <a:r>
              <a:rPr lang="en-NZ" err="1"/>
              <a:t>quantityInStock,buyPrice,MSRP</a:t>
            </a:r>
            <a:r>
              <a:rPr lang="en-NZ"/>
              <a:t>) </a:t>
            </a:r>
            <a:r>
              <a:rPr lang="en-NZ" b="1" err="1"/>
              <a:t>dimCustomers</a:t>
            </a:r>
            <a:r>
              <a:rPr lang="en-NZ"/>
              <a:t>( </a:t>
            </a:r>
            <a:r>
              <a:rPr lang="en-NZ" u="sng"/>
              <a:t>customerKey,</a:t>
            </a:r>
            <a:r>
              <a:rPr lang="en-NZ"/>
              <a:t> </a:t>
            </a:r>
            <a:r>
              <a:rPr lang="en-NZ" err="1"/>
              <a:t>customerNumber</a:t>
            </a:r>
            <a:r>
              <a:rPr lang="en-NZ"/>
              <a:t>, </a:t>
            </a:r>
            <a:r>
              <a:rPr lang="en-NZ" err="1"/>
              <a:t>saleRepEmployeeNumber</a:t>
            </a:r>
            <a:r>
              <a:rPr lang="en-NZ"/>
              <a:t>, </a:t>
            </a:r>
            <a:r>
              <a:rPr lang="en-NZ" err="1"/>
              <a:t>customerName,city</a:t>
            </a:r>
            <a:r>
              <a:rPr lang="en-NZ"/>
              <a:t>, country)</a:t>
            </a:r>
          </a:p>
          <a:p>
            <a:pPr>
              <a:lnSpc>
                <a:spcPct val="150000"/>
              </a:lnSpc>
            </a:pPr>
            <a:r>
              <a:rPr lang="en-NZ" b="1" err="1"/>
              <a:t>dimEmployees</a:t>
            </a:r>
            <a:r>
              <a:rPr lang="en-NZ"/>
              <a:t>(</a:t>
            </a:r>
            <a:r>
              <a:rPr lang="en-NZ" u="sng"/>
              <a:t>employeeKey</a:t>
            </a:r>
            <a:r>
              <a:rPr lang="en-NZ"/>
              <a:t>, </a:t>
            </a:r>
            <a:r>
              <a:rPr lang="en-NZ" err="1"/>
              <a:t>employeeNumber</a:t>
            </a:r>
            <a:r>
              <a:rPr lang="en-NZ"/>
              <a:t>, </a:t>
            </a:r>
            <a:r>
              <a:rPr lang="en-NZ" err="1"/>
              <a:t>lastName</a:t>
            </a:r>
            <a:r>
              <a:rPr lang="en-NZ"/>
              <a:t>, </a:t>
            </a:r>
            <a:r>
              <a:rPr lang="en-NZ" err="1"/>
              <a:t>firstName</a:t>
            </a:r>
            <a:r>
              <a:rPr lang="en-NZ"/>
              <a:t>, city, country)</a:t>
            </a:r>
          </a:p>
          <a:p>
            <a:pPr>
              <a:lnSpc>
                <a:spcPct val="150000"/>
              </a:lnSpc>
            </a:pPr>
            <a:r>
              <a:rPr lang="en-NZ" b="1" err="1"/>
              <a:t>dimPayments</a:t>
            </a:r>
            <a:r>
              <a:rPr lang="en-NZ"/>
              <a:t>(</a:t>
            </a:r>
            <a:r>
              <a:rPr lang="en-NZ" u="sng"/>
              <a:t>paymentKey</a:t>
            </a:r>
            <a:r>
              <a:rPr lang="en-NZ"/>
              <a:t>, </a:t>
            </a:r>
            <a:r>
              <a:rPr lang="en-NZ" err="1"/>
              <a:t>customerNumber</a:t>
            </a:r>
            <a:r>
              <a:rPr lang="en-NZ"/>
              <a:t>, </a:t>
            </a:r>
            <a:r>
              <a:rPr lang="en-NZ" err="1"/>
              <a:t>checkNumber</a:t>
            </a:r>
            <a:r>
              <a:rPr lang="en-NZ"/>
              <a:t>, </a:t>
            </a:r>
            <a:r>
              <a:rPr lang="en-NZ" err="1"/>
              <a:t>paymentDate</a:t>
            </a:r>
            <a:r>
              <a:rPr lang="en-NZ"/>
              <a:t>, amount)</a:t>
            </a:r>
          </a:p>
          <a:p>
            <a:pPr>
              <a:lnSpc>
                <a:spcPct val="150000"/>
              </a:lnSpc>
            </a:pPr>
            <a:r>
              <a:rPr lang="en-NZ" b="1" err="1"/>
              <a:t>factOrder</a:t>
            </a:r>
            <a:r>
              <a:rPr lang="en-NZ"/>
              <a:t>(</a:t>
            </a:r>
            <a:r>
              <a:rPr lang="en-NZ" u="sng"/>
              <a:t>productKey, CustomerKey, EmployeeKey, OrderDateKey, </a:t>
            </a:r>
            <a:r>
              <a:rPr lang="en-NZ" err="1"/>
              <a:t>RequiredDateKey</a:t>
            </a:r>
            <a:r>
              <a:rPr lang="en-NZ"/>
              <a:t>*, ShippedDateKey*, status, 	</a:t>
            </a:r>
            <a:r>
              <a:rPr lang="en-NZ" err="1"/>
              <a:t>orderNumber</a:t>
            </a:r>
            <a:r>
              <a:rPr lang="en-NZ"/>
              <a:t>, </a:t>
            </a:r>
            <a:r>
              <a:rPr lang="en-NZ" err="1"/>
              <a:t>quantityInOrdered</a:t>
            </a:r>
            <a:r>
              <a:rPr lang="en-NZ"/>
              <a:t>, </a:t>
            </a:r>
            <a:r>
              <a:rPr lang="en-NZ" err="1"/>
              <a:t>priceEach</a:t>
            </a:r>
            <a:r>
              <a:rPr lang="en-NZ"/>
              <a:t>, </a:t>
            </a:r>
            <a:r>
              <a:rPr lang="en-NZ" err="1"/>
              <a:t>TotalPrice</a:t>
            </a:r>
            <a:r>
              <a:rPr lang="en-NZ"/>
              <a:t>, </a:t>
            </a:r>
            <a:r>
              <a:rPr lang="en-NZ" err="1"/>
              <a:t>TotalProfit</a:t>
            </a:r>
            <a:r>
              <a:rPr lang="en-NZ"/>
              <a:t>, </a:t>
            </a:r>
            <a:r>
              <a:rPr lang="en-NZ" err="1"/>
              <a:t>TotalPossibleProfit</a:t>
            </a:r>
            <a:r>
              <a:rPr lang="en-NZ"/>
              <a:t>) </a:t>
            </a:r>
          </a:p>
          <a:p>
            <a:pPr>
              <a:lnSpc>
                <a:spcPct val="150000"/>
              </a:lnSpc>
            </a:pPr>
            <a:r>
              <a:rPr lang="en-NZ" b="1" err="1"/>
              <a:t>dimTime</a:t>
            </a:r>
            <a:r>
              <a:rPr lang="en-NZ"/>
              <a:t>(</a:t>
            </a:r>
            <a:r>
              <a:rPr lang="en-NZ" u="sng" err="1"/>
              <a:t>timeKey</a:t>
            </a:r>
            <a:r>
              <a:rPr lang="en-NZ" u="sng"/>
              <a:t>, Date, Day, </a:t>
            </a:r>
            <a:r>
              <a:rPr lang="en-NZ" u="sng" err="1"/>
              <a:t>DayOfWeek</a:t>
            </a:r>
            <a:r>
              <a:rPr lang="en-NZ" u="sng"/>
              <a:t>, </a:t>
            </a:r>
            <a:r>
              <a:rPr lang="en-NZ" u="sng" err="1"/>
              <a:t>DayOfMonth</a:t>
            </a:r>
            <a:r>
              <a:rPr lang="en-NZ" u="sng"/>
              <a:t>, </a:t>
            </a:r>
            <a:r>
              <a:rPr lang="en-NZ" u="sng" err="1"/>
              <a:t>WeekOfYear</a:t>
            </a:r>
            <a:r>
              <a:rPr lang="en-NZ" u="sng"/>
              <a:t>, Month, </a:t>
            </a:r>
            <a:r>
              <a:rPr lang="en-NZ" u="sng" err="1"/>
              <a:t>MonthOfYear</a:t>
            </a:r>
            <a:r>
              <a:rPr lang="en-NZ" u="sng"/>
              <a:t>, </a:t>
            </a:r>
            <a:r>
              <a:rPr lang="en-NZ" u="sng" err="1"/>
              <a:t>QuaterOfYear</a:t>
            </a:r>
            <a:r>
              <a:rPr lang="en-NZ" u="sng"/>
              <a:t>, Year</a:t>
            </a:r>
            <a:r>
              <a:rPr lang="en-NZ"/>
              <a:t>)</a:t>
            </a:r>
          </a:p>
        </p:txBody>
      </p:sp>
      <p:sp>
        <p:nvSpPr>
          <p:cNvPr id="6" name="TextBox 5">
            <a:extLst>
              <a:ext uri="{FF2B5EF4-FFF2-40B4-BE49-F238E27FC236}">
                <a16:creationId xmlns:a16="http://schemas.microsoft.com/office/drawing/2014/main" id="{30AA15BF-D8D4-8E3B-CB9B-FB4BE7E2A143}"/>
              </a:ext>
            </a:extLst>
          </p:cNvPr>
          <p:cNvSpPr txBox="1"/>
          <p:nvPr/>
        </p:nvSpPr>
        <p:spPr>
          <a:xfrm>
            <a:off x="329184" y="2432849"/>
            <a:ext cx="3675888" cy="646331"/>
          </a:xfrm>
          <a:prstGeom prst="rect">
            <a:avLst/>
          </a:prstGeom>
          <a:noFill/>
        </p:spPr>
        <p:txBody>
          <a:bodyPr wrap="square" rtlCol="0">
            <a:spAutoFit/>
          </a:bodyPr>
          <a:lstStyle/>
          <a:p>
            <a:r>
              <a:rPr lang="en-NZ" sz="3600" b="1" err="1"/>
              <a:t>DataSet</a:t>
            </a:r>
            <a:r>
              <a:rPr lang="en-NZ" sz="3600" b="1"/>
              <a:t> of OLAP</a:t>
            </a:r>
          </a:p>
        </p:txBody>
      </p:sp>
    </p:spTree>
    <p:extLst>
      <p:ext uri="{BB962C8B-B14F-4D97-AF65-F5344CB8AC3E}">
        <p14:creationId xmlns:p14="http://schemas.microsoft.com/office/powerpoint/2010/main" val="4076572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SQL Tutorial - GeeksforGeeks">
            <a:extLst>
              <a:ext uri="{FF2B5EF4-FFF2-40B4-BE49-F238E27FC236}">
                <a16:creationId xmlns:a16="http://schemas.microsoft.com/office/drawing/2014/main" id="{3AC887C0-B20C-1D12-4D3E-DD93A11FBD55}"/>
              </a:ext>
            </a:extLst>
          </p:cNvPr>
          <p:cNvPicPr>
            <a:picLocks noChangeAspect="1" noChangeArrowheads="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0" y="0"/>
            <a:ext cx="12228129" cy="46669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A474F4E-5C97-9962-33D4-92294FB64629}"/>
              </a:ext>
            </a:extLst>
          </p:cNvPr>
          <p:cNvSpPr txBox="1"/>
          <p:nvPr/>
        </p:nvSpPr>
        <p:spPr>
          <a:xfrm>
            <a:off x="301658" y="320511"/>
            <a:ext cx="3723587" cy="646331"/>
          </a:xfrm>
          <a:prstGeom prst="rect">
            <a:avLst/>
          </a:prstGeom>
          <a:noFill/>
        </p:spPr>
        <p:txBody>
          <a:bodyPr wrap="square" rtlCol="0">
            <a:spAutoFit/>
          </a:bodyPr>
          <a:lstStyle/>
          <a:p>
            <a:r>
              <a:rPr lang="en-NZ" sz="3600" b="1"/>
              <a:t>Data Extraction</a:t>
            </a:r>
          </a:p>
        </p:txBody>
      </p:sp>
      <p:sp>
        <p:nvSpPr>
          <p:cNvPr id="7" name="TextBox 6">
            <a:extLst>
              <a:ext uri="{FF2B5EF4-FFF2-40B4-BE49-F238E27FC236}">
                <a16:creationId xmlns:a16="http://schemas.microsoft.com/office/drawing/2014/main" id="{81F54EE9-1616-2075-7DBF-6A2ED67360D5}"/>
              </a:ext>
            </a:extLst>
          </p:cNvPr>
          <p:cNvSpPr txBox="1"/>
          <p:nvPr/>
        </p:nvSpPr>
        <p:spPr>
          <a:xfrm>
            <a:off x="669303" y="1178351"/>
            <a:ext cx="9219415" cy="2308324"/>
          </a:xfrm>
          <a:prstGeom prst="rect">
            <a:avLst/>
          </a:prstGeom>
          <a:noFill/>
        </p:spPr>
        <p:txBody>
          <a:bodyPr wrap="square" rtlCol="0">
            <a:spAutoFit/>
          </a:bodyPr>
          <a:lstStyle/>
          <a:p>
            <a:r>
              <a:rPr lang="en-NZ" sz="2400" b="1"/>
              <a:t>Identify Relevant Tables</a:t>
            </a:r>
          </a:p>
          <a:p>
            <a:pPr marL="285750" indent="-285750">
              <a:buFont typeface="Arial" panose="020B0604020202020204" pitchFamily="34" charset="0"/>
              <a:buChar char="•"/>
            </a:pPr>
            <a:r>
              <a:rPr lang="en-NZ" sz="2400"/>
              <a:t>Customer</a:t>
            </a:r>
          </a:p>
          <a:p>
            <a:pPr marL="285750" indent="-285750">
              <a:buFont typeface="Arial" panose="020B0604020202020204" pitchFamily="34" charset="0"/>
              <a:buChar char="•"/>
            </a:pPr>
            <a:r>
              <a:rPr lang="en-NZ" sz="2400"/>
              <a:t>Product(+ProductLine)</a:t>
            </a:r>
          </a:p>
          <a:p>
            <a:pPr marL="285750" indent="-285750">
              <a:buFont typeface="Arial" panose="020B0604020202020204" pitchFamily="34" charset="0"/>
              <a:buChar char="•"/>
            </a:pPr>
            <a:r>
              <a:rPr lang="en-NZ" sz="2400"/>
              <a:t>Employee(+Office)</a:t>
            </a:r>
          </a:p>
          <a:p>
            <a:pPr marL="285750" indent="-285750">
              <a:buFont typeface="Arial" panose="020B0604020202020204" pitchFamily="34" charset="0"/>
              <a:buChar char="•"/>
            </a:pPr>
            <a:r>
              <a:rPr lang="en-NZ" sz="2400"/>
              <a:t>productOrder + orderDetail = </a:t>
            </a:r>
            <a:r>
              <a:rPr lang="en-NZ" sz="2400" err="1"/>
              <a:t>factOrders</a:t>
            </a:r>
            <a:endParaRPr lang="en-NZ" sz="2400"/>
          </a:p>
          <a:p>
            <a:pPr marL="285750" indent="-285750">
              <a:buFont typeface="Arial" panose="020B0604020202020204" pitchFamily="34" charset="0"/>
              <a:buChar char="•"/>
            </a:pPr>
            <a:endParaRPr lang="en-NZ" sz="2400"/>
          </a:p>
        </p:txBody>
      </p:sp>
      <p:sp>
        <p:nvSpPr>
          <p:cNvPr id="8" name="TextBox 7">
            <a:extLst>
              <a:ext uri="{FF2B5EF4-FFF2-40B4-BE49-F238E27FC236}">
                <a16:creationId xmlns:a16="http://schemas.microsoft.com/office/drawing/2014/main" id="{CEF78B9E-A10E-E11F-1B28-35CF6FF84093}"/>
              </a:ext>
            </a:extLst>
          </p:cNvPr>
          <p:cNvSpPr txBox="1"/>
          <p:nvPr/>
        </p:nvSpPr>
        <p:spPr>
          <a:xfrm>
            <a:off x="669303" y="3056122"/>
            <a:ext cx="9219415" cy="3785652"/>
          </a:xfrm>
          <a:prstGeom prst="rect">
            <a:avLst/>
          </a:prstGeom>
          <a:noFill/>
        </p:spPr>
        <p:txBody>
          <a:bodyPr wrap="square" rtlCol="0">
            <a:spAutoFit/>
          </a:bodyPr>
          <a:lstStyle/>
          <a:p>
            <a:r>
              <a:rPr lang="en-NZ" sz="2400" b="1"/>
              <a:t>Extract Data</a:t>
            </a:r>
          </a:p>
          <a:p>
            <a:pPr marL="342900" indent="-342900">
              <a:buFont typeface="Arial" panose="020B0604020202020204" pitchFamily="34" charset="0"/>
              <a:buChar char="•"/>
            </a:pPr>
            <a:r>
              <a:rPr lang="en-NZ" sz="2400"/>
              <a:t>SELECT*FROM tables</a:t>
            </a:r>
          </a:p>
          <a:p>
            <a:r>
              <a:rPr lang="en-NZ" sz="2400" b="1"/>
              <a:t>Join Tables </a:t>
            </a:r>
          </a:p>
          <a:p>
            <a:pPr marL="342900" indent="-342900">
              <a:buFont typeface="Arial" panose="020B0604020202020204" pitchFamily="34" charset="0"/>
              <a:buChar char="•"/>
            </a:pPr>
            <a:r>
              <a:rPr lang="en-NZ" sz="2400"/>
              <a:t>SELECT*FROM tables a</a:t>
            </a:r>
          </a:p>
          <a:p>
            <a:pPr marL="342900" indent="-342900">
              <a:buFont typeface="Arial" panose="020B0604020202020204" pitchFamily="34" charset="0"/>
              <a:buChar char="•"/>
            </a:pPr>
            <a:r>
              <a:rPr lang="en-NZ" sz="2400"/>
              <a:t>INNER JOIN tables b ON b.pk = a.fk</a:t>
            </a:r>
          </a:p>
          <a:p>
            <a:r>
              <a:rPr lang="en-NZ" sz="2400" b="1"/>
              <a:t>Aggregate Data</a:t>
            </a:r>
          </a:p>
          <a:p>
            <a:pPr marL="342900" indent="-342900">
              <a:buFont typeface="Arial" panose="020B0604020202020204" pitchFamily="34" charset="0"/>
              <a:buChar char="•"/>
            </a:pPr>
            <a:r>
              <a:rPr lang="en-NZ" sz="2400"/>
              <a:t>SELECT (price-</a:t>
            </a:r>
            <a:r>
              <a:rPr lang="en-NZ" sz="2400" err="1"/>
              <a:t>buyprice</a:t>
            </a:r>
            <a:r>
              <a:rPr lang="en-NZ" sz="2400"/>
              <a:t>) as [profitability]</a:t>
            </a:r>
          </a:p>
          <a:p>
            <a:pPr marL="342900" indent="-342900">
              <a:buFont typeface="Arial" panose="020B0604020202020204" pitchFamily="34" charset="0"/>
              <a:buChar char="•"/>
            </a:pPr>
            <a:r>
              <a:rPr lang="en-NZ" sz="2400"/>
              <a:t>FROM </a:t>
            </a:r>
            <a:r>
              <a:rPr lang="en-NZ" sz="2400" err="1"/>
              <a:t>saleAU_NZ.dbo.Customer</a:t>
            </a:r>
            <a:r>
              <a:rPr lang="en-NZ" sz="2400"/>
              <a:t> C</a:t>
            </a:r>
          </a:p>
          <a:p>
            <a:pPr marL="342900" indent="-342900">
              <a:buFont typeface="Arial" panose="020B0604020202020204" pitchFamily="34" charset="0"/>
              <a:buChar char="•"/>
            </a:pPr>
            <a:r>
              <a:rPr lang="en-NZ" sz="2400"/>
              <a:t>INNER JOIN ……</a:t>
            </a:r>
          </a:p>
          <a:p>
            <a:r>
              <a:rPr lang="en-NZ" sz="2400"/>
              <a:t> </a:t>
            </a:r>
          </a:p>
        </p:txBody>
      </p:sp>
    </p:spTree>
    <p:extLst>
      <p:ext uri="{BB962C8B-B14F-4D97-AF65-F5344CB8AC3E}">
        <p14:creationId xmlns:p14="http://schemas.microsoft.com/office/powerpoint/2010/main" val="271194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anim calcmode="lin" valueType="num">
                                      <p:cBhvr additive="base">
                                        <p:cTn id="11"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 calcmode="lin" valueType="num">
                                      <p:cBhvr additive="base">
                                        <p:cTn id="1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 calcmode="lin" valueType="num">
                                      <p:cBhvr additive="base">
                                        <p:cTn id="19"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anim calcmode="lin" valueType="num">
                                      <p:cBhvr additive="base">
                                        <p:cTn id="25"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anim calcmode="lin" valueType="num">
                                      <p:cBhvr additive="base">
                                        <p:cTn id="3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3" end="3"/>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anim calcmode="lin" valueType="num">
                                      <p:cBhvr additive="base">
                                        <p:cTn id="3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8">
                                            <p:txEl>
                                              <p:pRg st="6" end="6"/>
                                            </p:txEl>
                                          </p:spTgt>
                                        </p:tgtEl>
                                        <p:attrNameLst>
                                          <p:attrName>style.visibility</p:attrName>
                                        </p:attrNameLst>
                                      </p:cBhvr>
                                      <p:to>
                                        <p:strVal val="visible"/>
                                      </p:to>
                                    </p:set>
                                    <p:anim calcmode="lin" valueType="num">
                                      <p:cBhvr additive="base">
                                        <p:cTn id="41"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8">
                                            <p:txEl>
                                              <p:pRg st="7" end="7"/>
                                            </p:txEl>
                                          </p:spTgt>
                                        </p:tgtEl>
                                        <p:attrNameLst>
                                          <p:attrName>style.visibility</p:attrName>
                                        </p:attrNameLst>
                                      </p:cBhvr>
                                      <p:to>
                                        <p:strVal val="visible"/>
                                      </p:to>
                                    </p:set>
                                    <p:anim calcmode="lin" valueType="num">
                                      <p:cBhvr additive="base">
                                        <p:cTn id="45"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8">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8">
                                            <p:txEl>
                                              <p:pRg st="8" end="8"/>
                                            </p:txEl>
                                          </p:spTgt>
                                        </p:tgtEl>
                                        <p:attrNameLst>
                                          <p:attrName>style.visibility</p:attrName>
                                        </p:attrNameLst>
                                      </p:cBhvr>
                                      <p:to>
                                        <p:strVal val="visible"/>
                                      </p:to>
                                    </p:set>
                                    <p:anim calcmode="lin" valueType="num">
                                      <p:cBhvr additive="base">
                                        <p:cTn id="49"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SQL Tutorial - GeeksforGeeks">
            <a:extLst>
              <a:ext uri="{FF2B5EF4-FFF2-40B4-BE49-F238E27FC236}">
                <a16:creationId xmlns:a16="http://schemas.microsoft.com/office/drawing/2014/main" id="{8148216C-AFB6-7DCD-DFCF-97AEAC084080}"/>
              </a:ext>
            </a:extLst>
          </p:cNvPr>
          <p:cNvPicPr>
            <a:picLocks noChangeAspect="1"/>
          </p:cNvPicPr>
          <p:nvPr/>
        </p:nvPicPr>
        <p:blipFill rotWithShape="1">
          <a:blip r:embed="rId3">
            <a:alphaModFix amt="44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5586" r="10856" b="-3"/>
          <a:stretch/>
        </p:blipFill>
        <p:spPr bwMode="auto">
          <a:xfrm>
            <a:off x="23" y="-4564"/>
            <a:ext cx="12191977" cy="6858022"/>
          </a:xfrm>
          <a:prstGeom prst="rect">
            <a:avLst/>
          </a:prstGeom>
          <a:noFill/>
          <a:extLst>
            <a:ext uri="{909E8E84-426E-40DD-AFC4-6F175D3DCCD1}">
              <a14:hiddenFill xmlns:a14="http://schemas.microsoft.com/office/drawing/2010/main">
                <a:solidFill>
                  <a:srgbClr val="FFFFFF"/>
                </a:solidFill>
              </a14:hiddenFill>
            </a:ext>
          </a:extLst>
        </p:spPr>
      </p:pic>
      <p:sp>
        <p:nvSpPr>
          <p:cNvPr id="23" name="Freeform: Shape 22">
            <a:extLst>
              <a:ext uri="{FF2B5EF4-FFF2-40B4-BE49-F238E27FC236}">
                <a16:creationId xmlns:a16="http://schemas.microsoft.com/office/drawing/2014/main" id="{22C6C9C9-83BF-4A6C-A1BF-C1735C61B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6524" y="1"/>
            <a:ext cx="7295477" cy="6853457"/>
          </a:xfrm>
          <a:custGeom>
            <a:avLst/>
            <a:gdLst>
              <a:gd name="connsiteX0" fmla="*/ 2113864 w 7295477"/>
              <a:gd name="connsiteY0" fmla="*/ 0 h 6853457"/>
              <a:gd name="connsiteX1" fmla="*/ 5731689 w 7295477"/>
              <a:gd name="connsiteY1" fmla="*/ 0 h 6853457"/>
              <a:gd name="connsiteX2" fmla="*/ 5792604 w 7295477"/>
              <a:gd name="connsiteY2" fmla="*/ 31199 h 6853457"/>
              <a:gd name="connsiteX3" fmla="*/ 7277638 w 7295477"/>
              <a:gd name="connsiteY3" fmla="*/ 1446415 h 6853457"/>
              <a:gd name="connsiteX4" fmla="*/ 7295477 w 7295477"/>
              <a:gd name="connsiteY4" fmla="*/ 1478103 h 6853457"/>
              <a:gd name="connsiteX5" fmla="*/ 7295477 w 7295477"/>
              <a:gd name="connsiteY5" fmla="*/ 5482224 h 6853457"/>
              <a:gd name="connsiteX6" fmla="*/ 7195301 w 7295477"/>
              <a:gd name="connsiteY6" fmla="*/ 5644337 h 6853457"/>
              <a:gd name="connsiteX7" fmla="*/ 5956878 w 7295477"/>
              <a:gd name="connsiteY7" fmla="*/ 6835380 h 6853457"/>
              <a:gd name="connsiteX8" fmla="*/ 5925438 w 7295477"/>
              <a:gd name="connsiteY8" fmla="*/ 6853457 h 6853457"/>
              <a:gd name="connsiteX9" fmla="*/ 1920114 w 7295477"/>
              <a:gd name="connsiteY9" fmla="*/ 6853457 h 6853457"/>
              <a:gd name="connsiteX10" fmla="*/ 1888674 w 7295477"/>
              <a:gd name="connsiteY10" fmla="*/ 6835380 h 6853457"/>
              <a:gd name="connsiteX11" fmla="*/ 0 w 7295477"/>
              <a:gd name="connsiteY11" fmla="*/ 3480517 h 6853457"/>
              <a:gd name="connsiteX12" fmla="*/ 2052949 w 7295477"/>
              <a:gd name="connsiteY12" fmla="*/ 31199 h 685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95477" h="6853457">
                <a:moveTo>
                  <a:pt x="2113864" y="0"/>
                </a:moveTo>
                <a:lnTo>
                  <a:pt x="5731689" y="0"/>
                </a:lnTo>
                <a:lnTo>
                  <a:pt x="5792604" y="31199"/>
                </a:lnTo>
                <a:cubicBezTo>
                  <a:pt x="6404018" y="363339"/>
                  <a:pt x="6917255" y="853303"/>
                  <a:pt x="7277638" y="1446415"/>
                </a:cubicBezTo>
                <a:lnTo>
                  <a:pt x="7295477" y="1478103"/>
                </a:lnTo>
                <a:lnTo>
                  <a:pt x="7295477" y="5482224"/>
                </a:lnTo>
                <a:lnTo>
                  <a:pt x="7195301" y="5644337"/>
                </a:lnTo>
                <a:cubicBezTo>
                  <a:pt x="6875688" y="6126745"/>
                  <a:pt x="6452261" y="6534378"/>
                  <a:pt x="5956878" y="6835380"/>
                </a:cubicBezTo>
                <a:lnTo>
                  <a:pt x="5925438" y="6853457"/>
                </a:lnTo>
                <a:lnTo>
                  <a:pt x="1920114" y="6853457"/>
                </a:lnTo>
                <a:lnTo>
                  <a:pt x="1888674" y="6835380"/>
                </a:lnTo>
                <a:cubicBezTo>
                  <a:pt x="756370" y="6147375"/>
                  <a:pt x="0" y="4902276"/>
                  <a:pt x="0" y="3480517"/>
                </a:cubicBezTo>
                <a:cubicBezTo>
                  <a:pt x="0" y="1991056"/>
                  <a:pt x="830121" y="695479"/>
                  <a:pt x="2052949" y="31199"/>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2D84E140-592D-72DA-E564-9BF575161FAE}"/>
              </a:ext>
            </a:extLst>
          </p:cNvPr>
          <p:cNvPicPr>
            <a:picLocks noChangeAspect="1"/>
          </p:cNvPicPr>
          <p:nvPr/>
        </p:nvPicPr>
        <p:blipFill>
          <a:blip r:embed="rId5"/>
          <a:stretch>
            <a:fillRect/>
          </a:stretch>
        </p:blipFill>
        <p:spPr>
          <a:xfrm>
            <a:off x="5879592" y="1082468"/>
            <a:ext cx="5960555" cy="4815590"/>
          </a:xfrm>
          <a:prstGeom prst="rect">
            <a:avLst/>
          </a:prstGeom>
          <a:effectLst>
            <a:softEdge rad="0"/>
          </a:effectLst>
        </p:spPr>
      </p:pic>
      <p:sp>
        <p:nvSpPr>
          <p:cNvPr id="2" name="TextBox 1">
            <a:extLst>
              <a:ext uri="{FF2B5EF4-FFF2-40B4-BE49-F238E27FC236}">
                <a16:creationId xmlns:a16="http://schemas.microsoft.com/office/drawing/2014/main" id="{079EA150-9322-8BCD-E460-FF81CE4D26B2}"/>
              </a:ext>
            </a:extLst>
          </p:cNvPr>
          <p:cNvSpPr txBox="1"/>
          <p:nvPr/>
        </p:nvSpPr>
        <p:spPr>
          <a:xfrm>
            <a:off x="643466" y="643467"/>
            <a:ext cx="5452529" cy="3569242"/>
          </a:xfrm>
          <a:prstGeom prst="rect">
            <a:avLst/>
          </a:prstGeom>
        </p:spPr>
        <p:txBody>
          <a:bodyPr vert="horz" lIns="91440" tIns="45720" rIns="91440" bIns="45720" rtlCol="0" anchor="t">
            <a:normAutofit/>
          </a:bodyPr>
          <a:lstStyle/>
          <a:p>
            <a:pPr>
              <a:lnSpc>
                <a:spcPct val="90000"/>
              </a:lnSpc>
              <a:spcBef>
                <a:spcPct val="0"/>
              </a:spcBef>
              <a:spcAft>
                <a:spcPts val="600"/>
              </a:spcAft>
            </a:pPr>
            <a:endParaRPr lang="en-US" sz="4800">
              <a:solidFill>
                <a:srgbClr val="FFFFFF"/>
              </a:solidFill>
              <a:latin typeface="+mj-lt"/>
              <a:ea typeface="+mj-ea"/>
              <a:cs typeface="+mj-cs"/>
            </a:endParaRPr>
          </a:p>
        </p:txBody>
      </p:sp>
      <p:sp>
        <p:nvSpPr>
          <p:cNvPr id="5" name="TextBox 4">
            <a:extLst>
              <a:ext uri="{FF2B5EF4-FFF2-40B4-BE49-F238E27FC236}">
                <a16:creationId xmlns:a16="http://schemas.microsoft.com/office/drawing/2014/main" id="{5B772005-22CF-A2AA-15A1-EF0CEC8DA5C3}"/>
              </a:ext>
            </a:extLst>
          </p:cNvPr>
          <p:cNvSpPr txBox="1"/>
          <p:nvPr/>
        </p:nvSpPr>
        <p:spPr>
          <a:xfrm>
            <a:off x="254011" y="150058"/>
            <a:ext cx="5625581" cy="6186309"/>
          </a:xfrm>
          <a:prstGeom prst="rect">
            <a:avLst/>
          </a:prstGeom>
          <a:noFill/>
        </p:spPr>
        <p:txBody>
          <a:bodyPr wrap="square" rtlCol="0">
            <a:spAutoFit/>
          </a:bodyPr>
          <a:lstStyle/>
          <a:p>
            <a:r>
              <a:rPr lang="en-NZ" b="1"/>
              <a:t>We have opted for a Star schema to record the data, primarily because the client's main focus is 5 Revenue Reporting, without additional descriptions.</a:t>
            </a:r>
          </a:p>
          <a:p>
            <a:endParaRPr lang="en-NZ"/>
          </a:p>
          <a:p>
            <a:r>
              <a:rPr lang="en-NZ"/>
              <a:t>In this schema, we have utilized 5 dimensions:</a:t>
            </a:r>
          </a:p>
          <a:p>
            <a:endParaRPr lang="en-NZ"/>
          </a:p>
          <a:p>
            <a:r>
              <a:rPr lang="en-NZ" b="1"/>
              <a:t>1. Product Table</a:t>
            </a:r>
            <a:r>
              <a:rPr lang="en-NZ"/>
              <a:t>: This dimension is essential </a:t>
            </a:r>
          </a:p>
          <a:p>
            <a:r>
              <a:rPr lang="en-NZ"/>
              <a:t>      for generating product revenue reports.</a:t>
            </a:r>
          </a:p>
          <a:p>
            <a:r>
              <a:rPr lang="en-NZ"/>
              <a:t>   </a:t>
            </a:r>
          </a:p>
          <a:p>
            <a:r>
              <a:rPr lang="en-NZ" b="1"/>
              <a:t>2. Customer Table</a:t>
            </a:r>
            <a:r>
              <a:rPr lang="en-NZ"/>
              <a:t>: This dimension is crucial </a:t>
            </a:r>
          </a:p>
          <a:p>
            <a:r>
              <a:rPr lang="en-NZ"/>
              <a:t>     for understanding customer revenue patterns.</a:t>
            </a:r>
          </a:p>
          <a:p>
            <a:endParaRPr lang="en-NZ"/>
          </a:p>
          <a:p>
            <a:r>
              <a:rPr lang="en-NZ" b="1"/>
              <a:t>3.</a:t>
            </a:r>
            <a:r>
              <a:rPr lang="en-NZ"/>
              <a:t> </a:t>
            </a:r>
            <a:r>
              <a:rPr lang="en-NZ" b="1"/>
              <a:t>Employee Table</a:t>
            </a:r>
            <a:r>
              <a:rPr lang="en-NZ"/>
              <a:t>: This dimension </a:t>
            </a:r>
            <a:r>
              <a:rPr lang="en-NZ">
                <a:highlight>
                  <a:srgbClr val="C0C0C0"/>
                </a:highlight>
              </a:rPr>
              <a:t>provides insights </a:t>
            </a:r>
            <a:r>
              <a:rPr lang="en-NZ"/>
              <a:t>into employee revenue contributions.</a:t>
            </a:r>
          </a:p>
          <a:p>
            <a:endParaRPr lang="en-NZ"/>
          </a:p>
          <a:p>
            <a:r>
              <a:rPr lang="en-NZ" b="1"/>
              <a:t>4.</a:t>
            </a:r>
            <a:r>
              <a:rPr lang="en-NZ"/>
              <a:t> </a:t>
            </a:r>
            <a:r>
              <a:rPr lang="en-NZ" b="1"/>
              <a:t>Payment Table</a:t>
            </a:r>
            <a:r>
              <a:rPr lang="en-NZ"/>
              <a:t>: We have separated the P</a:t>
            </a:r>
            <a:r>
              <a:rPr lang="en-NZ">
                <a:highlight>
                  <a:srgbClr val="C0C0C0"/>
                </a:highlight>
              </a:rPr>
              <a:t>ayment</a:t>
            </a:r>
            <a:r>
              <a:rPr lang="en-NZ"/>
              <a:t> Table from the Customer Table to prevent data redundancy and loss.</a:t>
            </a:r>
          </a:p>
          <a:p>
            <a:endParaRPr lang="en-NZ"/>
          </a:p>
          <a:p>
            <a:r>
              <a:rPr lang="en-NZ"/>
              <a:t>This schema design allows efficient and focused reporting on revenue-related metrics, aligning closely with the client's priorities.</a:t>
            </a:r>
          </a:p>
        </p:txBody>
      </p:sp>
    </p:spTree>
    <p:extLst>
      <p:ext uri="{BB962C8B-B14F-4D97-AF65-F5344CB8AC3E}">
        <p14:creationId xmlns:p14="http://schemas.microsoft.com/office/powerpoint/2010/main" val="1687385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13B4A9-1C7C-4729-A016-AB42D397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SQL Tutorial - GeeksforGeeks">
            <a:extLst>
              <a:ext uri="{FF2B5EF4-FFF2-40B4-BE49-F238E27FC236}">
                <a16:creationId xmlns:a16="http://schemas.microsoft.com/office/drawing/2014/main" id="{6D92DEC4-DCB8-7C49-9AD7-91CCB413F265}"/>
              </a:ext>
            </a:extLst>
          </p:cNvPr>
          <p:cNvPicPr>
            <a:picLocks noChangeAspect="1" noChangeArrowheads="1"/>
          </p:cNvPicPr>
          <p:nvPr/>
        </p:nvPicPr>
        <p:blipFill rotWithShape="1">
          <a:blip r:embed="rId3">
            <a:alphaModFix amt="50000"/>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l="6715" r="11984" b="-3"/>
          <a:stretch/>
        </p:blipFill>
        <p:spPr bwMode="auto">
          <a:xfrm>
            <a:off x="7146414" y="10"/>
            <a:ext cx="5045585" cy="2916926"/>
          </a:xfrm>
          <a:custGeom>
            <a:avLst/>
            <a:gdLst/>
            <a:ahLst/>
            <a:cxnLst/>
            <a:rect l="l" t="t" r="r" b="b"/>
            <a:pathLst>
              <a:path w="11862684" h="6858000">
                <a:moveTo>
                  <a:pt x="1047342" y="0"/>
                </a:moveTo>
                <a:lnTo>
                  <a:pt x="4590463" y="0"/>
                </a:lnTo>
                <a:lnTo>
                  <a:pt x="5499874" y="0"/>
                </a:lnTo>
                <a:lnTo>
                  <a:pt x="5723425" y="0"/>
                </a:lnTo>
                <a:lnTo>
                  <a:pt x="7580390" y="0"/>
                </a:lnTo>
                <a:lnTo>
                  <a:pt x="7747884" y="0"/>
                </a:lnTo>
                <a:lnTo>
                  <a:pt x="7824084" y="0"/>
                </a:lnTo>
                <a:lnTo>
                  <a:pt x="11862684" y="0"/>
                </a:lnTo>
                <a:lnTo>
                  <a:pt x="11862684" y="6858000"/>
                </a:lnTo>
                <a:lnTo>
                  <a:pt x="7824084" y="6858000"/>
                </a:lnTo>
                <a:lnTo>
                  <a:pt x="7747884" y="6858000"/>
                </a:lnTo>
                <a:lnTo>
                  <a:pt x="7580390" y="6858000"/>
                </a:lnTo>
                <a:lnTo>
                  <a:pt x="5723425" y="6858000"/>
                </a:lnTo>
                <a:lnTo>
                  <a:pt x="5499874" y="6858000"/>
                </a:lnTo>
                <a:lnTo>
                  <a:pt x="4590463" y="6858000"/>
                </a:lnTo>
                <a:lnTo>
                  <a:pt x="1654188" y="6858000"/>
                </a:lnTo>
                <a:cubicBezTo>
                  <a:pt x="1530404" y="6786859"/>
                  <a:pt x="1412658" y="6701489"/>
                  <a:pt x="1279816" y="6658805"/>
                </a:cubicBezTo>
                <a:cubicBezTo>
                  <a:pt x="1189242" y="6630349"/>
                  <a:pt x="1101686" y="6580550"/>
                  <a:pt x="1116783" y="6431153"/>
                </a:cubicBezTo>
                <a:cubicBezTo>
                  <a:pt x="1119802" y="6388469"/>
                  <a:pt x="1095648" y="6356456"/>
                  <a:pt x="1059419" y="6367127"/>
                </a:cubicBezTo>
                <a:cubicBezTo>
                  <a:pt x="989979" y="6388469"/>
                  <a:pt x="956768" y="6327999"/>
                  <a:pt x="917520" y="6281757"/>
                </a:cubicBezTo>
                <a:cubicBezTo>
                  <a:pt x="848079" y="6199945"/>
                  <a:pt x="781658" y="6114575"/>
                  <a:pt x="669950" y="6100347"/>
                </a:cubicBezTo>
                <a:cubicBezTo>
                  <a:pt x="691084" y="6036320"/>
                  <a:pt x="727312" y="6043434"/>
                  <a:pt x="760524" y="6057663"/>
                </a:cubicBezTo>
                <a:cubicBezTo>
                  <a:pt x="848079" y="6093234"/>
                  <a:pt x="935634" y="6132361"/>
                  <a:pt x="1023188" y="6167932"/>
                </a:cubicBezTo>
                <a:cubicBezTo>
                  <a:pt x="1080552" y="6189274"/>
                  <a:pt x="1137916" y="6221287"/>
                  <a:pt x="1213395" y="6196388"/>
                </a:cubicBezTo>
                <a:cubicBezTo>
                  <a:pt x="1146974" y="6068335"/>
                  <a:pt x="1035266" y="6043434"/>
                  <a:pt x="944692" y="6004307"/>
                </a:cubicBezTo>
                <a:cubicBezTo>
                  <a:pt x="832982" y="5954508"/>
                  <a:pt x="766562" y="5862025"/>
                  <a:pt x="685045" y="5755314"/>
                </a:cubicBezTo>
                <a:cubicBezTo>
                  <a:pt x="766562" y="5726858"/>
                  <a:pt x="817887" y="5805112"/>
                  <a:pt x="884310" y="5801555"/>
                </a:cubicBezTo>
                <a:cubicBezTo>
                  <a:pt x="887328" y="5790884"/>
                  <a:pt x="893366" y="5769542"/>
                  <a:pt x="893366" y="5769542"/>
                </a:cubicBezTo>
                <a:cubicBezTo>
                  <a:pt x="784676" y="5712629"/>
                  <a:pt x="736372" y="5605917"/>
                  <a:pt x="718256" y="5474306"/>
                </a:cubicBezTo>
                <a:cubicBezTo>
                  <a:pt x="712218" y="5406721"/>
                  <a:pt x="672970" y="5385379"/>
                  <a:pt x="633720" y="5353367"/>
                </a:cubicBezTo>
                <a:cubicBezTo>
                  <a:pt x="500878" y="5243097"/>
                  <a:pt x="358980" y="5143500"/>
                  <a:pt x="247270" y="4994104"/>
                </a:cubicBezTo>
                <a:cubicBezTo>
                  <a:pt x="377094" y="5011889"/>
                  <a:pt x="479744" y="5111487"/>
                  <a:pt x="615606" y="5154171"/>
                </a:cubicBezTo>
                <a:cubicBezTo>
                  <a:pt x="506917" y="4990547"/>
                  <a:pt x="365016" y="4905177"/>
                  <a:pt x="235194" y="4805580"/>
                </a:cubicBezTo>
                <a:cubicBezTo>
                  <a:pt x="174810" y="4759339"/>
                  <a:pt x="120468" y="4702425"/>
                  <a:pt x="51026" y="4677526"/>
                </a:cubicBezTo>
                <a:cubicBezTo>
                  <a:pt x="26873" y="4670412"/>
                  <a:pt x="-15396" y="4652628"/>
                  <a:pt x="5740" y="4602828"/>
                </a:cubicBezTo>
                <a:cubicBezTo>
                  <a:pt x="23854" y="4560144"/>
                  <a:pt x="57065" y="4574373"/>
                  <a:pt x="87257" y="4585042"/>
                </a:cubicBezTo>
                <a:cubicBezTo>
                  <a:pt x="159715" y="4613499"/>
                  <a:pt x="238213" y="4613499"/>
                  <a:pt x="337844" y="4613499"/>
                </a:cubicBezTo>
                <a:cubicBezTo>
                  <a:pt x="253310" y="4478331"/>
                  <a:pt x="99332" y="4521016"/>
                  <a:pt x="26873" y="4378734"/>
                </a:cubicBezTo>
                <a:cubicBezTo>
                  <a:pt x="117448" y="4353835"/>
                  <a:pt x="186888" y="4403633"/>
                  <a:pt x="259346" y="4414305"/>
                </a:cubicBezTo>
                <a:cubicBezTo>
                  <a:pt x="325769" y="4424975"/>
                  <a:pt x="340863" y="4400076"/>
                  <a:pt x="325769" y="4321821"/>
                </a:cubicBezTo>
                <a:cubicBezTo>
                  <a:pt x="301616" y="4200882"/>
                  <a:pt x="337844" y="4140411"/>
                  <a:pt x="434458" y="4172424"/>
                </a:cubicBezTo>
                <a:cubicBezTo>
                  <a:pt x="525031" y="4204438"/>
                  <a:pt x="534089" y="4158196"/>
                  <a:pt x="509936" y="4090612"/>
                </a:cubicBezTo>
                <a:cubicBezTo>
                  <a:pt x="473706" y="3991015"/>
                  <a:pt x="512954" y="3912759"/>
                  <a:pt x="540128" y="3827390"/>
                </a:cubicBezTo>
                <a:cubicBezTo>
                  <a:pt x="582395" y="3699337"/>
                  <a:pt x="564281" y="3635309"/>
                  <a:pt x="476725" y="3539269"/>
                </a:cubicBezTo>
                <a:cubicBezTo>
                  <a:pt x="425400" y="3485914"/>
                  <a:pt x="374074" y="3439672"/>
                  <a:pt x="301616" y="3393429"/>
                </a:cubicBezTo>
                <a:cubicBezTo>
                  <a:pt x="467668" y="3368530"/>
                  <a:pt x="295577" y="3283162"/>
                  <a:pt x="352940" y="3229805"/>
                </a:cubicBezTo>
                <a:cubicBezTo>
                  <a:pt x="470686" y="3208463"/>
                  <a:pt x="564281" y="3379202"/>
                  <a:pt x="724294" y="3329402"/>
                </a:cubicBezTo>
                <a:cubicBezTo>
                  <a:pt x="531070" y="3183563"/>
                  <a:pt x="313691" y="3137322"/>
                  <a:pt x="171792" y="2941684"/>
                </a:cubicBezTo>
                <a:cubicBezTo>
                  <a:pt x="205002" y="2899000"/>
                  <a:pt x="238213" y="2941684"/>
                  <a:pt x="265385" y="2923898"/>
                </a:cubicBezTo>
                <a:cubicBezTo>
                  <a:pt x="265385" y="2913227"/>
                  <a:pt x="582395" y="2980812"/>
                  <a:pt x="600510" y="2703362"/>
                </a:cubicBezTo>
                <a:cubicBezTo>
                  <a:pt x="606548" y="2703362"/>
                  <a:pt x="612587" y="2703362"/>
                  <a:pt x="618624" y="2692689"/>
                </a:cubicBezTo>
                <a:cubicBezTo>
                  <a:pt x="651834" y="2653563"/>
                  <a:pt x="621644" y="2561080"/>
                  <a:pt x="675988" y="2553965"/>
                </a:cubicBezTo>
                <a:cubicBezTo>
                  <a:pt x="736372" y="2546851"/>
                  <a:pt x="793735" y="2514837"/>
                  <a:pt x="857136" y="2532623"/>
                </a:cubicBezTo>
                <a:cubicBezTo>
                  <a:pt x="905443" y="2546851"/>
                  <a:pt x="956768" y="2564636"/>
                  <a:pt x="1008094" y="2564636"/>
                </a:cubicBezTo>
                <a:cubicBezTo>
                  <a:pt x="1062438" y="2564636"/>
                  <a:pt x="1137916" y="2685576"/>
                  <a:pt x="1171128" y="2525509"/>
                </a:cubicBezTo>
                <a:cubicBezTo>
                  <a:pt x="1171128" y="2518395"/>
                  <a:pt x="1264720" y="2536181"/>
                  <a:pt x="1316045" y="2543294"/>
                </a:cubicBezTo>
                <a:cubicBezTo>
                  <a:pt x="1358314" y="2550408"/>
                  <a:pt x="1409640" y="2582422"/>
                  <a:pt x="1439830" y="2518395"/>
                </a:cubicBezTo>
                <a:cubicBezTo>
                  <a:pt x="1454926" y="2479267"/>
                  <a:pt x="1382466" y="2408126"/>
                  <a:pt x="1319065" y="2401012"/>
                </a:cubicBezTo>
                <a:cubicBezTo>
                  <a:pt x="1261702" y="2393898"/>
                  <a:pt x="1204338" y="2386784"/>
                  <a:pt x="1149994" y="2401012"/>
                </a:cubicBezTo>
                <a:cubicBezTo>
                  <a:pt x="1083572" y="2418796"/>
                  <a:pt x="1047342" y="2390340"/>
                  <a:pt x="1029227" y="2326314"/>
                </a:cubicBezTo>
                <a:cubicBezTo>
                  <a:pt x="1008094" y="2258731"/>
                  <a:pt x="968844" y="2223159"/>
                  <a:pt x="914500" y="2191146"/>
                </a:cubicBezTo>
                <a:cubicBezTo>
                  <a:pt x="781658" y="2112891"/>
                  <a:pt x="654854" y="2020407"/>
                  <a:pt x="509936" y="1974165"/>
                </a:cubicBezTo>
                <a:cubicBezTo>
                  <a:pt x="482764" y="1967051"/>
                  <a:pt x="449553" y="1952823"/>
                  <a:pt x="437476" y="1892353"/>
                </a:cubicBezTo>
                <a:cubicBezTo>
                  <a:pt x="829964" y="1984836"/>
                  <a:pt x="1186222" y="2223159"/>
                  <a:pt x="1590788" y="2208931"/>
                </a:cubicBezTo>
                <a:cubicBezTo>
                  <a:pt x="1482098" y="2134233"/>
                  <a:pt x="1352276" y="2130676"/>
                  <a:pt x="1234528" y="2077320"/>
                </a:cubicBezTo>
                <a:cubicBezTo>
                  <a:pt x="1319065" y="2038192"/>
                  <a:pt x="1397562" y="2080877"/>
                  <a:pt x="1476060" y="2102219"/>
                </a:cubicBezTo>
                <a:cubicBezTo>
                  <a:pt x="1542482" y="2120004"/>
                  <a:pt x="1602864" y="2123562"/>
                  <a:pt x="1608902" y="2013292"/>
                </a:cubicBezTo>
                <a:cubicBezTo>
                  <a:pt x="1608902" y="2002622"/>
                  <a:pt x="1608902" y="1995507"/>
                  <a:pt x="1608902" y="1984836"/>
                </a:cubicBezTo>
                <a:cubicBezTo>
                  <a:pt x="1584749" y="1938595"/>
                  <a:pt x="1551538" y="1917252"/>
                  <a:pt x="1509271" y="1903025"/>
                </a:cubicBezTo>
                <a:cubicBezTo>
                  <a:pt x="1485118" y="1895910"/>
                  <a:pt x="1451907" y="1881683"/>
                  <a:pt x="1451907" y="1849668"/>
                </a:cubicBezTo>
                <a:cubicBezTo>
                  <a:pt x="1454926" y="1728729"/>
                  <a:pt x="1373409" y="1693158"/>
                  <a:pt x="1294912" y="1657587"/>
                </a:cubicBezTo>
                <a:cubicBezTo>
                  <a:pt x="1337180" y="1597117"/>
                  <a:pt x="1373409" y="1639802"/>
                  <a:pt x="1406620" y="1636245"/>
                </a:cubicBezTo>
                <a:cubicBezTo>
                  <a:pt x="1427754" y="1632688"/>
                  <a:pt x="1448887" y="1629132"/>
                  <a:pt x="1448887" y="1597117"/>
                </a:cubicBezTo>
                <a:cubicBezTo>
                  <a:pt x="1448887" y="1572219"/>
                  <a:pt x="1439830" y="1540204"/>
                  <a:pt x="1418696" y="1540204"/>
                </a:cubicBezTo>
                <a:cubicBezTo>
                  <a:pt x="1285854" y="1536647"/>
                  <a:pt x="1210375" y="1365909"/>
                  <a:pt x="1071494" y="1365909"/>
                </a:cubicBezTo>
                <a:cubicBezTo>
                  <a:pt x="986960" y="1365909"/>
                  <a:pt x="1113764" y="1269868"/>
                  <a:pt x="1044324" y="1230741"/>
                </a:cubicBezTo>
                <a:cubicBezTo>
                  <a:pt x="1029227" y="1220069"/>
                  <a:pt x="1086591" y="1205842"/>
                  <a:pt x="1110744" y="1209399"/>
                </a:cubicBezTo>
                <a:cubicBezTo>
                  <a:pt x="1134897" y="1212955"/>
                  <a:pt x="1156032" y="1237855"/>
                  <a:pt x="1186222" y="1220069"/>
                </a:cubicBezTo>
                <a:cubicBezTo>
                  <a:pt x="1201318" y="1156043"/>
                  <a:pt x="1162069" y="1131144"/>
                  <a:pt x="1125840" y="1113358"/>
                </a:cubicBezTo>
                <a:cubicBezTo>
                  <a:pt x="1047342" y="1070674"/>
                  <a:pt x="968844" y="1020875"/>
                  <a:pt x="881290" y="1006647"/>
                </a:cubicBezTo>
                <a:cubicBezTo>
                  <a:pt x="851099" y="1003089"/>
                  <a:pt x="832982" y="985305"/>
                  <a:pt x="836002" y="949734"/>
                </a:cubicBezTo>
                <a:cubicBezTo>
                  <a:pt x="842040" y="903491"/>
                  <a:pt x="872232" y="917720"/>
                  <a:pt x="896385" y="921277"/>
                </a:cubicBezTo>
                <a:cubicBezTo>
                  <a:pt x="911482" y="924835"/>
                  <a:pt x="926577" y="935506"/>
                  <a:pt x="941672" y="910606"/>
                </a:cubicBezTo>
                <a:cubicBezTo>
                  <a:pt x="588434" y="658055"/>
                  <a:pt x="401247" y="672284"/>
                  <a:pt x="5740" y="465975"/>
                </a:cubicBezTo>
                <a:cubicBezTo>
                  <a:pt x="93294" y="426847"/>
                  <a:pt x="156696" y="455303"/>
                  <a:pt x="217079" y="462417"/>
                </a:cubicBezTo>
                <a:cubicBezTo>
                  <a:pt x="368036" y="480203"/>
                  <a:pt x="274442" y="512216"/>
                  <a:pt x="425400" y="533558"/>
                </a:cubicBezTo>
                <a:cubicBezTo>
                  <a:pt x="497860" y="544229"/>
                  <a:pt x="564281" y="579800"/>
                  <a:pt x="645798" y="522887"/>
                </a:cubicBezTo>
                <a:cubicBezTo>
                  <a:pt x="700142" y="483759"/>
                  <a:pt x="787696" y="526444"/>
                  <a:pt x="854118" y="558458"/>
                </a:cubicBezTo>
                <a:cubicBezTo>
                  <a:pt x="908462" y="586915"/>
                  <a:pt x="962806" y="594028"/>
                  <a:pt x="1035266" y="558458"/>
                </a:cubicBezTo>
                <a:cubicBezTo>
                  <a:pt x="968844" y="537116"/>
                  <a:pt x="917520" y="519330"/>
                  <a:pt x="866193" y="505101"/>
                </a:cubicBezTo>
                <a:cubicBezTo>
                  <a:pt x="823926" y="494431"/>
                  <a:pt x="799772" y="469532"/>
                  <a:pt x="802792" y="416176"/>
                </a:cubicBezTo>
                <a:cubicBezTo>
                  <a:pt x="802792" y="387720"/>
                  <a:pt x="793735" y="348592"/>
                  <a:pt x="823926" y="334364"/>
                </a:cubicBezTo>
                <a:cubicBezTo>
                  <a:pt x="848079" y="320135"/>
                  <a:pt x="881290" y="334364"/>
                  <a:pt x="893366" y="359262"/>
                </a:cubicBezTo>
                <a:cubicBezTo>
                  <a:pt x="908462" y="405504"/>
                  <a:pt x="923557" y="448189"/>
                  <a:pt x="974883" y="451747"/>
                </a:cubicBezTo>
                <a:cubicBezTo>
                  <a:pt x="1044324" y="458860"/>
                  <a:pt x="1005074" y="430405"/>
                  <a:pt x="992998" y="394834"/>
                </a:cubicBezTo>
                <a:cubicBezTo>
                  <a:pt x="980921" y="355706"/>
                  <a:pt x="1017152" y="345034"/>
                  <a:pt x="1041304" y="352148"/>
                </a:cubicBezTo>
                <a:cubicBezTo>
                  <a:pt x="1131878" y="384162"/>
                  <a:pt x="1225472" y="327250"/>
                  <a:pt x="1319065" y="373491"/>
                </a:cubicBezTo>
                <a:cubicBezTo>
                  <a:pt x="1294912" y="259665"/>
                  <a:pt x="1243586" y="209867"/>
                  <a:pt x="1134897" y="192082"/>
                </a:cubicBezTo>
                <a:cubicBezTo>
                  <a:pt x="1095648" y="188525"/>
                  <a:pt x="1053380" y="195638"/>
                  <a:pt x="1017152" y="163625"/>
                </a:cubicBezTo>
                <a:cubicBezTo>
                  <a:pt x="996016" y="145839"/>
                  <a:pt x="974883" y="124497"/>
                  <a:pt x="989979" y="88927"/>
                </a:cubicBezTo>
                <a:cubicBezTo>
                  <a:pt x="999036" y="64027"/>
                  <a:pt x="1023188" y="64027"/>
                  <a:pt x="1044324" y="71141"/>
                </a:cubicBezTo>
                <a:cubicBezTo>
                  <a:pt x="1131878" y="110269"/>
                  <a:pt x="1225472" y="120941"/>
                  <a:pt x="1316045" y="135168"/>
                </a:cubicBezTo>
                <a:cubicBezTo>
                  <a:pt x="1331142" y="138725"/>
                  <a:pt x="1346237" y="145839"/>
                  <a:pt x="1361334" y="110269"/>
                </a:cubicBezTo>
                <a:cubicBezTo>
                  <a:pt x="1255664" y="78255"/>
                  <a:pt x="1153012" y="35571"/>
                  <a:pt x="1047342" y="0"/>
                </a:cubicBezTo>
                <a:close/>
              </a:path>
            </a:pathLst>
          </a:cu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5F861BA-A06D-0E18-7F0B-907C79B923E9}"/>
              </a:ext>
            </a:extLst>
          </p:cNvPr>
          <p:cNvSpPr txBox="1"/>
          <p:nvPr/>
        </p:nvSpPr>
        <p:spPr>
          <a:xfrm>
            <a:off x="301426" y="137160"/>
            <a:ext cx="7242374" cy="646331"/>
          </a:xfrm>
          <a:prstGeom prst="rect">
            <a:avLst/>
          </a:prstGeom>
          <a:noFill/>
        </p:spPr>
        <p:txBody>
          <a:bodyPr wrap="square" rtlCol="0">
            <a:spAutoFit/>
          </a:bodyPr>
          <a:lstStyle/>
          <a:p>
            <a:r>
              <a:rPr lang="en-NZ" sz="3600" b="1"/>
              <a:t>OLAP Schema Data Dictionary </a:t>
            </a:r>
          </a:p>
        </p:txBody>
      </p:sp>
      <p:pic>
        <p:nvPicPr>
          <p:cNvPr id="5" name="Picture 4">
            <a:extLst>
              <a:ext uri="{FF2B5EF4-FFF2-40B4-BE49-F238E27FC236}">
                <a16:creationId xmlns:a16="http://schemas.microsoft.com/office/drawing/2014/main" id="{C8DD36D6-B2D2-10E6-F1FB-8E2B65AF7709}"/>
              </a:ext>
            </a:extLst>
          </p:cNvPr>
          <p:cNvPicPr>
            <a:picLocks noChangeAspect="1"/>
          </p:cNvPicPr>
          <p:nvPr/>
        </p:nvPicPr>
        <p:blipFill rotWithShape="1">
          <a:blip r:embed="rId5"/>
          <a:srcRect t="13547"/>
          <a:stretch/>
        </p:blipFill>
        <p:spPr>
          <a:xfrm>
            <a:off x="6626909" y="777875"/>
            <a:ext cx="5384697" cy="5681053"/>
          </a:xfrm>
          <a:prstGeom prst="rect">
            <a:avLst/>
          </a:prstGeom>
        </p:spPr>
      </p:pic>
      <p:pic>
        <p:nvPicPr>
          <p:cNvPr id="6" name="Picture 5">
            <a:extLst>
              <a:ext uri="{FF2B5EF4-FFF2-40B4-BE49-F238E27FC236}">
                <a16:creationId xmlns:a16="http://schemas.microsoft.com/office/drawing/2014/main" id="{08B46BAD-FEAD-188D-C506-5235553FD87C}"/>
              </a:ext>
            </a:extLst>
          </p:cNvPr>
          <p:cNvPicPr>
            <a:picLocks noChangeAspect="1"/>
          </p:cNvPicPr>
          <p:nvPr/>
        </p:nvPicPr>
        <p:blipFill>
          <a:blip r:embed="rId6"/>
          <a:stretch>
            <a:fillRect/>
          </a:stretch>
        </p:blipFill>
        <p:spPr>
          <a:xfrm>
            <a:off x="263056" y="706881"/>
            <a:ext cx="6325483" cy="6001588"/>
          </a:xfrm>
          <a:prstGeom prst="rect">
            <a:avLst/>
          </a:prstGeom>
        </p:spPr>
      </p:pic>
    </p:spTree>
    <p:extLst>
      <p:ext uri="{BB962C8B-B14F-4D97-AF65-F5344CB8AC3E}">
        <p14:creationId xmlns:p14="http://schemas.microsoft.com/office/powerpoint/2010/main" val="659989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57" name="Group 2056">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2058" name="Freeform: Shape 2057">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060" name="Freeform: Shape 2059">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061" name="Freeform: Shape 2060">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pic>
        <p:nvPicPr>
          <p:cNvPr id="15" name="Picture 14" descr="SQL Tutorial - GeeksforGeeks">
            <a:extLst>
              <a:ext uri="{FF2B5EF4-FFF2-40B4-BE49-F238E27FC236}">
                <a16:creationId xmlns:a16="http://schemas.microsoft.com/office/drawing/2014/main" id="{CAADA47F-C7E0-C3E0-806E-D67B67DD8D8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5586" r="10861" b="3"/>
          <a:stretch/>
        </p:blipFill>
        <p:spPr bwMode="auto">
          <a:xfrm>
            <a:off x="20" y="-22"/>
            <a:ext cx="12191977" cy="685802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CAD648A-7CB2-3D3E-5E1F-649C7EDEE49D}"/>
              </a:ext>
            </a:extLst>
          </p:cNvPr>
          <p:cNvSpPr txBox="1"/>
          <p:nvPr/>
        </p:nvSpPr>
        <p:spPr>
          <a:xfrm>
            <a:off x="4466315" y="181853"/>
            <a:ext cx="3675888" cy="646331"/>
          </a:xfrm>
          <a:prstGeom prst="rect">
            <a:avLst/>
          </a:prstGeom>
          <a:noFill/>
        </p:spPr>
        <p:txBody>
          <a:bodyPr wrap="square" rtlCol="0">
            <a:spAutoFit/>
          </a:bodyPr>
          <a:lstStyle/>
          <a:p>
            <a:r>
              <a:rPr lang="en-NZ" sz="3600" b="1" dirty="0" err="1">
                <a:solidFill>
                  <a:schemeClr val="bg1"/>
                </a:solidFill>
              </a:rPr>
              <a:t>DQlog</a:t>
            </a:r>
            <a:r>
              <a:rPr lang="en-NZ" sz="3600" b="1" dirty="0">
                <a:solidFill>
                  <a:schemeClr val="bg1"/>
                </a:solidFill>
              </a:rPr>
              <a:t> Rules</a:t>
            </a:r>
          </a:p>
        </p:txBody>
      </p:sp>
      <p:graphicFrame>
        <p:nvGraphicFramePr>
          <p:cNvPr id="14" name="Table 13">
            <a:extLst>
              <a:ext uri="{FF2B5EF4-FFF2-40B4-BE49-F238E27FC236}">
                <a16:creationId xmlns:a16="http://schemas.microsoft.com/office/drawing/2014/main" id="{00A08384-6BD4-1BA5-F59B-349FB5E3AC91}"/>
              </a:ext>
            </a:extLst>
          </p:cNvPr>
          <p:cNvGraphicFramePr>
            <a:graphicFrameLocks noGrp="1"/>
          </p:cNvGraphicFramePr>
          <p:nvPr>
            <p:extLst>
              <p:ext uri="{D42A27DB-BD31-4B8C-83A1-F6EECF244321}">
                <p14:modId xmlns:p14="http://schemas.microsoft.com/office/powerpoint/2010/main" val="3109868938"/>
              </p:ext>
            </p:extLst>
          </p:nvPr>
        </p:nvGraphicFramePr>
        <p:xfrm>
          <a:off x="325675" y="797156"/>
          <a:ext cx="11551899" cy="5924079"/>
        </p:xfrm>
        <a:graphic>
          <a:graphicData uri="http://schemas.openxmlformats.org/drawingml/2006/table">
            <a:tbl>
              <a:tblPr firstRow="1" bandRow="1">
                <a:tableStyleId>{5C22544A-7EE6-4342-B048-85BDC9FD1C3A}</a:tableStyleId>
              </a:tblPr>
              <a:tblGrid>
                <a:gridCol w="574586">
                  <a:extLst>
                    <a:ext uri="{9D8B030D-6E8A-4147-A177-3AD203B41FA5}">
                      <a16:colId xmlns:a16="http://schemas.microsoft.com/office/drawing/2014/main" val="3284055505"/>
                    </a:ext>
                  </a:extLst>
                </a:gridCol>
                <a:gridCol w="2709778">
                  <a:extLst>
                    <a:ext uri="{9D8B030D-6E8A-4147-A177-3AD203B41FA5}">
                      <a16:colId xmlns:a16="http://schemas.microsoft.com/office/drawing/2014/main" val="3676981077"/>
                    </a:ext>
                  </a:extLst>
                </a:gridCol>
                <a:gridCol w="1572970">
                  <a:extLst>
                    <a:ext uri="{9D8B030D-6E8A-4147-A177-3AD203B41FA5}">
                      <a16:colId xmlns:a16="http://schemas.microsoft.com/office/drawing/2014/main" val="2555698364"/>
                    </a:ext>
                  </a:extLst>
                </a:gridCol>
                <a:gridCol w="1050163">
                  <a:extLst>
                    <a:ext uri="{9D8B030D-6E8A-4147-A177-3AD203B41FA5}">
                      <a16:colId xmlns:a16="http://schemas.microsoft.com/office/drawing/2014/main" val="597673552"/>
                    </a:ext>
                  </a:extLst>
                </a:gridCol>
                <a:gridCol w="5644402">
                  <a:extLst>
                    <a:ext uri="{9D8B030D-6E8A-4147-A177-3AD203B41FA5}">
                      <a16:colId xmlns:a16="http://schemas.microsoft.com/office/drawing/2014/main" val="2277360253"/>
                    </a:ext>
                  </a:extLst>
                </a:gridCol>
              </a:tblGrid>
              <a:tr h="282643">
                <a:tc>
                  <a:txBody>
                    <a:bodyPr/>
                    <a:lstStyle/>
                    <a:p>
                      <a:r>
                        <a:rPr lang="en-US" sz="1400"/>
                        <a:t>No</a:t>
                      </a:r>
                      <a:endParaRPr lang="en-NZ" sz="1400"/>
                    </a:p>
                  </a:txBody>
                  <a:tcPr/>
                </a:tc>
                <a:tc>
                  <a:txBody>
                    <a:bodyPr/>
                    <a:lstStyle/>
                    <a:p>
                      <a:r>
                        <a:rPr lang="en-US" sz="1400"/>
                        <a:t>Attribute </a:t>
                      </a:r>
                      <a:endParaRPr lang="en-NZ" sz="1400"/>
                    </a:p>
                  </a:txBody>
                  <a:tcPr/>
                </a:tc>
                <a:tc>
                  <a:txBody>
                    <a:bodyPr/>
                    <a:lstStyle/>
                    <a:p>
                      <a:r>
                        <a:rPr lang="en-US" sz="1400"/>
                        <a:t>Table</a:t>
                      </a:r>
                      <a:endParaRPr lang="en-NZ" sz="1400"/>
                    </a:p>
                  </a:txBody>
                  <a:tcPr/>
                </a:tc>
                <a:tc>
                  <a:txBody>
                    <a:bodyPr/>
                    <a:lstStyle/>
                    <a:p>
                      <a:r>
                        <a:rPr lang="en-US" sz="1400"/>
                        <a:t>Action </a:t>
                      </a:r>
                      <a:endParaRPr lang="en-NZ" sz="1400"/>
                    </a:p>
                  </a:txBody>
                  <a:tcPr/>
                </a:tc>
                <a:tc>
                  <a:txBody>
                    <a:bodyPr/>
                    <a:lstStyle/>
                    <a:p>
                      <a:r>
                        <a:rPr lang="en-US" sz="1400"/>
                        <a:t>Others</a:t>
                      </a:r>
                      <a:endParaRPr lang="en-NZ" sz="1400"/>
                    </a:p>
                  </a:txBody>
                  <a:tcPr/>
                </a:tc>
                <a:extLst>
                  <a:ext uri="{0D108BD9-81ED-4DB2-BD59-A6C34878D82A}">
                    <a16:rowId xmlns:a16="http://schemas.microsoft.com/office/drawing/2014/main" val="1835537875"/>
                  </a:ext>
                </a:extLst>
              </a:tr>
              <a:tr h="282643">
                <a:tc rowSpan="2">
                  <a:txBody>
                    <a:bodyPr/>
                    <a:lstStyle/>
                    <a:p>
                      <a:r>
                        <a:rPr lang="en-US" sz="1400"/>
                        <a:t>1</a:t>
                      </a:r>
                      <a:endParaRPr lang="en-NZ" sz="1400"/>
                    </a:p>
                  </a:txBody>
                  <a:tcPr/>
                </a:tc>
                <a:tc rowSpan="2">
                  <a:txBody>
                    <a:bodyPr/>
                    <a:lstStyle/>
                    <a:p>
                      <a:r>
                        <a:rPr lang="en-US" sz="1400" b="1" err="1"/>
                        <a:t>buyPrice</a:t>
                      </a:r>
                      <a:endParaRPr lang="en-NZ" sz="1400" b="1"/>
                    </a:p>
                  </a:txBody>
                  <a:tcPr/>
                </a:tc>
                <a:tc rowSpan="2">
                  <a:txBody>
                    <a:bodyPr/>
                    <a:lstStyle/>
                    <a:p>
                      <a:r>
                        <a:rPr lang="en-US" sz="1400"/>
                        <a:t>Product</a:t>
                      </a:r>
                      <a:endParaRPr lang="en-NZ" sz="1400"/>
                    </a:p>
                  </a:txBody>
                  <a:tcPr/>
                </a:tc>
                <a:tc>
                  <a:txBody>
                    <a:bodyPr/>
                    <a:lstStyle/>
                    <a:p>
                      <a:r>
                        <a:rPr lang="en-US" sz="1400">
                          <a:solidFill>
                            <a:srgbClr val="FF0000"/>
                          </a:solidFill>
                        </a:rPr>
                        <a:t>Reject </a:t>
                      </a:r>
                      <a:endParaRPr lang="en-NZ" sz="1400">
                        <a:solidFill>
                          <a:srgbClr val="FF0000"/>
                        </a:solidFill>
                      </a:endParaRPr>
                    </a:p>
                  </a:txBody>
                  <a:tcPr/>
                </a:tc>
                <a:tc>
                  <a:txBody>
                    <a:bodyPr/>
                    <a:lstStyle/>
                    <a:p>
                      <a:r>
                        <a:rPr lang="en-US" sz="1400"/>
                        <a:t>If </a:t>
                      </a:r>
                      <a:r>
                        <a:rPr lang="en-US" sz="1400" err="1"/>
                        <a:t>buyPrice</a:t>
                      </a:r>
                      <a:r>
                        <a:rPr lang="en-US" sz="1400"/>
                        <a:t> is 0 or Null</a:t>
                      </a:r>
                      <a:endParaRPr lang="en-NZ" sz="1400"/>
                    </a:p>
                  </a:txBody>
                  <a:tcPr/>
                </a:tc>
                <a:extLst>
                  <a:ext uri="{0D108BD9-81ED-4DB2-BD59-A6C34878D82A}">
                    <a16:rowId xmlns:a16="http://schemas.microsoft.com/office/drawing/2014/main" val="2663644514"/>
                  </a:ext>
                </a:extLst>
              </a:tr>
              <a:tr h="328773">
                <a:tc vMerge="1">
                  <a:txBody>
                    <a:bodyPr/>
                    <a:lstStyle/>
                    <a:p>
                      <a:endParaRPr lang="en-NZ"/>
                    </a:p>
                  </a:txBody>
                  <a:tcPr/>
                </a:tc>
                <a:tc vMerge="1">
                  <a:txBody>
                    <a:bodyPr/>
                    <a:lstStyle/>
                    <a:p>
                      <a:endParaRPr lang="en-NZ"/>
                    </a:p>
                  </a:txBody>
                  <a:tcPr/>
                </a:tc>
                <a:tc vMerge="1">
                  <a:txBody>
                    <a:bodyPr/>
                    <a:lstStyle/>
                    <a:p>
                      <a:endParaRPr lang="en-NZ"/>
                    </a:p>
                  </a:txBody>
                  <a:tcPr/>
                </a:tc>
                <a:tc>
                  <a:txBody>
                    <a:bodyPr/>
                    <a:lstStyle/>
                    <a:p>
                      <a:r>
                        <a:rPr lang="en-US" sz="1400">
                          <a:solidFill>
                            <a:schemeClr val="accent5">
                              <a:lumMod val="75000"/>
                            </a:schemeClr>
                          </a:solidFill>
                        </a:rPr>
                        <a:t>Fix </a:t>
                      </a:r>
                      <a:endParaRPr lang="en-NZ" sz="1400">
                        <a:solidFill>
                          <a:schemeClr val="accent5">
                            <a:lumMod val="75000"/>
                          </a:schemeClr>
                        </a:solidFill>
                      </a:endParaRPr>
                    </a:p>
                  </a:txBody>
                  <a:tcPr/>
                </a:tc>
                <a:tc>
                  <a:txBody>
                    <a:bodyPr/>
                    <a:lstStyle/>
                    <a:p>
                      <a:r>
                        <a:rPr lang="en-NZ" sz="1400" kern="1200">
                          <a:solidFill>
                            <a:schemeClr val="dk1"/>
                          </a:solidFill>
                          <a:effectLst/>
                        </a:rPr>
                        <a:t>if </a:t>
                      </a:r>
                      <a:r>
                        <a:rPr lang="en-NZ" sz="1400" b="1" kern="1200" err="1">
                          <a:solidFill>
                            <a:schemeClr val="dk1"/>
                          </a:solidFill>
                          <a:effectLst/>
                        </a:rPr>
                        <a:t>buyPrice</a:t>
                      </a:r>
                      <a:r>
                        <a:rPr lang="en-NZ" sz="1400" kern="1200">
                          <a:solidFill>
                            <a:schemeClr val="dk1"/>
                          </a:solidFill>
                          <a:effectLst/>
                        </a:rPr>
                        <a:t> is negative, need to convert to positive number </a:t>
                      </a:r>
                      <a:endParaRPr lang="en-NZ" sz="1400"/>
                    </a:p>
                  </a:txBody>
                  <a:tcPr/>
                </a:tc>
                <a:extLst>
                  <a:ext uri="{0D108BD9-81ED-4DB2-BD59-A6C34878D82A}">
                    <a16:rowId xmlns:a16="http://schemas.microsoft.com/office/drawing/2014/main" val="507401500"/>
                  </a:ext>
                </a:extLst>
              </a:tr>
              <a:tr h="282643">
                <a:tc rowSpan="2">
                  <a:txBody>
                    <a:bodyPr/>
                    <a:lstStyle/>
                    <a:p>
                      <a:r>
                        <a:rPr lang="en-US" sz="1400"/>
                        <a:t>2</a:t>
                      </a:r>
                      <a:endParaRPr lang="en-NZ" sz="1400"/>
                    </a:p>
                  </a:txBody>
                  <a:tcPr>
                    <a:solidFill>
                      <a:schemeClr val="bg1">
                        <a:lumMod val="95000"/>
                      </a:schemeClr>
                    </a:solidFill>
                  </a:tcPr>
                </a:tc>
                <a:tc rowSpan="2">
                  <a:txBody>
                    <a:bodyPr/>
                    <a:lstStyle/>
                    <a:p>
                      <a:r>
                        <a:rPr lang="en-US" sz="1400" b="1" err="1"/>
                        <a:t>priceEach</a:t>
                      </a:r>
                      <a:endParaRPr lang="en-NZ" sz="1400" b="1"/>
                    </a:p>
                  </a:txBody>
                  <a:tcPr>
                    <a:solidFill>
                      <a:schemeClr val="bg1">
                        <a:lumMod val="95000"/>
                      </a:schemeClr>
                    </a:solidFill>
                  </a:tcPr>
                </a:tc>
                <a:tc rowSpan="2">
                  <a:txBody>
                    <a:bodyPr/>
                    <a:lstStyle/>
                    <a:p>
                      <a:r>
                        <a:rPr lang="en-US" sz="1400"/>
                        <a:t>OrderDetail</a:t>
                      </a:r>
                      <a:endParaRPr lang="en-NZ" sz="1400"/>
                    </a:p>
                  </a:txBody>
                  <a:tcPr>
                    <a:solidFill>
                      <a:schemeClr val="bg1">
                        <a:lumMod val="95000"/>
                      </a:schemeClr>
                    </a:solidFill>
                  </a:tcPr>
                </a:tc>
                <a:tc>
                  <a:txBody>
                    <a:bodyPr/>
                    <a:lstStyle/>
                    <a:p>
                      <a:r>
                        <a:rPr lang="en-US" sz="1400">
                          <a:solidFill>
                            <a:srgbClr val="FF0000"/>
                          </a:solidFill>
                        </a:rPr>
                        <a:t>Reject </a:t>
                      </a:r>
                      <a:endParaRPr lang="en-NZ" sz="1400">
                        <a:solidFill>
                          <a:srgbClr val="FF0000"/>
                        </a:solidFill>
                      </a:endParaRPr>
                    </a:p>
                  </a:txBody>
                  <a:tcPr/>
                </a:tc>
                <a:tc>
                  <a:txBody>
                    <a:bodyPr/>
                    <a:lstStyle/>
                    <a:p>
                      <a:r>
                        <a:rPr lang="en-NZ" sz="1400" kern="1200">
                          <a:solidFill>
                            <a:schemeClr val="dk1"/>
                          </a:solidFill>
                          <a:effectLst/>
                        </a:rPr>
                        <a:t>if </a:t>
                      </a:r>
                      <a:r>
                        <a:rPr lang="en-NZ" sz="1400" b="1" kern="1200" err="1">
                          <a:solidFill>
                            <a:schemeClr val="dk1"/>
                          </a:solidFill>
                          <a:effectLst/>
                        </a:rPr>
                        <a:t>priceEach</a:t>
                      </a:r>
                      <a:r>
                        <a:rPr lang="en-NZ" sz="1400" kern="1200">
                          <a:solidFill>
                            <a:schemeClr val="dk1"/>
                          </a:solidFill>
                          <a:effectLst/>
                        </a:rPr>
                        <a:t> is 0</a:t>
                      </a:r>
                      <a:r>
                        <a:rPr lang="en-NZ" sz="1400" b="1" kern="1200">
                          <a:solidFill>
                            <a:schemeClr val="dk1"/>
                          </a:solidFill>
                          <a:effectLst/>
                        </a:rPr>
                        <a:t> </a:t>
                      </a:r>
                      <a:r>
                        <a:rPr lang="en-NZ" sz="1400" kern="1200">
                          <a:solidFill>
                            <a:schemeClr val="dk1"/>
                          </a:solidFill>
                          <a:effectLst/>
                        </a:rPr>
                        <a:t>or Null</a:t>
                      </a:r>
                      <a:endParaRPr lang="en-NZ" sz="1400"/>
                    </a:p>
                  </a:txBody>
                  <a:tcPr/>
                </a:tc>
                <a:extLst>
                  <a:ext uri="{0D108BD9-81ED-4DB2-BD59-A6C34878D82A}">
                    <a16:rowId xmlns:a16="http://schemas.microsoft.com/office/drawing/2014/main" val="1638185188"/>
                  </a:ext>
                </a:extLst>
              </a:tr>
              <a:tr h="328773">
                <a:tc vMerge="1">
                  <a:txBody>
                    <a:bodyPr/>
                    <a:lstStyle/>
                    <a:p>
                      <a:endParaRPr lang="en-NZ"/>
                    </a:p>
                  </a:txBody>
                  <a:tcPr/>
                </a:tc>
                <a:tc vMerge="1">
                  <a:txBody>
                    <a:bodyPr/>
                    <a:lstStyle/>
                    <a:p>
                      <a:endParaRPr lang="en-NZ"/>
                    </a:p>
                  </a:txBody>
                  <a:tcPr/>
                </a:tc>
                <a:tc vMerge="1">
                  <a:txBody>
                    <a:bodyPr/>
                    <a:lstStyle/>
                    <a:p>
                      <a:endParaRPr lang="en-NZ"/>
                    </a:p>
                  </a:txBody>
                  <a:tcPr/>
                </a:tc>
                <a:tc>
                  <a:txBody>
                    <a:bodyPr/>
                    <a:lstStyle/>
                    <a:p>
                      <a:r>
                        <a:rPr lang="en-US" sz="1400">
                          <a:solidFill>
                            <a:schemeClr val="accent5">
                              <a:lumMod val="75000"/>
                            </a:schemeClr>
                          </a:solidFill>
                        </a:rPr>
                        <a:t>Fix </a:t>
                      </a:r>
                      <a:endParaRPr lang="en-NZ" sz="1400">
                        <a:solidFill>
                          <a:schemeClr val="accent5">
                            <a:lumMod val="75000"/>
                          </a:schemeClr>
                        </a:solidFill>
                      </a:endParaRPr>
                    </a:p>
                  </a:txBody>
                  <a:tcPr/>
                </a:tc>
                <a:tc>
                  <a:txBody>
                    <a:bodyPr/>
                    <a:lstStyle/>
                    <a:p>
                      <a:r>
                        <a:rPr lang="en-NZ" sz="1400" kern="1200">
                          <a:solidFill>
                            <a:schemeClr val="dk1"/>
                          </a:solidFill>
                          <a:effectLst/>
                        </a:rPr>
                        <a:t>if </a:t>
                      </a:r>
                      <a:r>
                        <a:rPr lang="en-NZ" sz="1400" b="1" kern="1200" err="1">
                          <a:solidFill>
                            <a:schemeClr val="dk1"/>
                          </a:solidFill>
                          <a:effectLst/>
                        </a:rPr>
                        <a:t>priceEach</a:t>
                      </a:r>
                      <a:r>
                        <a:rPr lang="en-NZ" sz="1400" kern="1200">
                          <a:solidFill>
                            <a:schemeClr val="dk1"/>
                          </a:solidFill>
                          <a:effectLst/>
                        </a:rPr>
                        <a:t> is negative, need to convert to positive number </a:t>
                      </a:r>
                      <a:endParaRPr lang="en-NZ" sz="1400"/>
                    </a:p>
                  </a:txBody>
                  <a:tcPr/>
                </a:tc>
                <a:extLst>
                  <a:ext uri="{0D108BD9-81ED-4DB2-BD59-A6C34878D82A}">
                    <a16:rowId xmlns:a16="http://schemas.microsoft.com/office/drawing/2014/main" val="1607981339"/>
                  </a:ext>
                </a:extLst>
              </a:tr>
              <a:tr h="282643">
                <a:tc rowSpan="2">
                  <a:txBody>
                    <a:bodyPr/>
                    <a:lstStyle/>
                    <a:p>
                      <a:r>
                        <a:rPr lang="en-US" sz="1400"/>
                        <a:t>3</a:t>
                      </a:r>
                      <a:endParaRPr lang="en-NZ" sz="1400"/>
                    </a:p>
                  </a:txBody>
                  <a:tcPr/>
                </a:tc>
                <a:tc rowSpan="2">
                  <a:txBody>
                    <a:bodyPr/>
                    <a:lstStyle/>
                    <a:p>
                      <a:r>
                        <a:rPr lang="en-US" sz="1400" b="1" err="1"/>
                        <a:t>QuantityOrdered</a:t>
                      </a:r>
                      <a:r>
                        <a:rPr lang="en-US" sz="1400" b="1"/>
                        <a:t> </a:t>
                      </a:r>
                      <a:endParaRPr lang="en-NZ" sz="1400" b="1"/>
                    </a:p>
                  </a:txBody>
                  <a:tcPr/>
                </a:tc>
                <a:tc rowSpan="2">
                  <a:txBody>
                    <a:bodyPr/>
                    <a:lstStyle/>
                    <a:p>
                      <a:r>
                        <a:rPr lang="en-US" sz="1400"/>
                        <a:t>OrderDetail</a:t>
                      </a:r>
                      <a:endParaRPr lang="en-NZ" sz="1400"/>
                    </a:p>
                  </a:txBody>
                  <a:tcPr/>
                </a:tc>
                <a:tc>
                  <a:txBody>
                    <a:bodyPr/>
                    <a:lstStyle/>
                    <a:p>
                      <a:r>
                        <a:rPr lang="en-US" sz="1400">
                          <a:solidFill>
                            <a:srgbClr val="FF0000"/>
                          </a:solidFill>
                        </a:rPr>
                        <a:t>Reject </a:t>
                      </a:r>
                      <a:endParaRPr lang="en-NZ" sz="1400">
                        <a:solidFill>
                          <a:srgbClr val="FF0000"/>
                        </a:solidFill>
                      </a:endParaRPr>
                    </a:p>
                  </a:txBody>
                  <a:tcPr/>
                </a:tc>
                <a:tc>
                  <a:txBody>
                    <a:bodyPr/>
                    <a:lstStyle/>
                    <a:p>
                      <a:r>
                        <a:rPr lang="en-NZ" sz="1400" kern="1200">
                          <a:solidFill>
                            <a:schemeClr val="dk1"/>
                          </a:solidFill>
                          <a:effectLst/>
                        </a:rPr>
                        <a:t>if </a:t>
                      </a:r>
                      <a:r>
                        <a:rPr lang="en-US" sz="1400" b="1" err="1"/>
                        <a:t>QuantityOrdered</a:t>
                      </a:r>
                      <a:r>
                        <a:rPr lang="en-NZ" sz="1400" kern="1200">
                          <a:solidFill>
                            <a:schemeClr val="dk1"/>
                          </a:solidFill>
                          <a:effectLst/>
                        </a:rPr>
                        <a:t> is 0</a:t>
                      </a:r>
                      <a:r>
                        <a:rPr lang="en-NZ" sz="1400" b="1" kern="1200">
                          <a:solidFill>
                            <a:schemeClr val="dk1"/>
                          </a:solidFill>
                          <a:effectLst/>
                        </a:rPr>
                        <a:t> </a:t>
                      </a:r>
                      <a:r>
                        <a:rPr lang="en-NZ" sz="1400" kern="1200">
                          <a:solidFill>
                            <a:schemeClr val="dk1"/>
                          </a:solidFill>
                          <a:effectLst/>
                        </a:rPr>
                        <a:t>or Null</a:t>
                      </a:r>
                      <a:endParaRPr lang="en-NZ" sz="1400"/>
                    </a:p>
                  </a:txBody>
                  <a:tcPr/>
                </a:tc>
                <a:extLst>
                  <a:ext uri="{0D108BD9-81ED-4DB2-BD59-A6C34878D82A}">
                    <a16:rowId xmlns:a16="http://schemas.microsoft.com/office/drawing/2014/main" val="3002317446"/>
                  </a:ext>
                </a:extLst>
              </a:tr>
              <a:tr h="328773">
                <a:tc vMerge="1">
                  <a:txBody>
                    <a:bodyPr/>
                    <a:lstStyle/>
                    <a:p>
                      <a:endParaRPr lang="en-NZ"/>
                    </a:p>
                  </a:txBody>
                  <a:tcPr/>
                </a:tc>
                <a:tc vMerge="1">
                  <a:txBody>
                    <a:bodyPr/>
                    <a:lstStyle/>
                    <a:p>
                      <a:endParaRPr lang="en-NZ"/>
                    </a:p>
                  </a:txBody>
                  <a:tcPr/>
                </a:tc>
                <a:tc vMerge="1">
                  <a:txBody>
                    <a:bodyPr/>
                    <a:lstStyle/>
                    <a:p>
                      <a:endParaRPr lang="en-NZ"/>
                    </a:p>
                  </a:txBody>
                  <a:tcPr/>
                </a:tc>
                <a:tc>
                  <a:txBody>
                    <a:bodyPr/>
                    <a:lstStyle/>
                    <a:p>
                      <a:r>
                        <a:rPr lang="en-US" sz="1400">
                          <a:solidFill>
                            <a:schemeClr val="accent5">
                              <a:lumMod val="75000"/>
                            </a:schemeClr>
                          </a:solidFill>
                        </a:rPr>
                        <a:t>Fix </a:t>
                      </a:r>
                      <a:endParaRPr lang="en-NZ" sz="1400">
                        <a:solidFill>
                          <a:schemeClr val="accent5">
                            <a:lumMod val="75000"/>
                          </a:schemeClr>
                        </a:solidFill>
                      </a:endParaRPr>
                    </a:p>
                  </a:txBody>
                  <a:tcPr/>
                </a:tc>
                <a:tc>
                  <a:txBody>
                    <a:bodyPr/>
                    <a:lstStyle/>
                    <a:p>
                      <a:r>
                        <a:rPr lang="en-NZ" sz="1400" kern="1200">
                          <a:solidFill>
                            <a:schemeClr val="dk1"/>
                          </a:solidFill>
                          <a:effectLst/>
                        </a:rPr>
                        <a:t>If </a:t>
                      </a:r>
                      <a:r>
                        <a:rPr lang="en-US" sz="1400" b="1" err="1"/>
                        <a:t>QuantityOrdered</a:t>
                      </a:r>
                      <a:r>
                        <a:rPr lang="en-NZ" sz="1400" kern="1200">
                          <a:solidFill>
                            <a:schemeClr val="dk1"/>
                          </a:solidFill>
                          <a:effectLst/>
                        </a:rPr>
                        <a:t> is negative, need to convert to positive number </a:t>
                      </a:r>
                      <a:endParaRPr lang="en-NZ" sz="1400"/>
                    </a:p>
                  </a:txBody>
                  <a:tcPr/>
                </a:tc>
                <a:extLst>
                  <a:ext uri="{0D108BD9-81ED-4DB2-BD59-A6C34878D82A}">
                    <a16:rowId xmlns:a16="http://schemas.microsoft.com/office/drawing/2014/main" val="1701369661"/>
                  </a:ext>
                </a:extLst>
              </a:tr>
              <a:tr h="282643">
                <a:tc>
                  <a:txBody>
                    <a:bodyPr/>
                    <a:lstStyle/>
                    <a:p>
                      <a:r>
                        <a:rPr lang="en-US" sz="1400"/>
                        <a:t>4</a:t>
                      </a:r>
                      <a:endParaRPr lang="en-NZ" sz="1400"/>
                    </a:p>
                  </a:txBody>
                  <a:tcPr/>
                </a:tc>
                <a:tc>
                  <a:txBody>
                    <a:bodyPr/>
                    <a:lstStyle/>
                    <a:p>
                      <a:r>
                        <a:rPr lang="en-US" sz="1400" b="1"/>
                        <a:t>MSRP</a:t>
                      </a:r>
                      <a:endParaRPr lang="en-NZ" sz="1400" b="1"/>
                    </a:p>
                  </a:txBody>
                  <a:tcPr/>
                </a:tc>
                <a:tc>
                  <a:txBody>
                    <a:bodyPr/>
                    <a:lstStyle/>
                    <a:p>
                      <a:r>
                        <a:rPr lang="en-US" sz="1400"/>
                        <a:t>Product</a:t>
                      </a:r>
                      <a:endParaRPr lang="en-NZ"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rgbClr val="FF0000"/>
                          </a:solidFill>
                        </a:rPr>
                        <a:t>Reject </a:t>
                      </a:r>
                      <a:endParaRPr lang="en-NZ" sz="1400">
                        <a:solidFill>
                          <a:srgbClr val="FF0000"/>
                        </a:solidFill>
                      </a:endParaRPr>
                    </a:p>
                  </a:txBody>
                  <a:tcPr/>
                </a:tc>
                <a:tc>
                  <a:txBody>
                    <a:bodyPr/>
                    <a:lstStyle/>
                    <a:p>
                      <a:r>
                        <a:rPr lang="en-NZ" sz="1400" kern="1200">
                          <a:solidFill>
                            <a:schemeClr val="dk1"/>
                          </a:solidFill>
                          <a:effectLst/>
                        </a:rPr>
                        <a:t>if </a:t>
                      </a:r>
                      <a:r>
                        <a:rPr lang="en-NZ" sz="1400" b="1" kern="1200">
                          <a:solidFill>
                            <a:schemeClr val="dk1"/>
                          </a:solidFill>
                          <a:effectLst/>
                        </a:rPr>
                        <a:t>MSRP</a:t>
                      </a:r>
                      <a:r>
                        <a:rPr lang="en-NZ" sz="1400" kern="1200">
                          <a:solidFill>
                            <a:schemeClr val="dk1"/>
                          </a:solidFill>
                          <a:effectLst/>
                        </a:rPr>
                        <a:t> &lt; </a:t>
                      </a:r>
                      <a:r>
                        <a:rPr lang="en-NZ" sz="1400" b="1" kern="1200" err="1">
                          <a:solidFill>
                            <a:schemeClr val="dk1"/>
                          </a:solidFill>
                          <a:effectLst/>
                        </a:rPr>
                        <a:t>buyPrice</a:t>
                      </a:r>
                      <a:r>
                        <a:rPr lang="en-NZ" sz="1400" kern="1200">
                          <a:solidFill>
                            <a:schemeClr val="dk1"/>
                          </a:solidFill>
                          <a:effectLst/>
                        </a:rPr>
                        <a:t> on a product </a:t>
                      </a:r>
                      <a:endParaRPr lang="en-NZ" sz="1400"/>
                    </a:p>
                  </a:txBody>
                  <a:tcPr/>
                </a:tc>
                <a:extLst>
                  <a:ext uri="{0D108BD9-81ED-4DB2-BD59-A6C34878D82A}">
                    <a16:rowId xmlns:a16="http://schemas.microsoft.com/office/drawing/2014/main" val="1200739806"/>
                  </a:ext>
                </a:extLst>
              </a:tr>
              <a:tr h="480494">
                <a:tc>
                  <a:txBody>
                    <a:bodyPr/>
                    <a:lstStyle/>
                    <a:p>
                      <a:r>
                        <a:rPr lang="en-US" sz="1400"/>
                        <a:t>5</a:t>
                      </a:r>
                      <a:endParaRPr lang="en-NZ" sz="1400"/>
                    </a:p>
                  </a:txBody>
                  <a:tcPr/>
                </a:tc>
                <a:tc>
                  <a:txBody>
                    <a:bodyPr/>
                    <a:lstStyle/>
                    <a:p>
                      <a:r>
                        <a:rPr lang="en-US" sz="1400" b="1"/>
                        <a:t>Country</a:t>
                      </a:r>
                    </a:p>
                  </a:txBody>
                  <a:tcPr/>
                </a:tc>
                <a:tc>
                  <a:txBody>
                    <a:bodyPr/>
                    <a:lstStyle/>
                    <a:p>
                      <a:r>
                        <a:rPr lang="en-US" sz="1400"/>
                        <a:t>Customer</a:t>
                      </a:r>
                      <a:r>
                        <a:rPr lang="en-NZ" sz="1400"/>
                        <a:t> and Office</a:t>
                      </a:r>
                      <a:endParaRPr 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chemeClr val="accent5">
                              <a:lumMod val="75000"/>
                            </a:schemeClr>
                          </a:solidFill>
                        </a:rPr>
                        <a:t>Fix </a:t>
                      </a:r>
                      <a:endParaRPr lang="en-NZ" sz="1400" i="0">
                        <a:solidFill>
                          <a:schemeClr val="accent5">
                            <a:lumMod val="75000"/>
                          </a:schemeClr>
                        </a:solidFill>
                      </a:endParaRPr>
                    </a:p>
                  </a:txBody>
                  <a:tcPr/>
                </a:tc>
                <a:tc>
                  <a:txBody>
                    <a:bodyPr/>
                    <a:lstStyle/>
                    <a:p>
                      <a:r>
                        <a:rPr lang="en-NZ" sz="1400" kern="1200">
                          <a:solidFill>
                            <a:schemeClr val="dk1"/>
                          </a:solidFill>
                          <a:effectLst/>
                        </a:rPr>
                        <a:t>If </a:t>
                      </a:r>
                      <a:r>
                        <a:rPr lang="en-NZ" sz="1400" b="1" kern="1200">
                          <a:solidFill>
                            <a:schemeClr val="dk1"/>
                          </a:solidFill>
                          <a:effectLst/>
                        </a:rPr>
                        <a:t>Country </a:t>
                      </a:r>
                      <a:r>
                        <a:rPr lang="en-NZ" sz="1400" kern="1200">
                          <a:solidFill>
                            <a:schemeClr val="dk1"/>
                          </a:solidFill>
                          <a:effectLst/>
                        </a:rPr>
                        <a:t>format </a:t>
                      </a:r>
                      <a:r>
                        <a:rPr lang="en-NZ" sz="1400" u="sng" kern="1200">
                          <a:solidFill>
                            <a:schemeClr val="dk1"/>
                          </a:solidFill>
                          <a:effectLst/>
                        </a:rPr>
                        <a:t>regardless</a:t>
                      </a:r>
                      <a:r>
                        <a:rPr lang="en-NZ" sz="1400" kern="1200">
                          <a:solidFill>
                            <a:schemeClr val="dk1"/>
                          </a:solidFill>
                          <a:effectLst/>
                        </a:rPr>
                        <a:t> capital or non-capital cases</a:t>
                      </a:r>
                      <a:endParaRPr lang="en-NZ" sz="1400" i="0"/>
                    </a:p>
                  </a:txBody>
                  <a:tcPr/>
                </a:tc>
                <a:extLst>
                  <a:ext uri="{0D108BD9-81ED-4DB2-BD59-A6C34878D82A}">
                    <a16:rowId xmlns:a16="http://schemas.microsoft.com/office/drawing/2014/main" val="2119755667"/>
                  </a:ext>
                </a:extLst>
              </a:tr>
              <a:tr h="282643">
                <a:tc>
                  <a:txBody>
                    <a:bodyPr/>
                    <a:lstStyle/>
                    <a:p>
                      <a:r>
                        <a:rPr lang="en-US" sz="1400"/>
                        <a:t>6</a:t>
                      </a:r>
                      <a:endParaRPr lang="en-NZ" sz="1400"/>
                    </a:p>
                  </a:txBody>
                  <a:tcPr/>
                </a:tc>
                <a:tc>
                  <a:txBody>
                    <a:bodyPr/>
                    <a:lstStyle/>
                    <a:p>
                      <a:r>
                        <a:rPr lang="en-US" sz="1400" b="1" err="1"/>
                        <a:t>ProdctCode</a:t>
                      </a:r>
                      <a:endParaRPr lang="en-NZ" sz="1400" b="1"/>
                    </a:p>
                  </a:txBody>
                  <a:tcPr/>
                </a:tc>
                <a:tc>
                  <a:txBody>
                    <a:bodyPr/>
                    <a:lstStyle/>
                    <a:p>
                      <a:r>
                        <a:rPr lang="en-US" sz="1400"/>
                        <a:t>OrderDetail</a:t>
                      </a:r>
                      <a:endParaRPr lang="en-NZ"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rgbClr val="FF0000"/>
                          </a:solidFill>
                        </a:rPr>
                        <a:t>Reject </a:t>
                      </a:r>
                      <a:endParaRPr lang="en-NZ" sz="1400">
                        <a:solidFill>
                          <a:srgbClr val="FF0000"/>
                        </a:solidFill>
                      </a:endParaRPr>
                    </a:p>
                  </a:txBody>
                  <a:tcPr/>
                </a:tc>
                <a:tc>
                  <a:txBody>
                    <a:bodyPr/>
                    <a:lstStyle/>
                    <a:p>
                      <a:r>
                        <a:rPr lang="en-NZ" sz="1400" kern="1200">
                          <a:solidFill>
                            <a:schemeClr val="dk1"/>
                          </a:solidFill>
                          <a:effectLst/>
                        </a:rPr>
                        <a:t>if</a:t>
                      </a:r>
                      <a:r>
                        <a:rPr lang="en-NZ" sz="1400" b="1" kern="1200">
                          <a:solidFill>
                            <a:schemeClr val="dk1"/>
                          </a:solidFill>
                          <a:effectLst/>
                        </a:rPr>
                        <a:t> </a:t>
                      </a:r>
                      <a:r>
                        <a:rPr lang="en-NZ" sz="1400" b="1" kern="1200" err="1">
                          <a:solidFill>
                            <a:schemeClr val="dk1"/>
                          </a:solidFill>
                          <a:effectLst/>
                        </a:rPr>
                        <a:t>ProductCode</a:t>
                      </a:r>
                      <a:r>
                        <a:rPr lang="en-NZ" sz="1400" kern="1200">
                          <a:solidFill>
                            <a:schemeClr val="dk1"/>
                          </a:solidFill>
                          <a:effectLst/>
                        </a:rPr>
                        <a:t> doesn’t exist or is null</a:t>
                      </a:r>
                      <a:r>
                        <a:rPr lang="en-NZ" sz="1400" b="1" kern="1200">
                          <a:solidFill>
                            <a:schemeClr val="dk1"/>
                          </a:solidFill>
                          <a:effectLst/>
                        </a:rPr>
                        <a:t> </a:t>
                      </a:r>
                      <a:endParaRPr lang="en-NZ" sz="1400" i="0"/>
                    </a:p>
                  </a:txBody>
                  <a:tcPr/>
                </a:tc>
                <a:extLst>
                  <a:ext uri="{0D108BD9-81ED-4DB2-BD59-A6C34878D82A}">
                    <a16:rowId xmlns:a16="http://schemas.microsoft.com/office/drawing/2014/main" val="2493443653"/>
                  </a:ext>
                </a:extLst>
              </a:tr>
              <a:tr h="678344">
                <a:tc>
                  <a:txBody>
                    <a:bodyPr/>
                    <a:lstStyle/>
                    <a:p>
                      <a:r>
                        <a:rPr lang="en-US" sz="1400"/>
                        <a:t>7</a:t>
                      </a:r>
                      <a:endParaRPr lang="en-NZ" sz="1400"/>
                    </a:p>
                  </a:txBody>
                  <a:tcPr/>
                </a:tc>
                <a:tc>
                  <a:txBody>
                    <a:bodyPr/>
                    <a:lstStyle/>
                    <a:p>
                      <a:r>
                        <a:rPr lang="en-US" sz="1400" b="1" err="1"/>
                        <a:t>CustomerNumber</a:t>
                      </a:r>
                      <a:r>
                        <a:rPr lang="en-US" sz="1400" b="1"/>
                        <a:t>, </a:t>
                      </a:r>
                      <a:r>
                        <a:rPr lang="en-NZ" sz="1400" kern="1200">
                          <a:solidFill>
                            <a:schemeClr val="dk1"/>
                          </a:solidFill>
                          <a:effectLst/>
                        </a:rPr>
                        <a:t>addressLine1, addressLine2, and</a:t>
                      </a:r>
                      <a:r>
                        <a:rPr lang="en-NZ" sz="1400" b="1" kern="1200">
                          <a:solidFill>
                            <a:schemeClr val="dk1"/>
                          </a:solidFill>
                          <a:effectLst/>
                        </a:rPr>
                        <a:t> </a:t>
                      </a:r>
                      <a:r>
                        <a:rPr lang="en-NZ" sz="1400" kern="1200">
                          <a:solidFill>
                            <a:schemeClr val="dk1"/>
                          </a:solidFill>
                          <a:effectLst/>
                        </a:rPr>
                        <a:t>City </a:t>
                      </a:r>
                      <a:endParaRPr lang="en-NZ" sz="1400" b="1"/>
                    </a:p>
                  </a:txBody>
                  <a:tcPr/>
                </a:tc>
                <a:tc>
                  <a:txBody>
                    <a:bodyPr/>
                    <a:lstStyle/>
                    <a:p>
                      <a:r>
                        <a:rPr lang="en-US" sz="1400"/>
                        <a:t>Customer</a:t>
                      </a:r>
                      <a:endParaRPr lang="en-NZ"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rgbClr val="FF0000"/>
                          </a:solidFill>
                        </a:rPr>
                        <a:t>Reject </a:t>
                      </a:r>
                      <a:endParaRPr lang="en-NZ" sz="1400" i="0">
                        <a:solidFill>
                          <a:srgbClr val="FF0000"/>
                        </a:solidFill>
                      </a:endParaRPr>
                    </a:p>
                  </a:txBody>
                  <a:tcPr/>
                </a:tc>
                <a:tc>
                  <a:txBody>
                    <a:bodyPr/>
                    <a:lstStyle/>
                    <a:p>
                      <a:r>
                        <a:rPr lang="en-NZ" sz="1400" kern="1200">
                          <a:solidFill>
                            <a:schemeClr val="dk1"/>
                          </a:solidFill>
                          <a:effectLst/>
                        </a:rPr>
                        <a:t>if</a:t>
                      </a:r>
                      <a:r>
                        <a:rPr lang="en-NZ" sz="1400" b="1" kern="1200">
                          <a:solidFill>
                            <a:schemeClr val="dk1"/>
                          </a:solidFill>
                          <a:effectLst/>
                        </a:rPr>
                        <a:t> </a:t>
                      </a:r>
                      <a:r>
                        <a:rPr lang="en-NZ" sz="1400" kern="1200">
                          <a:solidFill>
                            <a:schemeClr val="dk1"/>
                          </a:solidFill>
                          <a:effectLst/>
                        </a:rPr>
                        <a:t>(</a:t>
                      </a:r>
                      <a:r>
                        <a:rPr lang="en-NZ" sz="1400" b="1" kern="1200" err="1">
                          <a:solidFill>
                            <a:schemeClr val="dk1"/>
                          </a:solidFill>
                          <a:effectLst/>
                        </a:rPr>
                        <a:t>CustomerNumber</a:t>
                      </a:r>
                      <a:r>
                        <a:rPr lang="en-NZ" sz="1400" kern="1200">
                          <a:solidFill>
                            <a:schemeClr val="dk1"/>
                          </a:solidFill>
                          <a:effectLst/>
                        </a:rPr>
                        <a:t> doesn’t exist or is null) </a:t>
                      </a:r>
                      <a:r>
                        <a:rPr lang="en-NZ" sz="1400" b="1" kern="1200">
                          <a:solidFill>
                            <a:schemeClr val="dk1"/>
                          </a:solidFill>
                          <a:effectLst/>
                        </a:rPr>
                        <a:t>and</a:t>
                      </a:r>
                      <a:r>
                        <a:rPr lang="en-NZ" sz="1400" kern="1200">
                          <a:solidFill>
                            <a:schemeClr val="dk1"/>
                          </a:solidFill>
                          <a:effectLst/>
                        </a:rPr>
                        <a:t> (if any of: </a:t>
                      </a:r>
                      <a:r>
                        <a:rPr lang="en-NZ" sz="1400" b="1" kern="1200">
                          <a:solidFill>
                            <a:schemeClr val="dk1"/>
                          </a:solidFill>
                          <a:effectLst/>
                        </a:rPr>
                        <a:t>addressLine1, addressLine2 </a:t>
                      </a:r>
                      <a:r>
                        <a:rPr lang="en-NZ" sz="1400" kern="1200">
                          <a:solidFill>
                            <a:schemeClr val="dk1"/>
                          </a:solidFill>
                          <a:effectLst/>
                        </a:rPr>
                        <a:t>and</a:t>
                      </a:r>
                      <a:r>
                        <a:rPr lang="en-NZ" sz="1400" b="1" kern="1200">
                          <a:solidFill>
                            <a:schemeClr val="dk1"/>
                          </a:solidFill>
                          <a:effectLst/>
                        </a:rPr>
                        <a:t> City</a:t>
                      </a:r>
                      <a:r>
                        <a:rPr lang="en-NZ" sz="1400" kern="1200">
                          <a:solidFill>
                            <a:schemeClr val="dk1"/>
                          </a:solidFill>
                          <a:effectLst/>
                        </a:rPr>
                        <a:t> are null) </a:t>
                      </a:r>
                      <a:endParaRPr lang="en-NZ" sz="1400" i="0"/>
                    </a:p>
                  </a:txBody>
                  <a:tcPr/>
                </a:tc>
                <a:extLst>
                  <a:ext uri="{0D108BD9-81ED-4DB2-BD59-A6C34878D82A}">
                    <a16:rowId xmlns:a16="http://schemas.microsoft.com/office/drawing/2014/main" val="2114708048"/>
                  </a:ext>
                </a:extLst>
              </a:tr>
              <a:tr h="876195">
                <a:tc>
                  <a:txBody>
                    <a:bodyPr/>
                    <a:lstStyle/>
                    <a:p>
                      <a:r>
                        <a:rPr lang="en-US" sz="1400"/>
                        <a:t>8</a:t>
                      </a:r>
                      <a:endParaRPr lang="en-NZ" sz="1400"/>
                    </a:p>
                  </a:txBody>
                  <a:tcPr/>
                </a:tc>
                <a:tc>
                  <a:txBody>
                    <a:bodyPr/>
                    <a:lstStyle/>
                    <a:p>
                      <a:r>
                        <a:rPr lang="en-US" sz="1400" b="1" err="1"/>
                        <a:t>requiredDate</a:t>
                      </a:r>
                      <a:r>
                        <a:rPr lang="en-US" sz="1400" b="1"/>
                        <a:t>, </a:t>
                      </a:r>
                      <a:r>
                        <a:rPr lang="en-US" sz="1400" b="1" err="1"/>
                        <a:t>shippedDate</a:t>
                      </a:r>
                      <a:r>
                        <a:rPr lang="en-US" sz="1400" b="1"/>
                        <a:t> </a:t>
                      </a:r>
                      <a:endParaRPr lang="en-NZ" sz="1400" b="1"/>
                    </a:p>
                  </a:txBody>
                  <a:tcPr/>
                </a:tc>
                <a:tc>
                  <a:txBody>
                    <a:bodyPr/>
                    <a:lstStyle/>
                    <a:p>
                      <a:r>
                        <a:rPr lang="en-US" sz="1400" err="1"/>
                        <a:t>ProductOrder</a:t>
                      </a:r>
                      <a:endParaRPr lang="en-NZ"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chemeClr val="accent5">
                              <a:lumMod val="75000"/>
                            </a:schemeClr>
                          </a:solidFill>
                        </a:rPr>
                        <a:t>Fix </a:t>
                      </a:r>
                      <a:endParaRPr lang="en-NZ" sz="1400">
                        <a:solidFill>
                          <a:schemeClr val="accent5">
                            <a:lumMod val="75000"/>
                          </a:schemeClr>
                        </a:solidFill>
                      </a:endParaRPr>
                    </a:p>
                    <a:p>
                      <a:endParaRPr lang="en-NZ"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sz="1400" kern="1200">
                          <a:solidFill>
                            <a:schemeClr val="dk1"/>
                          </a:solidFill>
                          <a:effectLst/>
                        </a:rPr>
                        <a:t>if</a:t>
                      </a:r>
                      <a:r>
                        <a:rPr lang="en-NZ" sz="1400" b="1" kern="1200">
                          <a:solidFill>
                            <a:schemeClr val="dk1"/>
                          </a:solidFill>
                          <a:effectLst/>
                        </a:rPr>
                        <a:t> </a:t>
                      </a:r>
                      <a:r>
                        <a:rPr lang="en-NZ" sz="1400" kern="1200" err="1">
                          <a:solidFill>
                            <a:schemeClr val="dk1"/>
                          </a:solidFill>
                          <a:effectLst/>
                        </a:rPr>
                        <a:t>orderDate</a:t>
                      </a:r>
                      <a:r>
                        <a:rPr lang="en-NZ" sz="1400" kern="1200">
                          <a:solidFill>
                            <a:schemeClr val="dk1"/>
                          </a:solidFill>
                          <a:effectLst/>
                        </a:rPr>
                        <a:t> greater than </a:t>
                      </a:r>
                      <a:r>
                        <a:rPr lang="en-NZ" sz="1400" b="1" kern="1200" err="1">
                          <a:solidFill>
                            <a:schemeClr val="dk1"/>
                          </a:solidFill>
                          <a:effectLst/>
                        </a:rPr>
                        <a:t>requiredDate</a:t>
                      </a:r>
                      <a:r>
                        <a:rPr lang="en-NZ" sz="1400" b="1" kern="1200">
                          <a:solidFill>
                            <a:schemeClr val="dk1"/>
                          </a:solidFill>
                          <a:effectLst/>
                        </a:rPr>
                        <a:t> </a:t>
                      </a:r>
                      <a:r>
                        <a:rPr lang="en-NZ" sz="1400" b="0" kern="1200">
                          <a:solidFill>
                            <a:schemeClr val="dk1"/>
                          </a:solidFill>
                          <a:effectLst/>
                        </a:rPr>
                        <a:t>or if </a:t>
                      </a:r>
                      <a:r>
                        <a:rPr lang="en-NZ" sz="1400" b="1" kern="1200" err="1">
                          <a:solidFill>
                            <a:schemeClr val="dk1"/>
                          </a:solidFill>
                          <a:effectLst/>
                        </a:rPr>
                        <a:t>requiredDate</a:t>
                      </a:r>
                      <a:r>
                        <a:rPr lang="en-NZ" sz="1400" b="1" kern="1200">
                          <a:solidFill>
                            <a:schemeClr val="dk1"/>
                          </a:solidFill>
                          <a:effectLst/>
                        </a:rPr>
                        <a:t> </a:t>
                      </a:r>
                      <a:r>
                        <a:rPr lang="en-NZ" sz="1400" b="0" kern="1200">
                          <a:solidFill>
                            <a:schemeClr val="dk1"/>
                          </a:solidFill>
                          <a:effectLst/>
                        </a:rPr>
                        <a:t>null replace </a:t>
                      </a:r>
                      <a:r>
                        <a:rPr lang="en-NZ" sz="1400" kern="1200">
                          <a:solidFill>
                            <a:schemeClr val="dk1"/>
                          </a:solidFill>
                          <a:effectLst/>
                        </a:rPr>
                        <a:t>orderDate+7</a:t>
                      </a:r>
                    </a:p>
                    <a:p>
                      <a:pPr marL="0" marR="0" lvl="0" indent="0" algn="l" defTabSz="914400" rtl="0" eaLnBrk="1" fontAlgn="auto" latinLnBrk="0" hangingPunct="1">
                        <a:lnSpc>
                          <a:spcPct val="100000"/>
                        </a:lnSpc>
                        <a:spcBef>
                          <a:spcPts val="0"/>
                        </a:spcBef>
                        <a:spcAft>
                          <a:spcPts val="0"/>
                        </a:spcAft>
                        <a:buClrTx/>
                        <a:buSzTx/>
                        <a:buFontTx/>
                        <a:buNone/>
                        <a:tabLst/>
                        <a:defRPr/>
                      </a:pPr>
                      <a:r>
                        <a:rPr lang="en-NZ" sz="1400" kern="1200">
                          <a:solidFill>
                            <a:schemeClr val="dk1"/>
                          </a:solidFill>
                          <a:effectLst/>
                        </a:rPr>
                        <a:t>if </a:t>
                      </a:r>
                      <a:r>
                        <a:rPr lang="en-NZ" sz="1400" kern="1200" err="1">
                          <a:solidFill>
                            <a:schemeClr val="dk1"/>
                          </a:solidFill>
                          <a:effectLst/>
                        </a:rPr>
                        <a:t>orderDate</a:t>
                      </a:r>
                      <a:r>
                        <a:rPr lang="en-NZ" sz="1400" kern="1200">
                          <a:solidFill>
                            <a:schemeClr val="dk1"/>
                          </a:solidFill>
                          <a:effectLst/>
                        </a:rPr>
                        <a:t> greater than </a:t>
                      </a:r>
                      <a:r>
                        <a:rPr lang="en-NZ" sz="1400" b="1" kern="1200" err="1">
                          <a:solidFill>
                            <a:schemeClr val="dk1"/>
                          </a:solidFill>
                          <a:effectLst/>
                        </a:rPr>
                        <a:t>shippedDate</a:t>
                      </a:r>
                      <a:r>
                        <a:rPr lang="en-NZ" sz="1400" kern="1200">
                          <a:solidFill>
                            <a:schemeClr val="dk1"/>
                          </a:solidFill>
                          <a:effectLst/>
                        </a:rPr>
                        <a:t> or </a:t>
                      </a:r>
                      <a:r>
                        <a:rPr lang="en-NZ" sz="1400" b="1" kern="1200" err="1">
                          <a:solidFill>
                            <a:schemeClr val="dk1"/>
                          </a:solidFill>
                          <a:effectLst/>
                        </a:rPr>
                        <a:t>shippedDate</a:t>
                      </a:r>
                      <a:r>
                        <a:rPr lang="en-NZ" sz="1400" kern="1200">
                          <a:solidFill>
                            <a:schemeClr val="dk1"/>
                          </a:solidFill>
                          <a:effectLst/>
                        </a:rPr>
                        <a:t> null and status is ='Shipped’ replace orderDate+2</a:t>
                      </a:r>
                    </a:p>
                  </a:txBody>
                  <a:tcPr/>
                </a:tc>
                <a:extLst>
                  <a:ext uri="{0D108BD9-81ED-4DB2-BD59-A6C34878D82A}">
                    <a16:rowId xmlns:a16="http://schemas.microsoft.com/office/drawing/2014/main" val="1442231999"/>
                  </a:ext>
                </a:extLst>
              </a:tr>
              <a:tr h="282643">
                <a:tc rowSpan="2">
                  <a:txBody>
                    <a:bodyPr/>
                    <a:lstStyle/>
                    <a:p>
                      <a:r>
                        <a:rPr lang="en-US" sz="1400"/>
                        <a:t>9</a:t>
                      </a:r>
                      <a:endParaRPr lang="en-NZ" sz="1400"/>
                    </a:p>
                  </a:txBody>
                  <a:tcPr/>
                </a:tc>
                <a:tc rowSpan="2">
                  <a:txBody>
                    <a:bodyPr/>
                    <a:lstStyle/>
                    <a:p>
                      <a:r>
                        <a:rPr lang="en-US" sz="1400" b="1"/>
                        <a:t>amount</a:t>
                      </a:r>
                      <a:endParaRPr lang="en-NZ" sz="1400" b="1"/>
                    </a:p>
                  </a:txBody>
                  <a:tcPr/>
                </a:tc>
                <a:tc rowSpan="2">
                  <a:txBody>
                    <a:bodyPr/>
                    <a:lstStyle/>
                    <a:p>
                      <a:r>
                        <a:rPr lang="en-US" sz="1400"/>
                        <a:t>Payment</a:t>
                      </a:r>
                      <a:endParaRPr lang="en-NZ" sz="1400"/>
                    </a:p>
                  </a:txBody>
                  <a:tcPr/>
                </a:tc>
                <a:tc>
                  <a:txBody>
                    <a:bodyPr/>
                    <a:lstStyle/>
                    <a:p>
                      <a:r>
                        <a:rPr lang="en-US" sz="1400">
                          <a:solidFill>
                            <a:srgbClr val="FF0000"/>
                          </a:solidFill>
                        </a:rPr>
                        <a:t>Reject </a:t>
                      </a:r>
                      <a:endParaRPr lang="en-NZ" sz="1400">
                        <a:solidFill>
                          <a:srgbClr val="FF0000"/>
                        </a:solidFill>
                      </a:endParaRPr>
                    </a:p>
                  </a:txBody>
                  <a:tcPr/>
                </a:tc>
                <a:tc>
                  <a:txBody>
                    <a:bodyPr/>
                    <a:lstStyle/>
                    <a:p>
                      <a:r>
                        <a:rPr lang="en-US" sz="1400"/>
                        <a:t>If </a:t>
                      </a:r>
                      <a:r>
                        <a:rPr lang="en-US" sz="1400" err="1"/>
                        <a:t>buyPrice</a:t>
                      </a:r>
                      <a:r>
                        <a:rPr lang="en-US" sz="1400"/>
                        <a:t> is 0 or Null</a:t>
                      </a:r>
                      <a:endParaRPr lang="en-NZ" sz="1400"/>
                    </a:p>
                  </a:txBody>
                  <a:tcPr/>
                </a:tc>
                <a:extLst>
                  <a:ext uri="{0D108BD9-81ED-4DB2-BD59-A6C34878D82A}">
                    <a16:rowId xmlns:a16="http://schemas.microsoft.com/office/drawing/2014/main" val="667099904"/>
                  </a:ext>
                </a:extLst>
              </a:tr>
              <a:tr h="267008">
                <a:tc vMerge="1">
                  <a:txBody>
                    <a:bodyPr/>
                    <a:lstStyle/>
                    <a:p>
                      <a:endParaRPr lang="en-NZ"/>
                    </a:p>
                  </a:txBody>
                  <a:tcPr/>
                </a:tc>
                <a:tc vMerge="1">
                  <a:txBody>
                    <a:bodyPr/>
                    <a:lstStyle/>
                    <a:p>
                      <a:endParaRPr lang="en-NZ"/>
                    </a:p>
                  </a:txBody>
                  <a:tcPr/>
                </a:tc>
                <a:tc vMerge="1">
                  <a:txBody>
                    <a:bodyPr/>
                    <a:lstStyle/>
                    <a:p>
                      <a:endParaRPr lang="en-NZ"/>
                    </a:p>
                  </a:txBody>
                  <a:tcPr/>
                </a:tc>
                <a:tc>
                  <a:txBody>
                    <a:bodyPr/>
                    <a:lstStyle/>
                    <a:p>
                      <a:r>
                        <a:rPr lang="en-US" sz="1400">
                          <a:solidFill>
                            <a:schemeClr val="accent5">
                              <a:lumMod val="75000"/>
                            </a:schemeClr>
                          </a:solidFill>
                        </a:rPr>
                        <a:t>Fix </a:t>
                      </a:r>
                      <a:endParaRPr lang="en-NZ" sz="1400">
                        <a:solidFill>
                          <a:schemeClr val="accent5">
                            <a:lumMod val="75000"/>
                          </a:schemeClr>
                        </a:solidFill>
                      </a:endParaRPr>
                    </a:p>
                  </a:txBody>
                  <a:tcPr/>
                </a:tc>
                <a:tc>
                  <a:txBody>
                    <a:bodyPr/>
                    <a:lstStyle/>
                    <a:p>
                      <a:r>
                        <a:rPr lang="en-NZ" sz="1400" kern="1200">
                          <a:solidFill>
                            <a:schemeClr val="dk1"/>
                          </a:solidFill>
                          <a:effectLst/>
                        </a:rPr>
                        <a:t>if </a:t>
                      </a:r>
                      <a:r>
                        <a:rPr lang="en-NZ" sz="1400" b="1" kern="1200" err="1">
                          <a:solidFill>
                            <a:schemeClr val="dk1"/>
                          </a:solidFill>
                          <a:effectLst/>
                        </a:rPr>
                        <a:t>paymentDate</a:t>
                      </a:r>
                      <a:r>
                        <a:rPr lang="en-NZ" sz="1400" b="1" kern="1200">
                          <a:solidFill>
                            <a:schemeClr val="dk1"/>
                          </a:solidFill>
                          <a:effectLst/>
                        </a:rPr>
                        <a:t> </a:t>
                      </a:r>
                      <a:r>
                        <a:rPr lang="en-NZ" sz="1400" kern="1200">
                          <a:solidFill>
                            <a:schemeClr val="dk1"/>
                          </a:solidFill>
                          <a:effectLst/>
                        </a:rPr>
                        <a:t>is negative, need to convert to positive number </a:t>
                      </a:r>
                      <a:endParaRPr lang="en-NZ" sz="1400"/>
                    </a:p>
                  </a:txBody>
                  <a:tcPr/>
                </a:tc>
                <a:extLst>
                  <a:ext uri="{0D108BD9-81ED-4DB2-BD59-A6C34878D82A}">
                    <a16:rowId xmlns:a16="http://schemas.microsoft.com/office/drawing/2014/main" val="2239958149"/>
                  </a:ext>
                </a:extLst>
              </a:tr>
              <a:tr h="175150">
                <a:tc>
                  <a:txBody>
                    <a:bodyPr/>
                    <a:lstStyle/>
                    <a:p>
                      <a:r>
                        <a:rPr lang="en-US" sz="1400"/>
                        <a:t>10</a:t>
                      </a:r>
                      <a:endParaRPr lang="en-NZ" sz="1400"/>
                    </a:p>
                  </a:txBody>
                  <a:tcPr/>
                </a:tc>
                <a:tc>
                  <a:txBody>
                    <a:bodyPr/>
                    <a:lstStyle/>
                    <a:p>
                      <a:r>
                        <a:rPr lang="en-US" sz="1400" b="1" err="1"/>
                        <a:t>paymentDate</a:t>
                      </a:r>
                      <a:endParaRPr lang="en-NZ" sz="1400" b="1"/>
                    </a:p>
                  </a:txBody>
                  <a:tcPr/>
                </a:tc>
                <a:tc>
                  <a:txBody>
                    <a:bodyPr/>
                    <a:lstStyle/>
                    <a:p>
                      <a:r>
                        <a:rPr lang="en-US" sz="1400"/>
                        <a:t>Payment</a:t>
                      </a:r>
                      <a:endParaRPr lang="en-NZ" sz="1400"/>
                    </a:p>
                  </a:txBody>
                  <a:tcPr/>
                </a:tc>
                <a:tc>
                  <a:txBody>
                    <a:bodyPr/>
                    <a:lstStyle/>
                    <a:p>
                      <a:r>
                        <a:rPr lang="en-US" sz="1400">
                          <a:solidFill>
                            <a:srgbClr val="FF0000"/>
                          </a:solidFill>
                        </a:rPr>
                        <a:t>Reject</a:t>
                      </a:r>
                      <a:endParaRPr lang="en-NZ" sz="1400">
                        <a:solidFill>
                          <a:srgbClr val="FF0000"/>
                        </a:solidFill>
                      </a:endParaRPr>
                    </a:p>
                  </a:txBody>
                  <a:tcPr/>
                </a:tc>
                <a:tc>
                  <a:txBody>
                    <a:bodyPr/>
                    <a:lstStyle/>
                    <a:p>
                      <a:r>
                        <a:rPr lang="en-US" sz="1400"/>
                        <a:t>if </a:t>
                      </a:r>
                      <a:r>
                        <a:rPr lang="en-US" sz="1400" b="1" err="1"/>
                        <a:t>paymentDate</a:t>
                      </a:r>
                      <a:r>
                        <a:rPr lang="en-US" sz="1400" b="1"/>
                        <a:t> </a:t>
                      </a:r>
                      <a:r>
                        <a:rPr lang="en-US" sz="1400" b="0"/>
                        <a:t>greater than </a:t>
                      </a:r>
                      <a:r>
                        <a:rPr lang="en-US" sz="1400" b="1" err="1"/>
                        <a:t>orderDate</a:t>
                      </a:r>
                      <a:r>
                        <a:rPr lang="en-US" sz="1400" b="0"/>
                        <a:t>, Reject it. </a:t>
                      </a:r>
                      <a:endParaRPr lang="en-NZ" sz="1400"/>
                    </a:p>
                  </a:txBody>
                  <a:tcPr/>
                </a:tc>
                <a:extLst>
                  <a:ext uri="{0D108BD9-81ED-4DB2-BD59-A6C34878D82A}">
                    <a16:rowId xmlns:a16="http://schemas.microsoft.com/office/drawing/2014/main" val="3290767769"/>
                  </a:ext>
                </a:extLst>
              </a:tr>
            </a:tbl>
          </a:graphicData>
        </a:graphic>
      </p:graphicFrame>
    </p:spTree>
    <p:extLst>
      <p:ext uri="{BB962C8B-B14F-4D97-AF65-F5344CB8AC3E}">
        <p14:creationId xmlns:p14="http://schemas.microsoft.com/office/powerpoint/2010/main" val="311741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E01C4818-1DE8-A50B-7F1D-AB805CB265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1742" y="2490148"/>
            <a:ext cx="5391902" cy="2457793"/>
          </a:xfrm>
          <a:prstGeom prst="rect">
            <a:avLst/>
          </a:prstGeom>
        </p:spPr>
      </p:pic>
      <p:pic>
        <p:nvPicPr>
          <p:cNvPr id="51" name="Picture 50">
            <a:extLst>
              <a:ext uri="{FF2B5EF4-FFF2-40B4-BE49-F238E27FC236}">
                <a16:creationId xmlns:a16="http://schemas.microsoft.com/office/drawing/2014/main" id="{B57F9767-8991-68F3-EA3B-243EF50A75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5300" y="1915637"/>
            <a:ext cx="10307488" cy="3743847"/>
          </a:xfrm>
          <a:prstGeom prst="rect">
            <a:avLst/>
          </a:prstGeom>
        </p:spPr>
      </p:pic>
      <p:pic>
        <p:nvPicPr>
          <p:cNvPr id="49" name="Picture 48">
            <a:extLst>
              <a:ext uri="{FF2B5EF4-FFF2-40B4-BE49-F238E27FC236}">
                <a16:creationId xmlns:a16="http://schemas.microsoft.com/office/drawing/2014/main" id="{7A8B4382-171A-FB19-4510-4B2A7D878B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7285" y="1443374"/>
            <a:ext cx="8497486" cy="2981741"/>
          </a:xfrm>
          <a:prstGeom prst="rect">
            <a:avLst/>
          </a:prstGeom>
        </p:spPr>
      </p:pic>
      <p:pic>
        <p:nvPicPr>
          <p:cNvPr id="47" name="Picture 46">
            <a:extLst>
              <a:ext uri="{FF2B5EF4-FFF2-40B4-BE49-F238E27FC236}">
                <a16:creationId xmlns:a16="http://schemas.microsoft.com/office/drawing/2014/main" id="{5B138E04-EDCA-A2BE-6A1B-2DEF528FF82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5434" y="971412"/>
            <a:ext cx="5934903" cy="2419688"/>
          </a:xfrm>
          <a:prstGeom prst="rect">
            <a:avLst/>
          </a:prstGeom>
        </p:spPr>
      </p:pic>
      <p:pic>
        <p:nvPicPr>
          <p:cNvPr id="45" name="Picture 44">
            <a:extLst>
              <a:ext uri="{FF2B5EF4-FFF2-40B4-BE49-F238E27FC236}">
                <a16:creationId xmlns:a16="http://schemas.microsoft.com/office/drawing/2014/main" id="{1BADCD09-63DE-8ADF-47E7-46D213E1AD0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03241" y="3058767"/>
            <a:ext cx="8135485" cy="2838846"/>
          </a:xfrm>
          <a:prstGeom prst="rect">
            <a:avLst/>
          </a:prstGeom>
        </p:spPr>
      </p:pic>
      <p:pic>
        <p:nvPicPr>
          <p:cNvPr id="43" name="Picture 42">
            <a:extLst>
              <a:ext uri="{FF2B5EF4-FFF2-40B4-BE49-F238E27FC236}">
                <a16:creationId xmlns:a16="http://schemas.microsoft.com/office/drawing/2014/main" id="{19687A4E-E989-9BE7-8685-C9CA846963B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28522" y="2628788"/>
            <a:ext cx="6134956" cy="1600423"/>
          </a:xfrm>
          <a:prstGeom prst="rect">
            <a:avLst/>
          </a:prstGeom>
        </p:spPr>
      </p:pic>
      <p:sp useBgFill="1">
        <p:nvSpPr>
          <p:cNvPr id="16" name="Rectangle 15">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QL Tutorial - GeeksforGeeks">
            <a:extLst>
              <a:ext uri="{FF2B5EF4-FFF2-40B4-BE49-F238E27FC236}">
                <a16:creationId xmlns:a16="http://schemas.microsoft.com/office/drawing/2014/main" id="{8148216C-AFB6-7DCD-DFCF-97AEAC084080}"/>
              </a:ext>
            </a:extLst>
          </p:cNvPr>
          <p:cNvPicPr>
            <a:picLocks noGrp="1" noRot="1" noChangeAspect="1" noMove="1" noResize="1" noEditPoints="1" noAdjustHandles="1" noChangeArrowheads="1" noChangeShapeType="1" noCrop="1"/>
          </p:cNvPicPr>
          <p:nvPr/>
        </p:nvPicPr>
        <p:blipFill rotWithShape="1">
          <a:blip r:embed="rId9">
            <a:extLst>
              <a:ext uri="{BEBA8EAE-BF5A-486C-A8C5-ECC9F3942E4B}">
                <a14:imgProps xmlns:a14="http://schemas.microsoft.com/office/drawing/2010/main">
                  <a14:imgLayer r:embed="rId10">
                    <a14:imgEffect>
                      <a14:brightnessContrast bright="-20000" contrast="-40000"/>
                    </a14:imgEffect>
                  </a14:imgLayer>
                </a14:imgProps>
              </a:ext>
              <a:ext uri="{28A0092B-C50C-407E-A947-70E740481C1C}">
                <a14:useLocalDpi xmlns:a14="http://schemas.microsoft.com/office/drawing/2010/main" val="0"/>
              </a:ext>
            </a:extLst>
          </a:blip>
          <a:srcRect l="5586" r="10861" b="3"/>
          <a:stretch/>
        </p:blipFill>
        <p:spPr bwMode="auto">
          <a:xfrm>
            <a:off x="20" y="-22"/>
            <a:ext cx="12191977" cy="6858022"/>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79EA150-9322-8BCD-E460-FF81CE4D26B2}"/>
              </a:ext>
            </a:extLst>
          </p:cNvPr>
          <p:cNvSpPr txBox="1"/>
          <p:nvPr/>
        </p:nvSpPr>
        <p:spPr>
          <a:xfrm>
            <a:off x="643466" y="643467"/>
            <a:ext cx="5452529" cy="3569242"/>
          </a:xfrm>
          <a:prstGeom prst="rect">
            <a:avLst/>
          </a:prstGeom>
        </p:spPr>
        <p:txBody>
          <a:bodyPr vert="horz" lIns="91440" tIns="45720" rIns="91440" bIns="45720" rtlCol="0" anchor="t">
            <a:normAutofit/>
          </a:bodyPr>
          <a:lstStyle/>
          <a:p>
            <a:pPr>
              <a:lnSpc>
                <a:spcPct val="90000"/>
              </a:lnSpc>
              <a:spcBef>
                <a:spcPct val="0"/>
              </a:spcBef>
              <a:spcAft>
                <a:spcPts val="600"/>
              </a:spcAft>
            </a:pPr>
            <a:endParaRPr lang="en-US" sz="4800">
              <a:solidFill>
                <a:srgbClr val="FFFFFF"/>
              </a:solidFill>
              <a:latin typeface="+mj-lt"/>
              <a:ea typeface="+mj-ea"/>
              <a:cs typeface="+mj-cs"/>
            </a:endParaRPr>
          </a:p>
        </p:txBody>
      </p:sp>
      <p:sp>
        <p:nvSpPr>
          <p:cNvPr id="18" name="Rectangle 17">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52D44D2-9C6F-6A92-E494-3CBBA163D9F5}"/>
              </a:ext>
            </a:extLst>
          </p:cNvPr>
          <p:cNvSpPr txBox="1"/>
          <p:nvPr/>
        </p:nvSpPr>
        <p:spPr>
          <a:xfrm>
            <a:off x="202647" y="356419"/>
            <a:ext cx="738664" cy="6186309"/>
          </a:xfrm>
          <a:prstGeom prst="rect">
            <a:avLst/>
          </a:prstGeom>
          <a:noFill/>
        </p:spPr>
        <p:txBody>
          <a:bodyPr vert="vert270" wrap="square" rtlCol="0">
            <a:spAutoFit/>
          </a:bodyPr>
          <a:lstStyle/>
          <a:p>
            <a:r>
              <a:rPr lang="en-NZ" sz="3600" b="1">
                <a:solidFill>
                  <a:schemeClr val="bg1"/>
                </a:solidFill>
              </a:rPr>
              <a:t>DQ LOG QUERY</a:t>
            </a:r>
          </a:p>
        </p:txBody>
      </p:sp>
      <p:pic>
        <p:nvPicPr>
          <p:cNvPr id="57" name="Picture 56" descr="A screenshot of a computer code&#10;&#10;Description automatically generated">
            <a:extLst>
              <a:ext uri="{FF2B5EF4-FFF2-40B4-BE49-F238E27FC236}">
                <a16:creationId xmlns:a16="http://schemas.microsoft.com/office/drawing/2014/main" id="{8C87C8A9-53CB-FA04-0D7B-24ACB67810B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58540" y="1392378"/>
            <a:ext cx="8135485" cy="3914359"/>
          </a:xfrm>
          <a:prstGeom prst="rect">
            <a:avLst/>
          </a:prstGeom>
        </p:spPr>
      </p:pic>
      <p:cxnSp>
        <p:nvCxnSpPr>
          <p:cNvPr id="60" name="Straight Connector 59">
            <a:extLst>
              <a:ext uri="{FF2B5EF4-FFF2-40B4-BE49-F238E27FC236}">
                <a16:creationId xmlns:a16="http://schemas.microsoft.com/office/drawing/2014/main" id="{1116B725-B9A0-A456-853B-C7BF8998C693}"/>
              </a:ext>
            </a:extLst>
          </p:cNvPr>
          <p:cNvCxnSpPr/>
          <p:nvPr/>
        </p:nvCxnSpPr>
        <p:spPr>
          <a:xfrm>
            <a:off x="-3050" y="1371600"/>
            <a:ext cx="1219200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594D9C5D-CA64-04F6-6ECA-00B54B06A9C2}"/>
              </a:ext>
            </a:extLst>
          </p:cNvPr>
          <p:cNvCxnSpPr/>
          <p:nvPr/>
        </p:nvCxnSpPr>
        <p:spPr>
          <a:xfrm>
            <a:off x="2235200" y="-22"/>
            <a:ext cx="0" cy="6858022"/>
          </a:xfrm>
          <a:prstGeom prst="line">
            <a:avLst/>
          </a:prstGeom>
        </p:spPr>
        <p:style>
          <a:lnRef idx="2">
            <a:schemeClr val="accent1"/>
          </a:lnRef>
          <a:fillRef idx="0">
            <a:schemeClr val="accent1"/>
          </a:fillRef>
          <a:effectRef idx="1">
            <a:schemeClr val="accent1"/>
          </a:effectRef>
          <a:fontRef idx="minor">
            <a:schemeClr val="tx1"/>
          </a:fontRef>
        </p:style>
      </p:cxnSp>
      <p:pic>
        <p:nvPicPr>
          <p:cNvPr id="64" name="Picture 63" descr="A screenshot of a computer code&#10;&#10;Description automatically generated">
            <a:extLst>
              <a:ext uri="{FF2B5EF4-FFF2-40B4-BE49-F238E27FC236}">
                <a16:creationId xmlns:a16="http://schemas.microsoft.com/office/drawing/2014/main" id="{5167C3EA-BE8A-2316-B6AF-943F4DB34F1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59353" y="1392368"/>
            <a:ext cx="8106701" cy="3555571"/>
          </a:xfrm>
          <a:prstGeom prst="rect">
            <a:avLst/>
          </a:prstGeom>
        </p:spPr>
      </p:pic>
      <p:pic>
        <p:nvPicPr>
          <p:cNvPr id="66" name="Picture 65" descr="A screen shot of a computer&#10;&#10;Description automatically generated">
            <a:extLst>
              <a:ext uri="{FF2B5EF4-FFF2-40B4-BE49-F238E27FC236}">
                <a16:creationId xmlns:a16="http://schemas.microsoft.com/office/drawing/2014/main" id="{E74B8D8F-6D3D-2367-0E51-07722624742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260202" y="1371591"/>
            <a:ext cx="9522818" cy="3128166"/>
          </a:xfrm>
          <a:prstGeom prst="rect">
            <a:avLst/>
          </a:prstGeom>
        </p:spPr>
      </p:pic>
      <p:pic>
        <p:nvPicPr>
          <p:cNvPr id="68" name="Picture 67" descr="A screenshot of a computer&#10;&#10;Description automatically generated">
            <a:extLst>
              <a:ext uri="{FF2B5EF4-FFF2-40B4-BE49-F238E27FC236}">
                <a16:creationId xmlns:a16="http://schemas.microsoft.com/office/drawing/2014/main" id="{1DC77D1C-F922-42BF-AB85-75C5B13008D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72358" y="1368732"/>
            <a:ext cx="9400665" cy="2452347"/>
          </a:xfrm>
          <a:prstGeom prst="rect">
            <a:avLst/>
          </a:prstGeom>
        </p:spPr>
      </p:pic>
      <p:pic>
        <p:nvPicPr>
          <p:cNvPr id="70" name="Picture 69" descr="A screenshot of a computer program&#10;&#10;Description automatically generated">
            <a:extLst>
              <a:ext uri="{FF2B5EF4-FFF2-40B4-BE49-F238E27FC236}">
                <a16:creationId xmlns:a16="http://schemas.microsoft.com/office/drawing/2014/main" id="{34974826-B138-E866-A2BA-1024F3ED49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44960" y="1390364"/>
            <a:ext cx="9587729" cy="3345601"/>
          </a:xfrm>
          <a:prstGeom prst="rect">
            <a:avLst/>
          </a:prstGeom>
        </p:spPr>
      </p:pic>
      <p:pic>
        <p:nvPicPr>
          <p:cNvPr id="72" name="Picture 71" descr="A screenshot of a computer code&#10;&#10;Description automatically generated">
            <a:extLst>
              <a:ext uri="{FF2B5EF4-FFF2-40B4-BE49-F238E27FC236}">
                <a16:creationId xmlns:a16="http://schemas.microsoft.com/office/drawing/2014/main" id="{2588565A-4EBE-A10D-C3FC-A560A536F7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22689" y="1367871"/>
            <a:ext cx="9661073" cy="3938865"/>
          </a:xfrm>
          <a:prstGeom prst="rect">
            <a:avLst/>
          </a:prstGeom>
        </p:spPr>
      </p:pic>
      <p:pic>
        <p:nvPicPr>
          <p:cNvPr id="74" name="Picture 73" descr="A computer screen with text&#10;&#10;Description automatically generated">
            <a:extLst>
              <a:ext uri="{FF2B5EF4-FFF2-40B4-BE49-F238E27FC236}">
                <a16:creationId xmlns:a16="http://schemas.microsoft.com/office/drawing/2014/main" id="{F10158F5-4403-5A0F-EE33-D1E1DF0ED4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30746" y="1380771"/>
            <a:ext cx="9691042" cy="3400556"/>
          </a:xfrm>
          <a:prstGeom prst="rect">
            <a:avLst/>
          </a:prstGeom>
        </p:spPr>
      </p:pic>
      <p:pic>
        <p:nvPicPr>
          <p:cNvPr id="76" name="Picture 75" descr="A screenshot of a computer program&#10;&#10;Description automatically generated">
            <a:extLst>
              <a:ext uri="{FF2B5EF4-FFF2-40B4-BE49-F238E27FC236}">
                <a16:creationId xmlns:a16="http://schemas.microsoft.com/office/drawing/2014/main" id="{60990D4C-72D0-7E83-B725-D14A2C4B07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4534" y="1367863"/>
            <a:ext cx="9835734" cy="3572498"/>
          </a:xfrm>
          <a:prstGeom prst="rect">
            <a:avLst/>
          </a:prstGeom>
        </p:spPr>
      </p:pic>
      <p:pic>
        <p:nvPicPr>
          <p:cNvPr id="78" name="Picture 77" descr="A screenshot of a computer code&#10;&#10;Description automatically generated">
            <a:extLst>
              <a:ext uri="{FF2B5EF4-FFF2-40B4-BE49-F238E27FC236}">
                <a16:creationId xmlns:a16="http://schemas.microsoft.com/office/drawing/2014/main" id="{BA7B3BF3-C474-399C-DCD1-EF0EFBA112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4331" y="1361172"/>
            <a:ext cx="9429629" cy="4298312"/>
          </a:xfrm>
          <a:prstGeom prst="rect">
            <a:avLst/>
          </a:prstGeom>
        </p:spPr>
      </p:pic>
      <p:pic>
        <p:nvPicPr>
          <p:cNvPr id="5" name="Picture 4">
            <a:extLst>
              <a:ext uri="{FF2B5EF4-FFF2-40B4-BE49-F238E27FC236}">
                <a16:creationId xmlns:a16="http://schemas.microsoft.com/office/drawing/2014/main" id="{AFAB7E8D-73F0-48DC-40A8-F67289D05504}"/>
              </a:ext>
            </a:extLst>
          </p:cNvPr>
          <p:cNvPicPr>
            <a:picLocks noChangeAspect="1"/>
          </p:cNvPicPr>
          <p:nvPr/>
        </p:nvPicPr>
        <p:blipFill>
          <a:blip r:embed="rId14"/>
          <a:stretch>
            <a:fillRect/>
          </a:stretch>
        </p:blipFill>
        <p:spPr>
          <a:xfrm>
            <a:off x="2223283" y="1360756"/>
            <a:ext cx="9831870" cy="2317391"/>
          </a:xfrm>
          <a:prstGeom prst="rect">
            <a:avLst/>
          </a:prstGeom>
        </p:spPr>
      </p:pic>
      <p:pic>
        <p:nvPicPr>
          <p:cNvPr id="6" name="Picture 5">
            <a:extLst>
              <a:ext uri="{FF2B5EF4-FFF2-40B4-BE49-F238E27FC236}">
                <a16:creationId xmlns:a16="http://schemas.microsoft.com/office/drawing/2014/main" id="{C8394602-03A8-CAA0-6E52-A2654C64CBDB}"/>
              </a:ext>
            </a:extLst>
          </p:cNvPr>
          <p:cNvPicPr>
            <a:picLocks noChangeAspect="1"/>
          </p:cNvPicPr>
          <p:nvPr/>
        </p:nvPicPr>
        <p:blipFill>
          <a:blip r:embed="rId15"/>
          <a:stretch>
            <a:fillRect/>
          </a:stretch>
        </p:blipFill>
        <p:spPr>
          <a:xfrm>
            <a:off x="2213626" y="1367932"/>
            <a:ext cx="7373379" cy="1505160"/>
          </a:xfrm>
          <a:prstGeom prst="rect">
            <a:avLst/>
          </a:prstGeom>
        </p:spPr>
      </p:pic>
    </p:spTree>
    <p:extLst>
      <p:ext uri="{BB962C8B-B14F-4D97-AF65-F5344CB8AC3E}">
        <p14:creationId xmlns:p14="http://schemas.microsoft.com/office/powerpoint/2010/main" val="103984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6"/>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fade">
                                      <p:cBhvr>
                                        <p:cTn id="16" dur="500"/>
                                        <p:tgtEl>
                                          <p:spTgt spid="5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5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nodeType="clickEffect">
                                  <p:stCondLst>
                                    <p:cond delay="0"/>
                                  </p:stCondLst>
                                  <p:childTnLst>
                                    <p:set>
                                      <p:cBhvr>
                                        <p:cTn id="29" dur="1" fill="hold">
                                          <p:stCondLst>
                                            <p:cond delay="0"/>
                                          </p:stCondLst>
                                        </p:cTn>
                                        <p:tgtEl>
                                          <p:spTgt spid="64"/>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6"/>
                                        </p:tgtEl>
                                        <p:attrNameLst>
                                          <p:attrName>style.visibility</p:attrName>
                                        </p:attrNameLst>
                                      </p:cBhvr>
                                      <p:to>
                                        <p:strVal val="visible"/>
                                      </p:to>
                                    </p:set>
                                    <p:animEffect transition="in" filter="fade">
                                      <p:cBhvr>
                                        <p:cTn id="34" dur="500"/>
                                        <p:tgtEl>
                                          <p:spTgt spid="6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6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fade">
                                      <p:cBhvr>
                                        <p:cTn id="43" dur="500"/>
                                        <p:tgtEl>
                                          <p:spTgt spid="68"/>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nodeType="clickEffect">
                                  <p:stCondLst>
                                    <p:cond delay="0"/>
                                  </p:stCondLst>
                                  <p:childTnLst>
                                    <p:set>
                                      <p:cBhvr>
                                        <p:cTn id="47" dur="1" fill="hold">
                                          <p:stCondLst>
                                            <p:cond delay="0"/>
                                          </p:stCondLst>
                                        </p:cTn>
                                        <p:tgtEl>
                                          <p:spTgt spid="68"/>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0"/>
                                        </p:tgtEl>
                                        <p:attrNameLst>
                                          <p:attrName>style.visibility</p:attrName>
                                        </p:attrNameLst>
                                      </p:cBhvr>
                                      <p:to>
                                        <p:strVal val="visible"/>
                                      </p:to>
                                    </p:set>
                                    <p:animEffect transition="in" filter="fade">
                                      <p:cBhvr>
                                        <p:cTn id="52" dur="500"/>
                                        <p:tgtEl>
                                          <p:spTgt spid="70"/>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70"/>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72"/>
                                        </p:tgtEl>
                                        <p:attrNameLst>
                                          <p:attrName>style.visibility</p:attrName>
                                        </p:attrNameLst>
                                      </p:cBhvr>
                                      <p:to>
                                        <p:strVal val="visible"/>
                                      </p:to>
                                    </p:set>
                                    <p:animEffect transition="in" filter="fade">
                                      <p:cBhvr>
                                        <p:cTn id="61" dur="500"/>
                                        <p:tgtEl>
                                          <p:spTgt spid="72"/>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72"/>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74"/>
                                        </p:tgtEl>
                                        <p:attrNameLst>
                                          <p:attrName>style.visibility</p:attrName>
                                        </p:attrNameLst>
                                      </p:cBhvr>
                                      <p:to>
                                        <p:strVal val="visible"/>
                                      </p:to>
                                    </p:set>
                                    <p:animEffect transition="in" filter="fade">
                                      <p:cBhvr>
                                        <p:cTn id="70" dur="500"/>
                                        <p:tgtEl>
                                          <p:spTgt spid="74"/>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nodeType="clickEffect">
                                  <p:stCondLst>
                                    <p:cond delay="0"/>
                                  </p:stCondLst>
                                  <p:childTnLst>
                                    <p:set>
                                      <p:cBhvr>
                                        <p:cTn id="74" dur="1" fill="hold">
                                          <p:stCondLst>
                                            <p:cond delay="0"/>
                                          </p:stCondLst>
                                        </p:cTn>
                                        <p:tgtEl>
                                          <p:spTgt spid="7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76"/>
                                        </p:tgtEl>
                                        <p:attrNameLst>
                                          <p:attrName>style.visibility</p:attrName>
                                        </p:attrNameLst>
                                      </p:cBhvr>
                                      <p:to>
                                        <p:strVal val="visible"/>
                                      </p:to>
                                    </p:set>
                                    <p:animEffect transition="in" filter="fade">
                                      <p:cBhvr>
                                        <p:cTn id="79" dur="500"/>
                                        <p:tgtEl>
                                          <p:spTgt spid="76"/>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nodeType="clickEffect">
                                  <p:stCondLst>
                                    <p:cond delay="0"/>
                                  </p:stCondLst>
                                  <p:childTnLst>
                                    <p:set>
                                      <p:cBhvr>
                                        <p:cTn id="83" dur="1" fill="hold">
                                          <p:stCondLst>
                                            <p:cond delay="0"/>
                                          </p:stCondLst>
                                        </p:cTn>
                                        <p:tgtEl>
                                          <p:spTgt spid="76"/>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78"/>
                                        </p:tgtEl>
                                        <p:attrNameLst>
                                          <p:attrName>style.visibility</p:attrName>
                                        </p:attrNameLst>
                                      </p:cBhvr>
                                      <p:to>
                                        <p:strVal val="visible"/>
                                      </p:to>
                                    </p:set>
                                    <p:animEffect transition="in" filter="fade">
                                      <p:cBhvr>
                                        <p:cTn id="88" dur="500"/>
                                        <p:tgtEl>
                                          <p:spTgt spid="78"/>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78"/>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5"/>
                                        </p:tgtEl>
                                        <p:attrNameLst>
                                          <p:attrName>style.visibility</p:attrName>
                                        </p:attrNameLst>
                                      </p:cBhvr>
                                      <p:to>
                                        <p:strVal val="visible"/>
                                      </p:to>
                                    </p:set>
                                    <p:animEffect transition="in" filter="fade">
                                      <p:cBhvr>
                                        <p:cTn id="97" dur="500"/>
                                        <p:tgtEl>
                                          <p:spTgt spid="5"/>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nodeType="clickEffect">
                                  <p:stCondLst>
                                    <p:cond delay="0"/>
                                  </p:stCondLst>
                                  <p:childTnLst>
                                    <p:set>
                                      <p:cBhvr>
                                        <p:cTn id="101"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QL Tutorial - GeeksforGeeks">
            <a:extLst>
              <a:ext uri="{FF2B5EF4-FFF2-40B4-BE49-F238E27FC236}">
                <a16:creationId xmlns:a16="http://schemas.microsoft.com/office/drawing/2014/main" id="{8148216C-AFB6-7DCD-DFCF-97AEAC084080}"/>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5586" r="10861" b="3"/>
          <a:stretch/>
        </p:blipFill>
        <p:spPr bwMode="auto">
          <a:xfrm>
            <a:off x="20" y="-22"/>
            <a:ext cx="12191977" cy="6858022"/>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79EA150-9322-8BCD-E460-FF81CE4D26B2}"/>
              </a:ext>
            </a:extLst>
          </p:cNvPr>
          <p:cNvSpPr txBox="1"/>
          <p:nvPr/>
        </p:nvSpPr>
        <p:spPr>
          <a:xfrm>
            <a:off x="643466" y="643467"/>
            <a:ext cx="5452529" cy="3569242"/>
          </a:xfrm>
          <a:prstGeom prst="rect">
            <a:avLst/>
          </a:prstGeom>
        </p:spPr>
        <p:txBody>
          <a:bodyPr vert="horz" lIns="91440" tIns="45720" rIns="91440" bIns="45720" rtlCol="0" anchor="t">
            <a:normAutofit/>
          </a:bodyPr>
          <a:lstStyle/>
          <a:p>
            <a:pPr>
              <a:lnSpc>
                <a:spcPct val="90000"/>
              </a:lnSpc>
              <a:spcBef>
                <a:spcPct val="0"/>
              </a:spcBef>
              <a:spcAft>
                <a:spcPts val="600"/>
              </a:spcAft>
            </a:pPr>
            <a:endParaRPr lang="en-US" sz="4800">
              <a:solidFill>
                <a:srgbClr val="FFFFFF"/>
              </a:solidFill>
              <a:latin typeface="+mj-lt"/>
              <a:ea typeface="+mj-ea"/>
              <a:cs typeface="+mj-cs"/>
            </a:endParaRPr>
          </a:p>
        </p:txBody>
      </p:sp>
      <p:sp>
        <p:nvSpPr>
          <p:cNvPr id="18" name="Rectangle 17">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463B311-4191-4F38-290D-AA64E65F78E6}"/>
              </a:ext>
            </a:extLst>
          </p:cNvPr>
          <p:cNvSpPr txBox="1"/>
          <p:nvPr/>
        </p:nvSpPr>
        <p:spPr>
          <a:xfrm>
            <a:off x="1978296" y="375552"/>
            <a:ext cx="7932287" cy="646331"/>
          </a:xfrm>
          <a:prstGeom prst="rect">
            <a:avLst/>
          </a:prstGeom>
          <a:noFill/>
        </p:spPr>
        <p:txBody>
          <a:bodyPr wrap="square" rtlCol="0">
            <a:spAutoFit/>
          </a:bodyPr>
          <a:lstStyle/>
          <a:p>
            <a:pPr algn="ctr"/>
            <a:r>
              <a:rPr lang="en-NZ" sz="3600" b="1">
                <a:solidFill>
                  <a:schemeClr val="bg1"/>
                </a:solidFill>
                <a:latin typeface="+mj-lt"/>
              </a:rPr>
              <a:t>Data</a:t>
            </a:r>
            <a:r>
              <a:rPr lang="ko-KR" altLang="en-US" sz="3600" b="1">
                <a:solidFill>
                  <a:schemeClr val="bg1"/>
                </a:solidFill>
                <a:latin typeface="+mj-lt"/>
              </a:rPr>
              <a:t> </a:t>
            </a:r>
            <a:r>
              <a:rPr lang="en-NZ" altLang="ko-KR" sz="3600" b="1">
                <a:solidFill>
                  <a:schemeClr val="bg1"/>
                </a:solidFill>
                <a:latin typeface="+mj-lt"/>
              </a:rPr>
              <a:t>Quantity Actions Summary Table</a:t>
            </a:r>
            <a:endParaRPr lang="en-NZ" sz="3600" b="1">
              <a:solidFill>
                <a:schemeClr val="bg1"/>
              </a:solidFill>
              <a:latin typeface="+mj-lt"/>
            </a:endParaRPr>
          </a:p>
        </p:txBody>
      </p:sp>
      <p:pic>
        <p:nvPicPr>
          <p:cNvPr id="8" name="Picture 7">
            <a:extLst>
              <a:ext uri="{FF2B5EF4-FFF2-40B4-BE49-F238E27FC236}">
                <a16:creationId xmlns:a16="http://schemas.microsoft.com/office/drawing/2014/main" id="{FF323026-BAD7-351B-999E-63FB0336D12E}"/>
              </a:ext>
            </a:extLst>
          </p:cNvPr>
          <p:cNvPicPr>
            <a:picLocks noChangeAspect="1"/>
          </p:cNvPicPr>
          <p:nvPr/>
        </p:nvPicPr>
        <p:blipFill>
          <a:blip r:embed="rId5"/>
          <a:stretch>
            <a:fillRect/>
          </a:stretch>
        </p:blipFill>
        <p:spPr>
          <a:xfrm>
            <a:off x="1766867" y="1159161"/>
            <a:ext cx="6096851" cy="685896"/>
          </a:xfrm>
          <a:prstGeom prst="rect">
            <a:avLst/>
          </a:prstGeom>
        </p:spPr>
      </p:pic>
      <p:pic>
        <p:nvPicPr>
          <p:cNvPr id="10" name="Picture 9">
            <a:extLst>
              <a:ext uri="{FF2B5EF4-FFF2-40B4-BE49-F238E27FC236}">
                <a16:creationId xmlns:a16="http://schemas.microsoft.com/office/drawing/2014/main" id="{D347714D-F808-0D56-F8B2-406085103E75}"/>
              </a:ext>
            </a:extLst>
          </p:cNvPr>
          <p:cNvPicPr>
            <a:picLocks noChangeAspect="1"/>
          </p:cNvPicPr>
          <p:nvPr/>
        </p:nvPicPr>
        <p:blipFill>
          <a:blip r:embed="rId6"/>
          <a:stretch>
            <a:fillRect/>
          </a:stretch>
        </p:blipFill>
        <p:spPr>
          <a:xfrm>
            <a:off x="1793445" y="1865367"/>
            <a:ext cx="3086531" cy="1409897"/>
          </a:xfrm>
          <a:prstGeom prst="rect">
            <a:avLst/>
          </a:prstGeom>
        </p:spPr>
      </p:pic>
      <p:pic>
        <p:nvPicPr>
          <p:cNvPr id="7" name="Picture 6">
            <a:extLst>
              <a:ext uri="{FF2B5EF4-FFF2-40B4-BE49-F238E27FC236}">
                <a16:creationId xmlns:a16="http://schemas.microsoft.com/office/drawing/2014/main" id="{5A215AFF-7D2C-52CB-90B3-37E0F2AF18AC}"/>
              </a:ext>
            </a:extLst>
          </p:cNvPr>
          <p:cNvPicPr>
            <a:picLocks noChangeAspect="1"/>
          </p:cNvPicPr>
          <p:nvPr/>
        </p:nvPicPr>
        <p:blipFill>
          <a:blip r:embed="rId7"/>
          <a:stretch>
            <a:fillRect/>
          </a:stretch>
        </p:blipFill>
        <p:spPr>
          <a:xfrm>
            <a:off x="1769913" y="1159170"/>
            <a:ext cx="8261741" cy="5192650"/>
          </a:xfrm>
          <a:prstGeom prst="rect">
            <a:avLst/>
          </a:prstGeom>
        </p:spPr>
      </p:pic>
    </p:spTree>
    <p:extLst>
      <p:ext uri="{BB962C8B-B14F-4D97-AF65-F5344CB8AC3E}">
        <p14:creationId xmlns:p14="http://schemas.microsoft.com/office/powerpoint/2010/main" val="413827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13B4A9-1C7C-4729-A016-AB42D397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SQL Tutorial - GeeksforGeeks">
            <a:extLst>
              <a:ext uri="{FF2B5EF4-FFF2-40B4-BE49-F238E27FC236}">
                <a16:creationId xmlns:a16="http://schemas.microsoft.com/office/drawing/2014/main" id="{6D92DEC4-DCB8-7C49-9AD7-91CCB413F265}"/>
              </a:ext>
            </a:extLst>
          </p:cNvPr>
          <p:cNvPicPr>
            <a:picLocks noGrp="1" noRot="1" noChangeAspect="1" noMove="1" noResize="1" noEditPoints="1" noAdjustHandles="1" noChangeArrowheads="1" noChangeShapeType="1" noCrop="1"/>
          </p:cNvPicPr>
          <p:nvPr/>
        </p:nvPicPr>
        <p:blipFill rotWithShape="1">
          <a:blip r:embed="rId3">
            <a:alphaModFix amt="50000"/>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l="6715" r="11984" b="-3"/>
          <a:stretch/>
        </p:blipFill>
        <p:spPr bwMode="auto">
          <a:xfrm>
            <a:off x="7146414" y="10"/>
            <a:ext cx="5045585" cy="2916926"/>
          </a:xfrm>
          <a:custGeom>
            <a:avLst/>
            <a:gdLst/>
            <a:ahLst/>
            <a:cxnLst/>
            <a:rect l="l" t="t" r="r" b="b"/>
            <a:pathLst>
              <a:path w="11862684" h="6858000">
                <a:moveTo>
                  <a:pt x="1047342" y="0"/>
                </a:moveTo>
                <a:lnTo>
                  <a:pt x="4590463" y="0"/>
                </a:lnTo>
                <a:lnTo>
                  <a:pt x="5499874" y="0"/>
                </a:lnTo>
                <a:lnTo>
                  <a:pt x="5723425" y="0"/>
                </a:lnTo>
                <a:lnTo>
                  <a:pt x="7580390" y="0"/>
                </a:lnTo>
                <a:lnTo>
                  <a:pt x="7747884" y="0"/>
                </a:lnTo>
                <a:lnTo>
                  <a:pt x="7824084" y="0"/>
                </a:lnTo>
                <a:lnTo>
                  <a:pt x="11862684" y="0"/>
                </a:lnTo>
                <a:lnTo>
                  <a:pt x="11862684" y="6858000"/>
                </a:lnTo>
                <a:lnTo>
                  <a:pt x="7824084" y="6858000"/>
                </a:lnTo>
                <a:lnTo>
                  <a:pt x="7747884" y="6858000"/>
                </a:lnTo>
                <a:lnTo>
                  <a:pt x="7580390" y="6858000"/>
                </a:lnTo>
                <a:lnTo>
                  <a:pt x="5723425" y="6858000"/>
                </a:lnTo>
                <a:lnTo>
                  <a:pt x="5499874" y="6858000"/>
                </a:lnTo>
                <a:lnTo>
                  <a:pt x="4590463" y="6858000"/>
                </a:lnTo>
                <a:lnTo>
                  <a:pt x="1654188" y="6858000"/>
                </a:lnTo>
                <a:cubicBezTo>
                  <a:pt x="1530404" y="6786859"/>
                  <a:pt x="1412658" y="6701489"/>
                  <a:pt x="1279816" y="6658805"/>
                </a:cubicBezTo>
                <a:cubicBezTo>
                  <a:pt x="1189242" y="6630349"/>
                  <a:pt x="1101686" y="6580550"/>
                  <a:pt x="1116783" y="6431153"/>
                </a:cubicBezTo>
                <a:cubicBezTo>
                  <a:pt x="1119802" y="6388469"/>
                  <a:pt x="1095648" y="6356456"/>
                  <a:pt x="1059419" y="6367127"/>
                </a:cubicBezTo>
                <a:cubicBezTo>
                  <a:pt x="989979" y="6388469"/>
                  <a:pt x="956768" y="6327999"/>
                  <a:pt x="917520" y="6281757"/>
                </a:cubicBezTo>
                <a:cubicBezTo>
                  <a:pt x="848079" y="6199945"/>
                  <a:pt x="781658" y="6114575"/>
                  <a:pt x="669950" y="6100347"/>
                </a:cubicBezTo>
                <a:cubicBezTo>
                  <a:pt x="691084" y="6036320"/>
                  <a:pt x="727312" y="6043434"/>
                  <a:pt x="760524" y="6057663"/>
                </a:cubicBezTo>
                <a:cubicBezTo>
                  <a:pt x="848079" y="6093234"/>
                  <a:pt x="935634" y="6132361"/>
                  <a:pt x="1023188" y="6167932"/>
                </a:cubicBezTo>
                <a:cubicBezTo>
                  <a:pt x="1080552" y="6189274"/>
                  <a:pt x="1137916" y="6221287"/>
                  <a:pt x="1213395" y="6196388"/>
                </a:cubicBezTo>
                <a:cubicBezTo>
                  <a:pt x="1146974" y="6068335"/>
                  <a:pt x="1035266" y="6043434"/>
                  <a:pt x="944692" y="6004307"/>
                </a:cubicBezTo>
                <a:cubicBezTo>
                  <a:pt x="832982" y="5954508"/>
                  <a:pt x="766562" y="5862025"/>
                  <a:pt x="685045" y="5755314"/>
                </a:cubicBezTo>
                <a:cubicBezTo>
                  <a:pt x="766562" y="5726858"/>
                  <a:pt x="817887" y="5805112"/>
                  <a:pt x="884310" y="5801555"/>
                </a:cubicBezTo>
                <a:cubicBezTo>
                  <a:pt x="887328" y="5790884"/>
                  <a:pt x="893366" y="5769542"/>
                  <a:pt x="893366" y="5769542"/>
                </a:cubicBezTo>
                <a:cubicBezTo>
                  <a:pt x="784676" y="5712629"/>
                  <a:pt x="736372" y="5605917"/>
                  <a:pt x="718256" y="5474306"/>
                </a:cubicBezTo>
                <a:cubicBezTo>
                  <a:pt x="712218" y="5406721"/>
                  <a:pt x="672970" y="5385379"/>
                  <a:pt x="633720" y="5353367"/>
                </a:cubicBezTo>
                <a:cubicBezTo>
                  <a:pt x="500878" y="5243097"/>
                  <a:pt x="358980" y="5143500"/>
                  <a:pt x="247270" y="4994104"/>
                </a:cubicBezTo>
                <a:cubicBezTo>
                  <a:pt x="377094" y="5011889"/>
                  <a:pt x="479744" y="5111487"/>
                  <a:pt x="615606" y="5154171"/>
                </a:cubicBezTo>
                <a:cubicBezTo>
                  <a:pt x="506917" y="4990547"/>
                  <a:pt x="365016" y="4905177"/>
                  <a:pt x="235194" y="4805580"/>
                </a:cubicBezTo>
                <a:cubicBezTo>
                  <a:pt x="174810" y="4759339"/>
                  <a:pt x="120468" y="4702425"/>
                  <a:pt x="51026" y="4677526"/>
                </a:cubicBezTo>
                <a:cubicBezTo>
                  <a:pt x="26873" y="4670412"/>
                  <a:pt x="-15396" y="4652628"/>
                  <a:pt x="5740" y="4602828"/>
                </a:cubicBezTo>
                <a:cubicBezTo>
                  <a:pt x="23854" y="4560144"/>
                  <a:pt x="57065" y="4574373"/>
                  <a:pt x="87257" y="4585042"/>
                </a:cubicBezTo>
                <a:cubicBezTo>
                  <a:pt x="159715" y="4613499"/>
                  <a:pt x="238213" y="4613499"/>
                  <a:pt x="337844" y="4613499"/>
                </a:cubicBezTo>
                <a:cubicBezTo>
                  <a:pt x="253310" y="4478331"/>
                  <a:pt x="99332" y="4521016"/>
                  <a:pt x="26873" y="4378734"/>
                </a:cubicBezTo>
                <a:cubicBezTo>
                  <a:pt x="117448" y="4353835"/>
                  <a:pt x="186888" y="4403633"/>
                  <a:pt x="259346" y="4414305"/>
                </a:cubicBezTo>
                <a:cubicBezTo>
                  <a:pt x="325769" y="4424975"/>
                  <a:pt x="340863" y="4400076"/>
                  <a:pt x="325769" y="4321821"/>
                </a:cubicBezTo>
                <a:cubicBezTo>
                  <a:pt x="301616" y="4200882"/>
                  <a:pt x="337844" y="4140411"/>
                  <a:pt x="434458" y="4172424"/>
                </a:cubicBezTo>
                <a:cubicBezTo>
                  <a:pt x="525031" y="4204438"/>
                  <a:pt x="534089" y="4158196"/>
                  <a:pt x="509936" y="4090612"/>
                </a:cubicBezTo>
                <a:cubicBezTo>
                  <a:pt x="473706" y="3991015"/>
                  <a:pt x="512954" y="3912759"/>
                  <a:pt x="540128" y="3827390"/>
                </a:cubicBezTo>
                <a:cubicBezTo>
                  <a:pt x="582395" y="3699337"/>
                  <a:pt x="564281" y="3635309"/>
                  <a:pt x="476725" y="3539269"/>
                </a:cubicBezTo>
                <a:cubicBezTo>
                  <a:pt x="425400" y="3485914"/>
                  <a:pt x="374074" y="3439672"/>
                  <a:pt x="301616" y="3393429"/>
                </a:cubicBezTo>
                <a:cubicBezTo>
                  <a:pt x="467668" y="3368530"/>
                  <a:pt x="295577" y="3283162"/>
                  <a:pt x="352940" y="3229805"/>
                </a:cubicBezTo>
                <a:cubicBezTo>
                  <a:pt x="470686" y="3208463"/>
                  <a:pt x="564281" y="3379202"/>
                  <a:pt x="724294" y="3329402"/>
                </a:cubicBezTo>
                <a:cubicBezTo>
                  <a:pt x="531070" y="3183563"/>
                  <a:pt x="313691" y="3137322"/>
                  <a:pt x="171792" y="2941684"/>
                </a:cubicBezTo>
                <a:cubicBezTo>
                  <a:pt x="205002" y="2899000"/>
                  <a:pt x="238213" y="2941684"/>
                  <a:pt x="265385" y="2923898"/>
                </a:cubicBezTo>
                <a:cubicBezTo>
                  <a:pt x="265385" y="2913227"/>
                  <a:pt x="582395" y="2980812"/>
                  <a:pt x="600510" y="2703362"/>
                </a:cubicBezTo>
                <a:cubicBezTo>
                  <a:pt x="606548" y="2703362"/>
                  <a:pt x="612587" y="2703362"/>
                  <a:pt x="618624" y="2692689"/>
                </a:cubicBezTo>
                <a:cubicBezTo>
                  <a:pt x="651834" y="2653563"/>
                  <a:pt x="621644" y="2561080"/>
                  <a:pt x="675988" y="2553965"/>
                </a:cubicBezTo>
                <a:cubicBezTo>
                  <a:pt x="736372" y="2546851"/>
                  <a:pt x="793735" y="2514837"/>
                  <a:pt x="857136" y="2532623"/>
                </a:cubicBezTo>
                <a:cubicBezTo>
                  <a:pt x="905443" y="2546851"/>
                  <a:pt x="956768" y="2564636"/>
                  <a:pt x="1008094" y="2564636"/>
                </a:cubicBezTo>
                <a:cubicBezTo>
                  <a:pt x="1062438" y="2564636"/>
                  <a:pt x="1137916" y="2685576"/>
                  <a:pt x="1171128" y="2525509"/>
                </a:cubicBezTo>
                <a:cubicBezTo>
                  <a:pt x="1171128" y="2518395"/>
                  <a:pt x="1264720" y="2536181"/>
                  <a:pt x="1316045" y="2543294"/>
                </a:cubicBezTo>
                <a:cubicBezTo>
                  <a:pt x="1358314" y="2550408"/>
                  <a:pt x="1409640" y="2582422"/>
                  <a:pt x="1439830" y="2518395"/>
                </a:cubicBezTo>
                <a:cubicBezTo>
                  <a:pt x="1454926" y="2479267"/>
                  <a:pt x="1382466" y="2408126"/>
                  <a:pt x="1319065" y="2401012"/>
                </a:cubicBezTo>
                <a:cubicBezTo>
                  <a:pt x="1261702" y="2393898"/>
                  <a:pt x="1204338" y="2386784"/>
                  <a:pt x="1149994" y="2401012"/>
                </a:cubicBezTo>
                <a:cubicBezTo>
                  <a:pt x="1083572" y="2418796"/>
                  <a:pt x="1047342" y="2390340"/>
                  <a:pt x="1029227" y="2326314"/>
                </a:cubicBezTo>
                <a:cubicBezTo>
                  <a:pt x="1008094" y="2258731"/>
                  <a:pt x="968844" y="2223159"/>
                  <a:pt x="914500" y="2191146"/>
                </a:cubicBezTo>
                <a:cubicBezTo>
                  <a:pt x="781658" y="2112891"/>
                  <a:pt x="654854" y="2020407"/>
                  <a:pt x="509936" y="1974165"/>
                </a:cubicBezTo>
                <a:cubicBezTo>
                  <a:pt x="482764" y="1967051"/>
                  <a:pt x="449553" y="1952823"/>
                  <a:pt x="437476" y="1892353"/>
                </a:cubicBezTo>
                <a:cubicBezTo>
                  <a:pt x="829964" y="1984836"/>
                  <a:pt x="1186222" y="2223159"/>
                  <a:pt x="1590788" y="2208931"/>
                </a:cubicBezTo>
                <a:cubicBezTo>
                  <a:pt x="1482098" y="2134233"/>
                  <a:pt x="1352276" y="2130676"/>
                  <a:pt x="1234528" y="2077320"/>
                </a:cubicBezTo>
                <a:cubicBezTo>
                  <a:pt x="1319065" y="2038192"/>
                  <a:pt x="1397562" y="2080877"/>
                  <a:pt x="1476060" y="2102219"/>
                </a:cubicBezTo>
                <a:cubicBezTo>
                  <a:pt x="1542482" y="2120004"/>
                  <a:pt x="1602864" y="2123562"/>
                  <a:pt x="1608902" y="2013292"/>
                </a:cubicBezTo>
                <a:cubicBezTo>
                  <a:pt x="1608902" y="2002622"/>
                  <a:pt x="1608902" y="1995507"/>
                  <a:pt x="1608902" y="1984836"/>
                </a:cubicBezTo>
                <a:cubicBezTo>
                  <a:pt x="1584749" y="1938595"/>
                  <a:pt x="1551538" y="1917252"/>
                  <a:pt x="1509271" y="1903025"/>
                </a:cubicBezTo>
                <a:cubicBezTo>
                  <a:pt x="1485118" y="1895910"/>
                  <a:pt x="1451907" y="1881683"/>
                  <a:pt x="1451907" y="1849668"/>
                </a:cubicBezTo>
                <a:cubicBezTo>
                  <a:pt x="1454926" y="1728729"/>
                  <a:pt x="1373409" y="1693158"/>
                  <a:pt x="1294912" y="1657587"/>
                </a:cubicBezTo>
                <a:cubicBezTo>
                  <a:pt x="1337180" y="1597117"/>
                  <a:pt x="1373409" y="1639802"/>
                  <a:pt x="1406620" y="1636245"/>
                </a:cubicBezTo>
                <a:cubicBezTo>
                  <a:pt x="1427754" y="1632688"/>
                  <a:pt x="1448887" y="1629132"/>
                  <a:pt x="1448887" y="1597117"/>
                </a:cubicBezTo>
                <a:cubicBezTo>
                  <a:pt x="1448887" y="1572219"/>
                  <a:pt x="1439830" y="1540204"/>
                  <a:pt x="1418696" y="1540204"/>
                </a:cubicBezTo>
                <a:cubicBezTo>
                  <a:pt x="1285854" y="1536647"/>
                  <a:pt x="1210375" y="1365909"/>
                  <a:pt x="1071494" y="1365909"/>
                </a:cubicBezTo>
                <a:cubicBezTo>
                  <a:pt x="986960" y="1365909"/>
                  <a:pt x="1113764" y="1269868"/>
                  <a:pt x="1044324" y="1230741"/>
                </a:cubicBezTo>
                <a:cubicBezTo>
                  <a:pt x="1029227" y="1220069"/>
                  <a:pt x="1086591" y="1205842"/>
                  <a:pt x="1110744" y="1209399"/>
                </a:cubicBezTo>
                <a:cubicBezTo>
                  <a:pt x="1134897" y="1212955"/>
                  <a:pt x="1156032" y="1237855"/>
                  <a:pt x="1186222" y="1220069"/>
                </a:cubicBezTo>
                <a:cubicBezTo>
                  <a:pt x="1201318" y="1156043"/>
                  <a:pt x="1162069" y="1131144"/>
                  <a:pt x="1125840" y="1113358"/>
                </a:cubicBezTo>
                <a:cubicBezTo>
                  <a:pt x="1047342" y="1070674"/>
                  <a:pt x="968844" y="1020875"/>
                  <a:pt x="881290" y="1006647"/>
                </a:cubicBezTo>
                <a:cubicBezTo>
                  <a:pt x="851099" y="1003089"/>
                  <a:pt x="832982" y="985305"/>
                  <a:pt x="836002" y="949734"/>
                </a:cubicBezTo>
                <a:cubicBezTo>
                  <a:pt x="842040" y="903491"/>
                  <a:pt x="872232" y="917720"/>
                  <a:pt x="896385" y="921277"/>
                </a:cubicBezTo>
                <a:cubicBezTo>
                  <a:pt x="911482" y="924835"/>
                  <a:pt x="926577" y="935506"/>
                  <a:pt x="941672" y="910606"/>
                </a:cubicBezTo>
                <a:cubicBezTo>
                  <a:pt x="588434" y="658055"/>
                  <a:pt x="401247" y="672284"/>
                  <a:pt x="5740" y="465975"/>
                </a:cubicBezTo>
                <a:cubicBezTo>
                  <a:pt x="93294" y="426847"/>
                  <a:pt x="156696" y="455303"/>
                  <a:pt x="217079" y="462417"/>
                </a:cubicBezTo>
                <a:cubicBezTo>
                  <a:pt x="368036" y="480203"/>
                  <a:pt x="274442" y="512216"/>
                  <a:pt x="425400" y="533558"/>
                </a:cubicBezTo>
                <a:cubicBezTo>
                  <a:pt x="497860" y="544229"/>
                  <a:pt x="564281" y="579800"/>
                  <a:pt x="645798" y="522887"/>
                </a:cubicBezTo>
                <a:cubicBezTo>
                  <a:pt x="700142" y="483759"/>
                  <a:pt x="787696" y="526444"/>
                  <a:pt x="854118" y="558458"/>
                </a:cubicBezTo>
                <a:cubicBezTo>
                  <a:pt x="908462" y="586915"/>
                  <a:pt x="962806" y="594028"/>
                  <a:pt x="1035266" y="558458"/>
                </a:cubicBezTo>
                <a:cubicBezTo>
                  <a:pt x="968844" y="537116"/>
                  <a:pt x="917520" y="519330"/>
                  <a:pt x="866193" y="505101"/>
                </a:cubicBezTo>
                <a:cubicBezTo>
                  <a:pt x="823926" y="494431"/>
                  <a:pt x="799772" y="469532"/>
                  <a:pt x="802792" y="416176"/>
                </a:cubicBezTo>
                <a:cubicBezTo>
                  <a:pt x="802792" y="387720"/>
                  <a:pt x="793735" y="348592"/>
                  <a:pt x="823926" y="334364"/>
                </a:cubicBezTo>
                <a:cubicBezTo>
                  <a:pt x="848079" y="320135"/>
                  <a:pt x="881290" y="334364"/>
                  <a:pt x="893366" y="359262"/>
                </a:cubicBezTo>
                <a:cubicBezTo>
                  <a:pt x="908462" y="405504"/>
                  <a:pt x="923557" y="448189"/>
                  <a:pt x="974883" y="451747"/>
                </a:cubicBezTo>
                <a:cubicBezTo>
                  <a:pt x="1044324" y="458860"/>
                  <a:pt x="1005074" y="430405"/>
                  <a:pt x="992998" y="394834"/>
                </a:cubicBezTo>
                <a:cubicBezTo>
                  <a:pt x="980921" y="355706"/>
                  <a:pt x="1017152" y="345034"/>
                  <a:pt x="1041304" y="352148"/>
                </a:cubicBezTo>
                <a:cubicBezTo>
                  <a:pt x="1131878" y="384162"/>
                  <a:pt x="1225472" y="327250"/>
                  <a:pt x="1319065" y="373491"/>
                </a:cubicBezTo>
                <a:cubicBezTo>
                  <a:pt x="1294912" y="259665"/>
                  <a:pt x="1243586" y="209867"/>
                  <a:pt x="1134897" y="192082"/>
                </a:cubicBezTo>
                <a:cubicBezTo>
                  <a:pt x="1095648" y="188525"/>
                  <a:pt x="1053380" y="195638"/>
                  <a:pt x="1017152" y="163625"/>
                </a:cubicBezTo>
                <a:cubicBezTo>
                  <a:pt x="996016" y="145839"/>
                  <a:pt x="974883" y="124497"/>
                  <a:pt x="989979" y="88927"/>
                </a:cubicBezTo>
                <a:cubicBezTo>
                  <a:pt x="999036" y="64027"/>
                  <a:pt x="1023188" y="64027"/>
                  <a:pt x="1044324" y="71141"/>
                </a:cubicBezTo>
                <a:cubicBezTo>
                  <a:pt x="1131878" y="110269"/>
                  <a:pt x="1225472" y="120941"/>
                  <a:pt x="1316045" y="135168"/>
                </a:cubicBezTo>
                <a:cubicBezTo>
                  <a:pt x="1331142" y="138725"/>
                  <a:pt x="1346237" y="145839"/>
                  <a:pt x="1361334" y="110269"/>
                </a:cubicBezTo>
                <a:cubicBezTo>
                  <a:pt x="1255664" y="78255"/>
                  <a:pt x="1153012" y="35571"/>
                  <a:pt x="1047342" y="0"/>
                </a:cubicBezTo>
                <a:close/>
              </a:path>
            </a:pathLst>
          </a:cu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FD7C6481-EA55-9D74-A1D7-72DEEC822EF3}"/>
              </a:ext>
            </a:extLst>
          </p:cNvPr>
          <p:cNvSpPr txBox="1">
            <a:spLocks noGrp="1" noRot="1" noMove="1" noResize="1" noEditPoints="1" noAdjustHandles="1" noChangeArrowheads="1" noChangeShapeType="1"/>
          </p:cNvSpPr>
          <p:nvPr/>
        </p:nvSpPr>
        <p:spPr>
          <a:xfrm>
            <a:off x="2064904" y="233948"/>
            <a:ext cx="7932287" cy="646331"/>
          </a:xfrm>
          <a:prstGeom prst="rect">
            <a:avLst/>
          </a:prstGeom>
          <a:noFill/>
        </p:spPr>
        <p:txBody>
          <a:bodyPr wrap="square" rtlCol="0">
            <a:spAutoFit/>
          </a:bodyPr>
          <a:lstStyle/>
          <a:p>
            <a:pPr algn="ctr"/>
            <a:r>
              <a:rPr lang="en-US" sz="3600" b="1">
                <a:latin typeface="+mj-lt"/>
              </a:rPr>
              <a:t>Merge and Update</a:t>
            </a:r>
            <a:endParaRPr lang="en-NZ" sz="3600" b="1">
              <a:latin typeface="+mj-lt"/>
            </a:endParaRPr>
          </a:p>
        </p:txBody>
      </p:sp>
      <p:pic>
        <p:nvPicPr>
          <p:cNvPr id="4" name="Picture 3">
            <a:extLst>
              <a:ext uri="{FF2B5EF4-FFF2-40B4-BE49-F238E27FC236}">
                <a16:creationId xmlns:a16="http://schemas.microsoft.com/office/drawing/2014/main" id="{C06D5DCB-F43C-2021-62EB-EDC6AFF6D9B1}"/>
              </a:ext>
            </a:extLst>
          </p:cNvPr>
          <p:cNvPicPr>
            <a:picLocks noChangeAspect="1"/>
          </p:cNvPicPr>
          <p:nvPr/>
        </p:nvPicPr>
        <p:blipFill>
          <a:blip r:embed="rId5"/>
          <a:stretch>
            <a:fillRect/>
          </a:stretch>
        </p:blipFill>
        <p:spPr>
          <a:xfrm>
            <a:off x="7985485" y="981627"/>
            <a:ext cx="3896269" cy="4858428"/>
          </a:xfrm>
          <a:prstGeom prst="rect">
            <a:avLst/>
          </a:prstGeom>
        </p:spPr>
      </p:pic>
      <p:pic>
        <p:nvPicPr>
          <p:cNvPr id="18" name="Picture 17">
            <a:extLst>
              <a:ext uri="{FF2B5EF4-FFF2-40B4-BE49-F238E27FC236}">
                <a16:creationId xmlns:a16="http://schemas.microsoft.com/office/drawing/2014/main" id="{D71177A5-86F5-DC4D-15B2-9C7494B3274F}"/>
              </a:ext>
            </a:extLst>
          </p:cNvPr>
          <p:cNvPicPr>
            <a:picLocks noChangeAspect="1"/>
          </p:cNvPicPr>
          <p:nvPr/>
        </p:nvPicPr>
        <p:blipFill rotWithShape="1">
          <a:blip r:embed="rId6"/>
          <a:srcRect b="14113"/>
          <a:stretch/>
        </p:blipFill>
        <p:spPr>
          <a:xfrm>
            <a:off x="7982438" y="3941065"/>
            <a:ext cx="3820255" cy="2420032"/>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88905346-4E1D-B144-AB46-4F19435B0A7E}"/>
              </a:ext>
            </a:extLst>
          </p:cNvPr>
          <p:cNvPicPr>
            <a:picLocks noChangeAspect="1"/>
          </p:cNvPicPr>
          <p:nvPr/>
        </p:nvPicPr>
        <p:blipFill rotWithShape="1">
          <a:blip r:embed="rId7"/>
          <a:srcRect b="35246"/>
          <a:stretch/>
        </p:blipFill>
        <p:spPr>
          <a:xfrm>
            <a:off x="265914" y="3348613"/>
            <a:ext cx="3320924" cy="1761867"/>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21DC0EA0-4E07-0F7C-55C3-F5349B6AEB5A}"/>
              </a:ext>
            </a:extLst>
          </p:cNvPr>
          <p:cNvPicPr>
            <a:picLocks noChangeAspect="1"/>
          </p:cNvPicPr>
          <p:nvPr/>
        </p:nvPicPr>
        <p:blipFill rotWithShape="1">
          <a:blip r:embed="rId8"/>
          <a:srcRect b="29505"/>
          <a:stretch/>
        </p:blipFill>
        <p:spPr>
          <a:xfrm>
            <a:off x="120177" y="981627"/>
            <a:ext cx="3612397" cy="202978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6735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2"/>
                                        </p:tgtEl>
                                      </p:cBhvr>
                                      <p:by x="250000" y="250000"/>
                                    </p:animScale>
                                  </p:childTnLst>
                                </p:cTn>
                              </p:par>
                              <p:par>
                                <p:cTn id="7" presetID="50" presetClass="path" presetSubtype="0" accel="50000" decel="50000" fill="hold" nodeType="withEffect">
                                  <p:stCondLst>
                                    <p:cond delay="0"/>
                                  </p:stCondLst>
                                  <p:childTnLst>
                                    <p:animMotion origin="layout" path="M -2.70833E-6 -2.22222E-6 L 0.17474 -2.22222E-6 C 0.253 -2.22222E-6 0.34961 0.0632 0.34961 0.11459 L 0.34961 0.2294 " pathEditMode="relative" rAng="0" ptsTypes="AAAA">
                                      <p:cBhvr>
                                        <p:cTn id="8" dur="1100" fill="hold"/>
                                        <p:tgtEl>
                                          <p:spTgt spid="22"/>
                                        </p:tgtEl>
                                        <p:attrNameLst>
                                          <p:attrName>ppt_x</p:attrName>
                                          <p:attrName>ppt_y</p:attrName>
                                        </p:attrNameLst>
                                      </p:cBhvr>
                                      <p:rCtr x="17474" y="11458"/>
                                    </p:animMotion>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nodeType="clickEffect">
                                  <p:stCondLst>
                                    <p:cond delay="0"/>
                                  </p:stCondLst>
                                  <p:childTnLst>
                                    <p:animScale>
                                      <p:cBhvr>
                                        <p:cTn id="16" dur="2000" fill="hold"/>
                                        <p:tgtEl>
                                          <p:spTgt spid="14"/>
                                        </p:tgtEl>
                                      </p:cBhvr>
                                      <p:by x="250000" y="250000"/>
                                    </p:animScale>
                                  </p:childTnLst>
                                </p:cTn>
                              </p:par>
                              <p:par>
                                <p:cTn id="17" presetID="63" presetClass="path" presetSubtype="0" accel="50000" decel="50000" fill="hold" nodeType="withEffect">
                                  <p:stCondLst>
                                    <p:cond delay="0"/>
                                  </p:stCondLst>
                                  <p:childTnLst>
                                    <p:animMotion origin="layout" path="M -2.70833E-6 -4.07407E-6 L 0.33503 -0.19838 " pathEditMode="relative" rAng="0" ptsTypes="AA">
                                      <p:cBhvr>
                                        <p:cTn id="18" dur="1000" fill="hold"/>
                                        <p:tgtEl>
                                          <p:spTgt spid="14"/>
                                        </p:tgtEl>
                                        <p:attrNameLst>
                                          <p:attrName>ppt_x</p:attrName>
                                          <p:attrName>ppt_y</p:attrName>
                                        </p:attrNameLst>
                                      </p:cBhvr>
                                      <p:rCtr x="16745" y="-9931"/>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4"/>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18"/>
                                        </p:tgtEl>
                                      </p:cBhvr>
                                      <p:by x="250000" y="250000"/>
                                    </p:animScale>
                                  </p:childTnLst>
                                </p:cTn>
                              </p:par>
                              <p:par>
                                <p:cTn id="27" presetID="43" presetClass="path" presetSubtype="0" accel="50000" decel="50000" fill="hold" nodeType="withEffect">
                                  <p:stCondLst>
                                    <p:cond delay="0"/>
                                  </p:stCondLst>
                                  <p:childTnLst>
                                    <p:animMotion origin="layout" path="M 0.06627 0.01806 L -0.1112 0.01806 C -0.19063 0.01806 -0.28828 -0.04143 -0.28828 -0.08102 L -0.28828 -0.17291 " pathEditMode="relative" rAng="0" ptsTypes="AAAA">
                                      <p:cBhvr>
                                        <p:cTn id="28" dur="1200" fill="hold"/>
                                        <p:tgtEl>
                                          <p:spTgt spid="18"/>
                                        </p:tgtEl>
                                        <p:attrNameLst>
                                          <p:attrName>ppt_x</p:attrName>
                                          <p:attrName>ppt_y</p:attrName>
                                        </p:attrNameLst>
                                      </p:cBhvr>
                                      <p:rCtr x="-17734" y="-9560"/>
                                    </p:animMotion>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6" presetClass="emph" presetSubtype="0" fill="hold" nodeType="clickEffect">
                                  <p:stCondLst>
                                    <p:cond delay="0"/>
                                  </p:stCondLst>
                                  <p:childTnLst>
                                    <p:animScale>
                                      <p:cBhvr>
                                        <p:cTn id="36" dur="2000" fill="hold"/>
                                        <p:tgtEl>
                                          <p:spTgt spid="4"/>
                                        </p:tgtEl>
                                      </p:cBhvr>
                                      <p:by x="125000" y="125000"/>
                                    </p:animScale>
                                  </p:childTnLst>
                                </p:cTn>
                              </p:par>
                              <p:par>
                                <p:cTn id="37" presetID="50" presetClass="path" presetSubtype="0" accel="50000" decel="50000" fill="hold" nodeType="withEffect">
                                  <p:stCondLst>
                                    <p:cond delay="0"/>
                                  </p:stCondLst>
                                  <p:childTnLst>
                                    <p:animMotion origin="layout" path="M -3.54167E-6 -2.22222E-6 L -0.15664 -2.22222E-6 C -0.22682 -2.22222E-6 -0.31328 0.01945 -0.31328 0.03565 L -0.31328 0.0713 " pathEditMode="relative" rAng="0" ptsTypes="AAAA">
                                      <p:cBhvr>
                                        <p:cTn id="38" dur="1000" fill="hold"/>
                                        <p:tgtEl>
                                          <p:spTgt spid="4"/>
                                        </p:tgtEl>
                                        <p:attrNameLst>
                                          <p:attrName>ppt_x</p:attrName>
                                          <p:attrName>ppt_y</p:attrName>
                                        </p:attrNameLst>
                                      </p:cBhvr>
                                      <p:rCtr x="-15664" y="3565"/>
                                    </p:animMotion>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9A3573-81B7-17DF-5EBA-AA06FFB3A428}"/>
              </a:ext>
            </a:extLst>
          </p:cNvPr>
          <p:cNvPicPr>
            <a:picLocks noChangeAspect="1"/>
          </p:cNvPicPr>
          <p:nvPr/>
        </p:nvPicPr>
        <p:blipFill>
          <a:blip r:embed="rId3"/>
          <a:stretch>
            <a:fillRect/>
          </a:stretch>
        </p:blipFill>
        <p:spPr>
          <a:xfrm>
            <a:off x="227782" y="228600"/>
            <a:ext cx="5663542" cy="6325515"/>
          </a:xfrm>
          <a:prstGeom prst="rect">
            <a:avLst/>
          </a:prstGeom>
        </p:spPr>
      </p:pic>
      <p:pic>
        <p:nvPicPr>
          <p:cNvPr id="6" name="Picture 5">
            <a:extLst>
              <a:ext uri="{FF2B5EF4-FFF2-40B4-BE49-F238E27FC236}">
                <a16:creationId xmlns:a16="http://schemas.microsoft.com/office/drawing/2014/main" id="{E753B33E-549E-EDC9-422C-FECCFB870331}"/>
              </a:ext>
            </a:extLst>
          </p:cNvPr>
          <p:cNvPicPr>
            <a:picLocks noChangeAspect="1"/>
          </p:cNvPicPr>
          <p:nvPr/>
        </p:nvPicPr>
        <p:blipFill>
          <a:blip r:embed="rId4"/>
          <a:stretch>
            <a:fillRect/>
          </a:stretch>
        </p:blipFill>
        <p:spPr>
          <a:xfrm>
            <a:off x="4131036" y="4147457"/>
            <a:ext cx="7725342" cy="2244415"/>
          </a:xfrm>
          <a:prstGeom prst="rect">
            <a:avLst/>
          </a:prstGeom>
        </p:spPr>
      </p:pic>
    </p:spTree>
    <p:extLst>
      <p:ext uri="{BB962C8B-B14F-4D97-AF65-F5344CB8AC3E}">
        <p14:creationId xmlns:p14="http://schemas.microsoft.com/office/powerpoint/2010/main" val="1469545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QL Tutorial - GeeksforGeeks">
            <a:extLst>
              <a:ext uri="{FF2B5EF4-FFF2-40B4-BE49-F238E27FC236}">
                <a16:creationId xmlns:a16="http://schemas.microsoft.com/office/drawing/2014/main" id="{24570AAF-0F54-9785-55D8-F32905DC9E09}"/>
              </a:ext>
            </a:extLst>
          </p:cNvPr>
          <p:cNvPicPr>
            <a:picLocks noGrp="1" noRot="1" noChangeAspect="1" noMove="1" noResize="1" noEditPoints="1" noAdjustHandles="1" noChangeArrowheads="1" noChangeShapeType="1" noCrop="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3359" y="4234"/>
            <a:ext cx="12196312" cy="69617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FF256F5-CEC9-696B-47B1-480198045B40}"/>
              </a:ext>
            </a:extLst>
          </p:cNvPr>
          <p:cNvSpPr txBox="1"/>
          <p:nvPr/>
        </p:nvSpPr>
        <p:spPr>
          <a:xfrm>
            <a:off x="4910766" y="143349"/>
            <a:ext cx="2368061" cy="646331"/>
          </a:xfrm>
          <a:prstGeom prst="rect">
            <a:avLst/>
          </a:prstGeom>
          <a:noFill/>
        </p:spPr>
        <p:txBody>
          <a:bodyPr wrap="square" rtlCol="0">
            <a:spAutoFit/>
          </a:bodyPr>
          <a:lstStyle/>
          <a:p>
            <a:pPr algn="ctr"/>
            <a:r>
              <a:rPr lang="en-US" sz="3600" b="1">
                <a:latin typeface="+mj-lt"/>
              </a:rPr>
              <a:t>Update</a:t>
            </a:r>
            <a:endParaRPr lang="en-NZ" sz="3600" b="1">
              <a:latin typeface="+mj-lt"/>
            </a:endParaRPr>
          </a:p>
        </p:txBody>
      </p:sp>
      <p:pic>
        <p:nvPicPr>
          <p:cNvPr id="11" name="Picture 10">
            <a:extLst>
              <a:ext uri="{FF2B5EF4-FFF2-40B4-BE49-F238E27FC236}">
                <a16:creationId xmlns:a16="http://schemas.microsoft.com/office/drawing/2014/main" id="{86FF5C61-D4BF-E1DD-78CF-490458479B5E}"/>
              </a:ext>
            </a:extLst>
          </p:cNvPr>
          <p:cNvPicPr>
            <a:picLocks noChangeAspect="1"/>
          </p:cNvPicPr>
          <p:nvPr/>
        </p:nvPicPr>
        <p:blipFill>
          <a:blip r:embed="rId5"/>
          <a:stretch>
            <a:fillRect/>
          </a:stretch>
        </p:blipFill>
        <p:spPr>
          <a:xfrm>
            <a:off x="3134283" y="5648155"/>
            <a:ext cx="2086266" cy="895475"/>
          </a:xfrm>
          <a:prstGeom prst="rect">
            <a:avLst/>
          </a:prstGeom>
        </p:spPr>
      </p:pic>
      <p:pic>
        <p:nvPicPr>
          <p:cNvPr id="9" name="Picture 8">
            <a:extLst>
              <a:ext uri="{FF2B5EF4-FFF2-40B4-BE49-F238E27FC236}">
                <a16:creationId xmlns:a16="http://schemas.microsoft.com/office/drawing/2014/main" id="{2A7FECF7-0E2F-EE8A-BE40-F0936A2B65FB}"/>
              </a:ext>
            </a:extLst>
          </p:cNvPr>
          <p:cNvPicPr>
            <a:picLocks noChangeAspect="1"/>
          </p:cNvPicPr>
          <p:nvPr/>
        </p:nvPicPr>
        <p:blipFill>
          <a:blip r:embed="rId6"/>
          <a:stretch>
            <a:fillRect/>
          </a:stretch>
        </p:blipFill>
        <p:spPr>
          <a:xfrm>
            <a:off x="652209" y="5676735"/>
            <a:ext cx="2305372" cy="838317"/>
          </a:xfrm>
          <a:prstGeom prst="rect">
            <a:avLst/>
          </a:prstGeom>
        </p:spPr>
      </p:pic>
      <p:pic>
        <p:nvPicPr>
          <p:cNvPr id="14" name="Picture 13">
            <a:extLst>
              <a:ext uri="{FF2B5EF4-FFF2-40B4-BE49-F238E27FC236}">
                <a16:creationId xmlns:a16="http://schemas.microsoft.com/office/drawing/2014/main" id="{C8707B2C-7784-8DCA-CC08-5FBE4F132127}"/>
              </a:ext>
            </a:extLst>
          </p:cNvPr>
          <p:cNvPicPr>
            <a:picLocks noChangeAspect="1"/>
          </p:cNvPicPr>
          <p:nvPr/>
        </p:nvPicPr>
        <p:blipFill>
          <a:blip r:embed="rId7"/>
          <a:stretch>
            <a:fillRect/>
          </a:stretch>
        </p:blipFill>
        <p:spPr>
          <a:xfrm>
            <a:off x="7050386" y="568400"/>
            <a:ext cx="3439005" cy="1324160"/>
          </a:xfrm>
          <a:prstGeom prst="rect">
            <a:avLst/>
          </a:prstGeom>
        </p:spPr>
      </p:pic>
      <p:pic>
        <p:nvPicPr>
          <p:cNvPr id="7" name="Picture 6">
            <a:extLst>
              <a:ext uri="{FF2B5EF4-FFF2-40B4-BE49-F238E27FC236}">
                <a16:creationId xmlns:a16="http://schemas.microsoft.com/office/drawing/2014/main" id="{6C6AD32C-341A-8CAD-7E9F-F751C9949F46}"/>
              </a:ext>
            </a:extLst>
          </p:cNvPr>
          <p:cNvPicPr>
            <a:picLocks noChangeAspect="1"/>
          </p:cNvPicPr>
          <p:nvPr/>
        </p:nvPicPr>
        <p:blipFill>
          <a:blip r:embed="rId8"/>
          <a:stretch>
            <a:fillRect/>
          </a:stretch>
        </p:blipFill>
        <p:spPr>
          <a:xfrm>
            <a:off x="652209" y="3303566"/>
            <a:ext cx="4477375" cy="2219635"/>
          </a:xfrm>
          <a:prstGeom prst="rect">
            <a:avLst/>
          </a:prstGeom>
        </p:spPr>
      </p:pic>
      <p:pic>
        <p:nvPicPr>
          <p:cNvPr id="5" name="Picture 4">
            <a:extLst>
              <a:ext uri="{FF2B5EF4-FFF2-40B4-BE49-F238E27FC236}">
                <a16:creationId xmlns:a16="http://schemas.microsoft.com/office/drawing/2014/main" id="{4DD69200-E86F-F9BB-D542-AA220FFE10A4}"/>
              </a:ext>
            </a:extLst>
          </p:cNvPr>
          <p:cNvPicPr>
            <a:picLocks noChangeAspect="1"/>
          </p:cNvPicPr>
          <p:nvPr/>
        </p:nvPicPr>
        <p:blipFill>
          <a:blip r:embed="rId9"/>
          <a:stretch>
            <a:fillRect/>
          </a:stretch>
        </p:blipFill>
        <p:spPr>
          <a:xfrm>
            <a:off x="652209" y="943213"/>
            <a:ext cx="4382112" cy="2286319"/>
          </a:xfrm>
          <a:prstGeom prst="rect">
            <a:avLst/>
          </a:prstGeom>
        </p:spPr>
      </p:pic>
      <p:pic>
        <p:nvPicPr>
          <p:cNvPr id="15" name="Picture 14">
            <a:extLst>
              <a:ext uri="{FF2B5EF4-FFF2-40B4-BE49-F238E27FC236}">
                <a16:creationId xmlns:a16="http://schemas.microsoft.com/office/drawing/2014/main" id="{08355D5F-9F3E-B450-CD5A-A27FF00F0184}"/>
              </a:ext>
            </a:extLst>
          </p:cNvPr>
          <p:cNvPicPr>
            <a:picLocks noChangeAspect="1"/>
          </p:cNvPicPr>
          <p:nvPr/>
        </p:nvPicPr>
        <p:blipFill>
          <a:blip r:embed="rId10"/>
          <a:stretch>
            <a:fillRect/>
          </a:stretch>
        </p:blipFill>
        <p:spPr>
          <a:xfrm>
            <a:off x="7050386" y="2003224"/>
            <a:ext cx="4210638" cy="2372056"/>
          </a:xfrm>
          <a:prstGeom prst="rect">
            <a:avLst/>
          </a:prstGeom>
        </p:spPr>
      </p:pic>
      <p:pic>
        <p:nvPicPr>
          <p:cNvPr id="17" name="Picture 16">
            <a:extLst>
              <a:ext uri="{FF2B5EF4-FFF2-40B4-BE49-F238E27FC236}">
                <a16:creationId xmlns:a16="http://schemas.microsoft.com/office/drawing/2014/main" id="{CACD53B0-B027-2C8B-0A8E-1970D04FA0C9}"/>
              </a:ext>
            </a:extLst>
          </p:cNvPr>
          <p:cNvPicPr>
            <a:picLocks noChangeAspect="1"/>
          </p:cNvPicPr>
          <p:nvPr/>
        </p:nvPicPr>
        <p:blipFill>
          <a:blip r:embed="rId11"/>
          <a:stretch>
            <a:fillRect/>
          </a:stretch>
        </p:blipFill>
        <p:spPr>
          <a:xfrm>
            <a:off x="7050386" y="4485944"/>
            <a:ext cx="4382112" cy="2381582"/>
          </a:xfrm>
          <a:prstGeom prst="rect">
            <a:avLst/>
          </a:prstGeom>
        </p:spPr>
      </p:pic>
    </p:spTree>
    <p:extLst>
      <p:ext uri="{BB962C8B-B14F-4D97-AF65-F5344CB8AC3E}">
        <p14:creationId xmlns:p14="http://schemas.microsoft.com/office/powerpoint/2010/main" val="2369275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QL Tutorial - GeeksforGeeks">
            <a:extLst>
              <a:ext uri="{FF2B5EF4-FFF2-40B4-BE49-F238E27FC236}">
                <a16:creationId xmlns:a16="http://schemas.microsoft.com/office/drawing/2014/main" id="{24570AAF-0F54-9785-55D8-F32905DC9E09}"/>
              </a:ext>
            </a:extLst>
          </p:cNvPr>
          <p:cNvPicPr>
            <a:picLocks noChangeAspect="1" noChangeArrowheads="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3359" y="4234"/>
            <a:ext cx="12196312" cy="69617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0FAD18D9-203C-7F74-7F3B-82CEA8C67696}"/>
              </a:ext>
            </a:extLst>
          </p:cNvPr>
          <p:cNvGraphicFramePr>
            <a:graphicFrameLocks noGrp="1"/>
          </p:cNvGraphicFramePr>
          <p:nvPr>
            <p:extLst>
              <p:ext uri="{D42A27DB-BD31-4B8C-83A1-F6EECF244321}">
                <p14:modId xmlns:p14="http://schemas.microsoft.com/office/powerpoint/2010/main" val="834463000"/>
              </p:ext>
            </p:extLst>
          </p:nvPr>
        </p:nvGraphicFramePr>
        <p:xfrm>
          <a:off x="211815" y="1223434"/>
          <a:ext cx="7754104" cy="3161384"/>
        </p:xfrm>
        <a:graphic>
          <a:graphicData uri="http://schemas.openxmlformats.org/drawingml/2006/table">
            <a:tbl>
              <a:tblPr firstRow="1" bandRow="1">
                <a:tableStyleId>{5C22544A-7EE6-4342-B048-85BDC9FD1C3A}</a:tableStyleId>
              </a:tblPr>
              <a:tblGrid>
                <a:gridCol w="1550821">
                  <a:extLst>
                    <a:ext uri="{9D8B030D-6E8A-4147-A177-3AD203B41FA5}">
                      <a16:colId xmlns:a16="http://schemas.microsoft.com/office/drawing/2014/main" val="1460412118"/>
                    </a:ext>
                  </a:extLst>
                </a:gridCol>
                <a:gridCol w="1550821">
                  <a:extLst>
                    <a:ext uri="{9D8B030D-6E8A-4147-A177-3AD203B41FA5}">
                      <a16:colId xmlns:a16="http://schemas.microsoft.com/office/drawing/2014/main" val="3807980441"/>
                    </a:ext>
                  </a:extLst>
                </a:gridCol>
                <a:gridCol w="1697469">
                  <a:extLst>
                    <a:ext uri="{9D8B030D-6E8A-4147-A177-3AD203B41FA5}">
                      <a16:colId xmlns:a16="http://schemas.microsoft.com/office/drawing/2014/main" val="2930785496"/>
                    </a:ext>
                  </a:extLst>
                </a:gridCol>
                <a:gridCol w="1404172">
                  <a:extLst>
                    <a:ext uri="{9D8B030D-6E8A-4147-A177-3AD203B41FA5}">
                      <a16:colId xmlns:a16="http://schemas.microsoft.com/office/drawing/2014/main" val="831373595"/>
                    </a:ext>
                  </a:extLst>
                </a:gridCol>
                <a:gridCol w="1550821">
                  <a:extLst>
                    <a:ext uri="{9D8B030D-6E8A-4147-A177-3AD203B41FA5}">
                      <a16:colId xmlns:a16="http://schemas.microsoft.com/office/drawing/2014/main" val="4170757840"/>
                    </a:ext>
                  </a:extLst>
                </a:gridCol>
              </a:tblGrid>
              <a:tr h="713732">
                <a:tc>
                  <a:txBody>
                    <a:bodyPr/>
                    <a:lstStyle/>
                    <a:p>
                      <a:r>
                        <a:rPr lang="en-US"/>
                        <a:t>Table</a:t>
                      </a:r>
                      <a:r>
                        <a:rPr lang="en-US" baseline="0"/>
                        <a:t> Name</a:t>
                      </a:r>
                      <a:endParaRPr lang="en-NZ"/>
                    </a:p>
                  </a:txBody>
                  <a:tcPr/>
                </a:tc>
                <a:tc>
                  <a:txBody>
                    <a:bodyPr/>
                    <a:lstStyle/>
                    <a:p>
                      <a:r>
                        <a:rPr lang="en-US"/>
                        <a:t>Number of</a:t>
                      </a:r>
                      <a:r>
                        <a:rPr lang="en-US" baseline="0"/>
                        <a:t> rows</a:t>
                      </a:r>
                      <a:endParaRPr lang="en-NZ"/>
                    </a:p>
                  </a:txBody>
                  <a:tcPr/>
                </a:tc>
                <a:tc>
                  <a:txBody>
                    <a:bodyPr/>
                    <a:lstStyle/>
                    <a:p>
                      <a:r>
                        <a:rPr lang="en-US"/>
                        <a:t>Table</a:t>
                      </a:r>
                      <a:r>
                        <a:rPr lang="en-US" baseline="0"/>
                        <a:t> Name </a:t>
                      </a:r>
                      <a:endParaRPr lang="en-NZ"/>
                    </a:p>
                  </a:txBody>
                  <a:tcPr/>
                </a:tc>
                <a:tc>
                  <a:txBody>
                    <a:bodyPr/>
                    <a:lstStyle/>
                    <a:p>
                      <a:r>
                        <a:rPr lang="en-US"/>
                        <a:t>Number of rows</a:t>
                      </a:r>
                      <a:endParaRPr lang="en-NZ"/>
                    </a:p>
                  </a:txBody>
                  <a:tcPr/>
                </a:tc>
                <a:tc>
                  <a:txBody>
                    <a:bodyPr/>
                    <a:lstStyle/>
                    <a:p>
                      <a:r>
                        <a:rPr lang="en-US" err="1"/>
                        <a:t>DQlog</a:t>
                      </a:r>
                      <a:r>
                        <a:rPr lang="en-US"/>
                        <a:t> reject rows</a:t>
                      </a:r>
                      <a:endParaRPr lang="en-NZ"/>
                    </a:p>
                  </a:txBody>
                  <a:tcPr/>
                </a:tc>
                <a:extLst>
                  <a:ext uri="{0D108BD9-81ED-4DB2-BD59-A6C34878D82A}">
                    <a16:rowId xmlns:a16="http://schemas.microsoft.com/office/drawing/2014/main" val="620311159"/>
                  </a:ext>
                </a:extLst>
              </a:tr>
              <a:tr h="611913">
                <a:tc>
                  <a:txBody>
                    <a:bodyPr/>
                    <a:lstStyle/>
                    <a:p>
                      <a:r>
                        <a:rPr lang="en-US"/>
                        <a:t>Customer</a:t>
                      </a:r>
                      <a:endParaRPr lang="en-NZ"/>
                    </a:p>
                  </a:txBody>
                  <a:tcPr/>
                </a:tc>
                <a:tc>
                  <a:txBody>
                    <a:bodyPr/>
                    <a:lstStyle/>
                    <a:p>
                      <a:r>
                        <a:rPr lang="en-US"/>
                        <a:t>9</a:t>
                      </a:r>
                      <a:endParaRPr lang="en-NZ"/>
                    </a:p>
                  </a:txBody>
                  <a:tcPr/>
                </a:tc>
                <a:tc>
                  <a:txBody>
                    <a:bodyPr/>
                    <a:lstStyle/>
                    <a:p>
                      <a:r>
                        <a:rPr lang="en-US"/>
                        <a:t>dimCustomer</a:t>
                      </a:r>
                      <a:endParaRPr lang="en-NZ"/>
                    </a:p>
                  </a:txBody>
                  <a:tcPr/>
                </a:tc>
                <a:tc>
                  <a:txBody>
                    <a:bodyPr/>
                    <a:lstStyle/>
                    <a:p>
                      <a:r>
                        <a:rPr lang="en-US"/>
                        <a:t>9</a:t>
                      </a:r>
                      <a:endParaRPr lang="en-NZ"/>
                    </a:p>
                  </a:txBody>
                  <a:tcPr/>
                </a:tc>
                <a:tc>
                  <a:txBody>
                    <a:bodyPr/>
                    <a:lstStyle/>
                    <a:p>
                      <a:endParaRPr lang="en-NZ"/>
                    </a:p>
                  </a:txBody>
                  <a:tcPr/>
                </a:tc>
                <a:extLst>
                  <a:ext uri="{0D108BD9-81ED-4DB2-BD59-A6C34878D82A}">
                    <a16:rowId xmlns:a16="http://schemas.microsoft.com/office/drawing/2014/main" val="1195138928"/>
                  </a:ext>
                </a:extLst>
              </a:tr>
              <a:tr h="611913">
                <a:tc>
                  <a:txBody>
                    <a:bodyPr/>
                    <a:lstStyle/>
                    <a:p>
                      <a:r>
                        <a:rPr lang="en-US"/>
                        <a:t>Employee</a:t>
                      </a:r>
                      <a:endParaRPr lang="en-NZ"/>
                    </a:p>
                  </a:txBody>
                  <a:tcPr/>
                </a:tc>
                <a:tc>
                  <a:txBody>
                    <a:bodyPr/>
                    <a:lstStyle/>
                    <a:p>
                      <a:r>
                        <a:rPr lang="en-US"/>
                        <a:t>10</a:t>
                      </a:r>
                      <a:endParaRPr lang="en-NZ"/>
                    </a:p>
                  </a:txBody>
                  <a:tcPr/>
                </a:tc>
                <a:tc>
                  <a:txBody>
                    <a:bodyPr/>
                    <a:lstStyle/>
                    <a:p>
                      <a:r>
                        <a:rPr lang="en-US"/>
                        <a:t>dimEmployee</a:t>
                      </a:r>
                      <a:endParaRPr lang="en-NZ"/>
                    </a:p>
                  </a:txBody>
                  <a:tcPr/>
                </a:tc>
                <a:tc>
                  <a:txBody>
                    <a:bodyPr/>
                    <a:lstStyle/>
                    <a:p>
                      <a:r>
                        <a:rPr lang="en-US"/>
                        <a:t>10</a:t>
                      </a:r>
                      <a:endParaRPr lang="en-NZ"/>
                    </a:p>
                  </a:txBody>
                  <a:tcPr/>
                </a:tc>
                <a:tc>
                  <a:txBody>
                    <a:bodyPr/>
                    <a:lstStyle/>
                    <a:p>
                      <a:endParaRPr lang="en-NZ"/>
                    </a:p>
                  </a:txBody>
                  <a:tcPr/>
                </a:tc>
                <a:extLst>
                  <a:ext uri="{0D108BD9-81ED-4DB2-BD59-A6C34878D82A}">
                    <a16:rowId xmlns:a16="http://schemas.microsoft.com/office/drawing/2014/main" val="2307359080"/>
                  </a:ext>
                </a:extLst>
              </a:tr>
              <a:tr h="611913">
                <a:tc>
                  <a:txBody>
                    <a:bodyPr/>
                    <a:lstStyle/>
                    <a:p>
                      <a:r>
                        <a:rPr lang="en-US"/>
                        <a:t>Product</a:t>
                      </a:r>
                      <a:endParaRPr lang="en-NZ"/>
                    </a:p>
                  </a:txBody>
                  <a:tcPr/>
                </a:tc>
                <a:tc>
                  <a:txBody>
                    <a:bodyPr/>
                    <a:lstStyle/>
                    <a:p>
                      <a:r>
                        <a:rPr lang="en-US"/>
                        <a:t>110</a:t>
                      </a:r>
                      <a:endParaRPr lang="en-NZ"/>
                    </a:p>
                  </a:txBody>
                  <a:tcPr/>
                </a:tc>
                <a:tc>
                  <a:txBody>
                    <a:bodyPr/>
                    <a:lstStyle/>
                    <a:p>
                      <a:r>
                        <a:rPr lang="en-US"/>
                        <a:t>dimProduct</a:t>
                      </a:r>
                      <a:endParaRPr lang="en-NZ"/>
                    </a:p>
                  </a:txBody>
                  <a:tcPr/>
                </a:tc>
                <a:tc>
                  <a:txBody>
                    <a:bodyPr/>
                    <a:lstStyle/>
                    <a:p>
                      <a:r>
                        <a:rPr lang="en-US"/>
                        <a:t>109</a:t>
                      </a:r>
                      <a:endParaRPr lang="en-NZ"/>
                    </a:p>
                  </a:txBody>
                  <a:tcPr/>
                </a:tc>
                <a:tc>
                  <a:txBody>
                    <a:bodyPr/>
                    <a:lstStyle/>
                    <a:p>
                      <a:r>
                        <a:rPr lang="en-US"/>
                        <a:t>1 (reject)</a:t>
                      </a:r>
                      <a:endParaRPr lang="en-NZ"/>
                    </a:p>
                  </a:txBody>
                  <a:tcPr/>
                </a:tc>
                <a:extLst>
                  <a:ext uri="{0D108BD9-81ED-4DB2-BD59-A6C34878D82A}">
                    <a16:rowId xmlns:a16="http://schemas.microsoft.com/office/drawing/2014/main" val="3210426816"/>
                  </a:ext>
                </a:extLst>
              </a:tr>
              <a:tr h="611913">
                <a:tc>
                  <a:txBody>
                    <a:bodyPr/>
                    <a:lstStyle/>
                    <a:p>
                      <a:r>
                        <a:rPr lang="en-US"/>
                        <a:t>Payment</a:t>
                      </a:r>
                      <a:endParaRPr lang="en-NZ"/>
                    </a:p>
                  </a:txBody>
                  <a:tcPr/>
                </a:tc>
                <a:tc>
                  <a:txBody>
                    <a:bodyPr/>
                    <a:lstStyle/>
                    <a:p>
                      <a:r>
                        <a:rPr lang="en-US"/>
                        <a:t>23</a:t>
                      </a:r>
                      <a:endParaRPr lang="en-NZ"/>
                    </a:p>
                  </a:txBody>
                  <a:tcPr/>
                </a:tc>
                <a:tc>
                  <a:txBody>
                    <a:bodyPr/>
                    <a:lstStyle/>
                    <a:p>
                      <a:r>
                        <a:rPr lang="en-US"/>
                        <a:t>dimPayment</a:t>
                      </a:r>
                      <a:endParaRPr lang="en-NZ"/>
                    </a:p>
                  </a:txBody>
                  <a:tcPr/>
                </a:tc>
                <a:tc>
                  <a:txBody>
                    <a:bodyPr/>
                    <a:lstStyle/>
                    <a:p>
                      <a:r>
                        <a:rPr lang="en-US"/>
                        <a:t>5</a:t>
                      </a:r>
                      <a:endParaRPr lang="en-NZ"/>
                    </a:p>
                  </a:txBody>
                  <a:tcPr/>
                </a:tc>
                <a:tc>
                  <a:txBody>
                    <a:bodyPr/>
                    <a:lstStyle/>
                    <a:p>
                      <a:r>
                        <a:rPr lang="en-NZ"/>
                        <a:t>18 (reject)</a:t>
                      </a:r>
                    </a:p>
                  </a:txBody>
                  <a:tcPr/>
                </a:tc>
                <a:extLst>
                  <a:ext uri="{0D108BD9-81ED-4DB2-BD59-A6C34878D82A}">
                    <a16:rowId xmlns:a16="http://schemas.microsoft.com/office/drawing/2014/main" val="3410224753"/>
                  </a:ext>
                </a:extLst>
              </a:tr>
            </a:tbl>
          </a:graphicData>
        </a:graphic>
      </p:graphicFrame>
      <p:sp>
        <p:nvSpPr>
          <p:cNvPr id="3" name="TextBox 2">
            <a:extLst>
              <a:ext uri="{FF2B5EF4-FFF2-40B4-BE49-F238E27FC236}">
                <a16:creationId xmlns:a16="http://schemas.microsoft.com/office/drawing/2014/main" id="{7FF256F5-CEC9-696B-47B1-480198045B40}"/>
              </a:ext>
            </a:extLst>
          </p:cNvPr>
          <p:cNvSpPr txBox="1"/>
          <p:nvPr/>
        </p:nvSpPr>
        <p:spPr>
          <a:xfrm>
            <a:off x="2129856" y="533185"/>
            <a:ext cx="7932287" cy="646331"/>
          </a:xfrm>
          <a:prstGeom prst="rect">
            <a:avLst/>
          </a:prstGeom>
          <a:noFill/>
        </p:spPr>
        <p:txBody>
          <a:bodyPr wrap="square" rtlCol="0">
            <a:spAutoFit/>
          </a:bodyPr>
          <a:lstStyle/>
          <a:p>
            <a:pPr algn="ctr"/>
            <a:r>
              <a:rPr lang="en-US" sz="3600" b="1">
                <a:latin typeface="+mj-lt"/>
              </a:rPr>
              <a:t>Evaluation </a:t>
            </a:r>
            <a:endParaRPr lang="en-NZ" sz="3600" b="1">
              <a:latin typeface="+mj-lt"/>
            </a:endParaRPr>
          </a:p>
        </p:txBody>
      </p:sp>
      <p:pic>
        <p:nvPicPr>
          <p:cNvPr id="15" name="Picture 14">
            <a:extLst>
              <a:ext uri="{FF2B5EF4-FFF2-40B4-BE49-F238E27FC236}">
                <a16:creationId xmlns:a16="http://schemas.microsoft.com/office/drawing/2014/main" id="{BE08270F-79AC-4542-B3EA-5E50ACC8320A}"/>
              </a:ext>
            </a:extLst>
          </p:cNvPr>
          <p:cNvPicPr>
            <a:picLocks noChangeAspect="1"/>
          </p:cNvPicPr>
          <p:nvPr/>
        </p:nvPicPr>
        <p:blipFill>
          <a:blip r:embed="rId5"/>
          <a:stretch>
            <a:fillRect/>
          </a:stretch>
        </p:blipFill>
        <p:spPr>
          <a:xfrm>
            <a:off x="8484291" y="1291152"/>
            <a:ext cx="3379410" cy="2791686"/>
          </a:xfrm>
          <a:prstGeom prst="rect">
            <a:avLst/>
          </a:prstGeom>
        </p:spPr>
      </p:pic>
      <p:pic>
        <p:nvPicPr>
          <p:cNvPr id="17" name="Picture 16">
            <a:extLst>
              <a:ext uri="{FF2B5EF4-FFF2-40B4-BE49-F238E27FC236}">
                <a16:creationId xmlns:a16="http://schemas.microsoft.com/office/drawing/2014/main" id="{7D4AF907-7E61-C9F2-9541-132FCD3D4149}"/>
              </a:ext>
            </a:extLst>
          </p:cNvPr>
          <p:cNvPicPr>
            <a:picLocks noChangeAspect="1"/>
          </p:cNvPicPr>
          <p:nvPr/>
        </p:nvPicPr>
        <p:blipFill>
          <a:blip r:embed="rId6"/>
          <a:stretch>
            <a:fillRect/>
          </a:stretch>
        </p:blipFill>
        <p:spPr>
          <a:xfrm>
            <a:off x="8484291" y="4398362"/>
            <a:ext cx="3331920" cy="2336972"/>
          </a:xfrm>
          <a:prstGeom prst="rect">
            <a:avLst/>
          </a:prstGeom>
        </p:spPr>
      </p:pic>
      <p:pic>
        <p:nvPicPr>
          <p:cNvPr id="9" name="Picture 8">
            <a:extLst>
              <a:ext uri="{FF2B5EF4-FFF2-40B4-BE49-F238E27FC236}">
                <a16:creationId xmlns:a16="http://schemas.microsoft.com/office/drawing/2014/main" id="{4D86F0A7-772B-F455-15BA-0DA9DCF86773}"/>
              </a:ext>
            </a:extLst>
          </p:cNvPr>
          <p:cNvPicPr>
            <a:picLocks noChangeAspect="1"/>
          </p:cNvPicPr>
          <p:nvPr/>
        </p:nvPicPr>
        <p:blipFill>
          <a:blip r:embed="rId7"/>
          <a:stretch>
            <a:fillRect/>
          </a:stretch>
        </p:blipFill>
        <p:spPr>
          <a:xfrm>
            <a:off x="211814" y="4418772"/>
            <a:ext cx="3387543" cy="1060448"/>
          </a:xfrm>
          <a:prstGeom prst="rect">
            <a:avLst/>
          </a:prstGeom>
        </p:spPr>
      </p:pic>
      <p:pic>
        <p:nvPicPr>
          <p:cNvPr id="11" name="Picture 10">
            <a:extLst>
              <a:ext uri="{FF2B5EF4-FFF2-40B4-BE49-F238E27FC236}">
                <a16:creationId xmlns:a16="http://schemas.microsoft.com/office/drawing/2014/main" id="{AAFE3D27-315B-A9AB-D277-6A17606DF947}"/>
              </a:ext>
            </a:extLst>
          </p:cNvPr>
          <p:cNvPicPr>
            <a:picLocks noChangeAspect="1"/>
          </p:cNvPicPr>
          <p:nvPr/>
        </p:nvPicPr>
        <p:blipFill>
          <a:blip r:embed="rId8"/>
          <a:stretch>
            <a:fillRect/>
          </a:stretch>
        </p:blipFill>
        <p:spPr>
          <a:xfrm>
            <a:off x="208110" y="5513174"/>
            <a:ext cx="3387543" cy="1374546"/>
          </a:xfrm>
          <a:prstGeom prst="rect">
            <a:avLst/>
          </a:prstGeom>
        </p:spPr>
      </p:pic>
      <p:pic>
        <p:nvPicPr>
          <p:cNvPr id="14" name="Picture 13">
            <a:extLst>
              <a:ext uri="{FF2B5EF4-FFF2-40B4-BE49-F238E27FC236}">
                <a16:creationId xmlns:a16="http://schemas.microsoft.com/office/drawing/2014/main" id="{14428857-5116-685A-5DAF-FCCC27AE3DC6}"/>
              </a:ext>
            </a:extLst>
          </p:cNvPr>
          <p:cNvPicPr>
            <a:picLocks noChangeAspect="1"/>
          </p:cNvPicPr>
          <p:nvPr/>
        </p:nvPicPr>
        <p:blipFill>
          <a:blip r:embed="rId9"/>
          <a:stretch>
            <a:fillRect/>
          </a:stretch>
        </p:blipFill>
        <p:spPr>
          <a:xfrm>
            <a:off x="4344349" y="4428736"/>
            <a:ext cx="3017446" cy="1299277"/>
          </a:xfrm>
          <a:prstGeom prst="rect">
            <a:avLst/>
          </a:prstGeom>
        </p:spPr>
      </p:pic>
      <p:pic>
        <p:nvPicPr>
          <p:cNvPr id="18" name="Picture 17">
            <a:extLst>
              <a:ext uri="{FF2B5EF4-FFF2-40B4-BE49-F238E27FC236}">
                <a16:creationId xmlns:a16="http://schemas.microsoft.com/office/drawing/2014/main" id="{AFB1E0C1-BC57-2A91-20F3-58201279A705}"/>
              </a:ext>
            </a:extLst>
          </p:cNvPr>
          <p:cNvPicPr>
            <a:picLocks noChangeAspect="1"/>
          </p:cNvPicPr>
          <p:nvPr/>
        </p:nvPicPr>
        <p:blipFill>
          <a:blip r:embed="rId10"/>
          <a:stretch>
            <a:fillRect/>
          </a:stretch>
        </p:blipFill>
        <p:spPr>
          <a:xfrm>
            <a:off x="4344348" y="5766481"/>
            <a:ext cx="3150335" cy="1116668"/>
          </a:xfrm>
          <a:prstGeom prst="rect">
            <a:avLst/>
          </a:prstGeom>
        </p:spPr>
      </p:pic>
    </p:spTree>
    <p:extLst>
      <p:ext uri="{BB962C8B-B14F-4D97-AF65-F5344CB8AC3E}">
        <p14:creationId xmlns:p14="http://schemas.microsoft.com/office/powerpoint/2010/main" val="108833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15"/>
                                        </p:tgtEl>
                                      </p:cBhvr>
                                      <p:by x="150000" y="150000"/>
                                    </p:animScale>
                                  </p:childTnLst>
                                </p:cTn>
                              </p:par>
                              <p:par>
                                <p:cTn id="7" presetID="35" presetClass="path" presetSubtype="0" accel="50000" decel="50000" fill="hold" nodeType="withEffect">
                                  <p:stCondLst>
                                    <p:cond delay="0"/>
                                  </p:stCondLst>
                                  <p:childTnLst>
                                    <p:animMotion origin="layout" path="M 0 0 L -0.25 0 E" pathEditMode="relative" ptsTypes="">
                                      <p:cBhvr>
                                        <p:cTn id="8" dur="2000" fill="hold"/>
                                        <p:tgtEl>
                                          <p:spTgt spid="15"/>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nodeType="clickEffect">
                                  <p:stCondLst>
                                    <p:cond delay="0"/>
                                  </p:stCondLst>
                                  <p:childTnLst>
                                    <p:animScale>
                                      <p:cBhvr>
                                        <p:cTn id="16" dur="1000" fill="hold"/>
                                        <p:tgtEl>
                                          <p:spTgt spid="17"/>
                                        </p:tgtEl>
                                      </p:cBhvr>
                                      <p:by x="150000" y="150000"/>
                                    </p:animScale>
                                  </p:childTnLst>
                                </p:cTn>
                              </p:par>
                              <p:par>
                                <p:cTn id="17" presetID="0" presetClass="path" presetSubtype="0" accel="50000" decel="50000" fill="hold" nodeType="withEffect">
                                  <p:stCondLst>
                                    <p:cond delay="0"/>
                                  </p:stCondLst>
                                  <p:childTnLst>
                                    <p:animMotion origin="layout" path="M 0.00313 0.00509 L 0.00313 0.00509 C -0.00143 -0.03519 0.00274 -0.0095 -0.04661 -0.05116 C -0.07786 -0.07755 -0.11054 -0.09815 -0.14166 -0.125 C -0.16015 -0.14075 -0.17721 -0.16135 -0.19518 -0.17848 C -0.21393 -0.19607 -0.23281 -0.21366 -0.25208 -0.2294 C -0.33138 -0.29422 -0.27656 -0.24051 -0.34427 -0.3007 C -0.35247 -0.30811 -0.34896 -0.30741 -0.35429 -0.31505 C -0.35807 -0.32037 -0.36172 -0.32616 -0.36575 -0.33033 C -0.37109 -0.33612 -0.37695 -0.34005 -0.38255 -0.34491 C -0.38372 -0.34584 -0.38476 -0.34723 -0.38581 -0.34815 L -0.38581 -0.34815 " pathEditMode="relative" ptsTypes="AAAAAAAAAAAA">
                                      <p:cBhvr>
                                        <p:cTn id="18" dur="2000" fill="hold"/>
                                        <p:tgtEl>
                                          <p:spTgt spid="17"/>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QL Tutorial - GeeksforGeeks">
            <a:extLst>
              <a:ext uri="{FF2B5EF4-FFF2-40B4-BE49-F238E27FC236}">
                <a16:creationId xmlns:a16="http://schemas.microsoft.com/office/drawing/2014/main" id="{24570AAF-0F54-9785-55D8-F32905DC9E09}"/>
              </a:ext>
            </a:extLst>
          </p:cNvPr>
          <p:cNvPicPr>
            <a:picLocks noChangeAspect="1" noChangeArrowheads="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3359" y="4234"/>
            <a:ext cx="12196312" cy="69617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FF256F5-CEC9-696B-47B1-480198045B40}"/>
              </a:ext>
            </a:extLst>
          </p:cNvPr>
          <p:cNvSpPr txBox="1"/>
          <p:nvPr/>
        </p:nvSpPr>
        <p:spPr>
          <a:xfrm>
            <a:off x="2129856" y="577103"/>
            <a:ext cx="7932287" cy="646331"/>
          </a:xfrm>
          <a:prstGeom prst="rect">
            <a:avLst/>
          </a:prstGeom>
          <a:noFill/>
        </p:spPr>
        <p:txBody>
          <a:bodyPr wrap="square" rtlCol="0">
            <a:spAutoFit/>
          </a:bodyPr>
          <a:lstStyle/>
          <a:p>
            <a:pPr algn="ctr"/>
            <a:r>
              <a:rPr lang="en-US" sz="3600" b="1">
                <a:latin typeface="+mj-lt"/>
              </a:rPr>
              <a:t>Evaluation </a:t>
            </a:r>
            <a:endParaRPr lang="en-NZ" sz="3600" b="1">
              <a:latin typeface="+mj-lt"/>
            </a:endParaRPr>
          </a:p>
        </p:txBody>
      </p:sp>
      <p:pic>
        <p:nvPicPr>
          <p:cNvPr id="4" name="Picture 3">
            <a:extLst>
              <a:ext uri="{FF2B5EF4-FFF2-40B4-BE49-F238E27FC236}">
                <a16:creationId xmlns:a16="http://schemas.microsoft.com/office/drawing/2014/main" id="{8719A29A-3250-A636-B072-95758119359E}"/>
              </a:ext>
            </a:extLst>
          </p:cNvPr>
          <p:cNvPicPr>
            <a:picLocks noChangeAspect="1"/>
          </p:cNvPicPr>
          <p:nvPr/>
        </p:nvPicPr>
        <p:blipFill>
          <a:blip r:embed="rId5"/>
          <a:stretch>
            <a:fillRect/>
          </a:stretch>
        </p:blipFill>
        <p:spPr>
          <a:xfrm>
            <a:off x="502408" y="1251002"/>
            <a:ext cx="4960696" cy="5593977"/>
          </a:xfrm>
          <a:prstGeom prst="rect">
            <a:avLst/>
          </a:prstGeom>
        </p:spPr>
      </p:pic>
      <p:pic>
        <p:nvPicPr>
          <p:cNvPr id="8" name="Picture 7">
            <a:extLst>
              <a:ext uri="{FF2B5EF4-FFF2-40B4-BE49-F238E27FC236}">
                <a16:creationId xmlns:a16="http://schemas.microsoft.com/office/drawing/2014/main" id="{1D96C888-3BD7-4AF3-2077-F8877876983E}"/>
              </a:ext>
            </a:extLst>
          </p:cNvPr>
          <p:cNvPicPr>
            <a:picLocks noChangeAspect="1"/>
          </p:cNvPicPr>
          <p:nvPr/>
        </p:nvPicPr>
        <p:blipFill>
          <a:blip r:embed="rId6"/>
          <a:stretch>
            <a:fillRect/>
          </a:stretch>
        </p:blipFill>
        <p:spPr>
          <a:xfrm>
            <a:off x="6094796" y="1251002"/>
            <a:ext cx="5234559" cy="5606998"/>
          </a:xfrm>
          <a:prstGeom prst="rect">
            <a:avLst/>
          </a:prstGeom>
        </p:spPr>
      </p:pic>
    </p:spTree>
    <p:extLst>
      <p:ext uri="{BB962C8B-B14F-4D97-AF65-F5344CB8AC3E}">
        <p14:creationId xmlns:p14="http://schemas.microsoft.com/office/powerpoint/2010/main" val="561664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QL Tutorial - GeeksforGeeks">
            <a:extLst>
              <a:ext uri="{FF2B5EF4-FFF2-40B4-BE49-F238E27FC236}">
                <a16:creationId xmlns:a16="http://schemas.microsoft.com/office/drawing/2014/main" id="{24570AAF-0F54-9785-55D8-F32905DC9E09}"/>
              </a:ext>
            </a:extLst>
          </p:cNvPr>
          <p:cNvPicPr>
            <a:picLocks noGrp="1" noRot="1" noChangeAspect="1" noMove="1" noResize="1" noEditPoints="1" noAdjustHandles="1" noChangeArrowheads="1" noChangeShapeType="1" noCrop="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2057" name="Group 2056">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2058" name="Freeform: Shape 2057">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060" name="Freeform: Shape 2059">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061" name="Freeform: Shape 2060">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0772682B-4256-121C-F263-BED7E17F2E95}"/>
              </a:ext>
            </a:extLst>
          </p:cNvPr>
          <p:cNvSpPr txBox="1"/>
          <p:nvPr/>
        </p:nvSpPr>
        <p:spPr>
          <a:xfrm>
            <a:off x="224550" y="194088"/>
            <a:ext cx="7932287" cy="1200329"/>
          </a:xfrm>
          <a:prstGeom prst="rect">
            <a:avLst/>
          </a:prstGeom>
          <a:noFill/>
        </p:spPr>
        <p:txBody>
          <a:bodyPr wrap="square" rtlCol="0">
            <a:spAutoFit/>
          </a:bodyPr>
          <a:lstStyle/>
          <a:p>
            <a:r>
              <a:rPr lang="en-US" sz="3600" b="1">
                <a:latin typeface="+mj-lt"/>
              </a:rPr>
              <a:t>Report</a:t>
            </a:r>
          </a:p>
          <a:p>
            <a:r>
              <a:rPr lang="en-US" b="1">
                <a:latin typeface="+mj-lt"/>
              </a:rPr>
              <a:t>1. Monthly sale and profit/loss report for each </a:t>
            </a:r>
            <a:r>
              <a:rPr lang="en-US" b="1" err="1">
                <a:latin typeface="+mj-lt"/>
              </a:rPr>
              <a:t>productLine</a:t>
            </a:r>
            <a:endParaRPr lang="en-US" b="1">
              <a:latin typeface="+mj-lt"/>
            </a:endParaRPr>
          </a:p>
          <a:p>
            <a:r>
              <a:rPr lang="en-NZ" sz="1800">
                <a:solidFill>
                  <a:srgbClr val="008000"/>
                </a:solidFill>
                <a:latin typeface="Consolas" panose="020B0609020204030204" pitchFamily="49" charset="0"/>
              </a:rPr>
              <a:t> </a:t>
            </a:r>
          </a:p>
        </p:txBody>
      </p:sp>
      <p:pic>
        <p:nvPicPr>
          <p:cNvPr id="4" name="Picture 3">
            <a:extLst>
              <a:ext uri="{FF2B5EF4-FFF2-40B4-BE49-F238E27FC236}">
                <a16:creationId xmlns:a16="http://schemas.microsoft.com/office/drawing/2014/main" id="{AAF224D1-B378-AC9E-0485-98F016493137}"/>
              </a:ext>
            </a:extLst>
          </p:cNvPr>
          <p:cNvPicPr>
            <a:picLocks noChangeAspect="1"/>
          </p:cNvPicPr>
          <p:nvPr/>
        </p:nvPicPr>
        <p:blipFill>
          <a:blip r:embed="rId5"/>
          <a:stretch>
            <a:fillRect/>
          </a:stretch>
        </p:blipFill>
        <p:spPr>
          <a:xfrm>
            <a:off x="393396" y="1588495"/>
            <a:ext cx="5206989" cy="3849779"/>
          </a:xfrm>
          <a:prstGeom prst="rect">
            <a:avLst/>
          </a:prstGeom>
        </p:spPr>
      </p:pic>
      <p:pic>
        <p:nvPicPr>
          <p:cNvPr id="5" name="Picture 4">
            <a:extLst>
              <a:ext uri="{FF2B5EF4-FFF2-40B4-BE49-F238E27FC236}">
                <a16:creationId xmlns:a16="http://schemas.microsoft.com/office/drawing/2014/main" id="{21774465-51BB-0808-CC96-9630CB2DBCA8}"/>
              </a:ext>
            </a:extLst>
          </p:cNvPr>
          <p:cNvPicPr>
            <a:picLocks noChangeAspect="1"/>
          </p:cNvPicPr>
          <p:nvPr/>
        </p:nvPicPr>
        <p:blipFill>
          <a:blip r:embed="rId6"/>
          <a:stretch>
            <a:fillRect/>
          </a:stretch>
        </p:blipFill>
        <p:spPr>
          <a:xfrm>
            <a:off x="6378123" y="481801"/>
            <a:ext cx="5420481" cy="4591691"/>
          </a:xfrm>
          <a:prstGeom prst="rect">
            <a:avLst/>
          </a:prstGeom>
        </p:spPr>
      </p:pic>
    </p:spTree>
    <p:extLst>
      <p:ext uri="{BB962C8B-B14F-4D97-AF65-F5344CB8AC3E}">
        <p14:creationId xmlns:p14="http://schemas.microsoft.com/office/powerpoint/2010/main" val="2498014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QL Tutorial - GeeksforGeeks">
            <a:extLst>
              <a:ext uri="{FF2B5EF4-FFF2-40B4-BE49-F238E27FC236}">
                <a16:creationId xmlns:a16="http://schemas.microsoft.com/office/drawing/2014/main" id="{24570AAF-0F54-9785-55D8-F32905DC9E09}"/>
              </a:ext>
            </a:extLst>
          </p:cNvPr>
          <p:cNvPicPr>
            <a:picLocks noGrp="1" noRot="1" noChangeAspect="1" noMove="1" noResize="1" noEditPoints="1" noAdjustHandles="1" noChangeArrowheads="1" noChangeShapeType="1" noCrop="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2057" name="Group 2056">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2058" name="Freeform: Shape 2057">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060" name="Freeform: Shape 2059">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061" name="Freeform: Shape 2060">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0772682B-4256-121C-F263-BED7E17F2E95}"/>
              </a:ext>
            </a:extLst>
          </p:cNvPr>
          <p:cNvSpPr txBox="1"/>
          <p:nvPr/>
        </p:nvSpPr>
        <p:spPr>
          <a:xfrm>
            <a:off x="224550" y="194088"/>
            <a:ext cx="7932287" cy="1200329"/>
          </a:xfrm>
          <a:prstGeom prst="rect">
            <a:avLst/>
          </a:prstGeom>
          <a:noFill/>
        </p:spPr>
        <p:txBody>
          <a:bodyPr wrap="square" rtlCol="0">
            <a:spAutoFit/>
          </a:bodyPr>
          <a:lstStyle/>
          <a:p>
            <a:r>
              <a:rPr lang="en-US" sz="3600" b="1">
                <a:latin typeface="+mj-lt"/>
              </a:rPr>
              <a:t>Report</a:t>
            </a:r>
          </a:p>
          <a:p>
            <a:r>
              <a:rPr lang="en-US" b="1">
                <a:latin typeface="+mj-lt"/>
              </a:rPr>
              <a:t>2. Monthly report on the most profitable employees</a:t>
            </a:r>
          </a:p>
          <a:p>
            <a:r>
              <a:rPr lang="en-NZ" sz="1800">
                <a:solidFill>
                  <a:srgbClr val="008000"/>
                </a:solidFill>
                <a:latin typeface="Consolas" panose="020B0609020204030204" pitchFamily="49" charset="0"/>
              </a:rPr>
              <a:t> </a:t>
            </a:r>
          </a:p>
        </p:txBody>
      </p:sp>
      <p:pic>
        <p:nvPicPr>
          <p:cNvPr id="4" name="Picture 3">
            <a:extLst>
              <a:ext uri="{FF2B5EF4-FFF2-40B4-BE49-F238E27FC236}">
                <a16:creationId xmlns:a16="http://schemas.microsoft.com/office/drawing/2014/main" id="{90CD74E4-D64D-DF17-82E1-B36D88965742}"/>
              </a:ext>
            </a:extLst>
          </p:cNvPr>
          <p:cNvPicPr>
            <a:picLocks noChangeAspect="1"/>
          </p:cNvPicPr>
          <p:nvPr/>
        </p:nvPicPr>
        <p:blipFill>
          <a:blip r:embed="rId5"/>
          <a:stretch>
            <a:fillRect/>
          </a:stretch>
        </p:blipFill>
        <p:spPr>
          <a:xfrm>
            <a:off x="755208" y="2050304"/>
            <a:ext cx="3943900" cy="3200847"/>
          </a:xfrm>
          <a:prstGeom prst="rect">
            <a:avLst/>
          </a:prstGeom>
        </p:spPr>
      </p:pic>
      <p:pic>
        <p:nvPicPr>
          <p:cNvPr id="6" name="Picture 5">
            <a:extLst>
              <a:ext uri="{FF2B5EF4-FFF2-40B4-BE49-F238E27FC236}">
                <a16:creationId xmlns:a16="http://schemas.microsoft.com/office/drawing/2014/main" id="{793DC564-1521-4A87-62E9-D1B66FF5E3AF}"/>
              </a:ext>
            </a:extLst>
          </p:cNvPr>
          <p:cNvPicPr>
            <a:picLocks noChangeAspect="1"/>
          </p:cNvPicPr>
          <p:nvPr/>
        </p:nvPicPr>
        <p:blipFill>
          <a:blip r:embed="rId6"/>
          <a:stretch>
            <a:fillRect/>
          </a:stretch>
        </p:blipFill>
        <p:spPr>
          <a:xfrm>
            <a:off x="4830371" y="2718088"/>
            <a:ext cx="6382641" cy="2276793"/>
          </a:xfrm>
          <a:prstGeom prst="rect">
            <a:avLst/>
          </a:prstGeom>
        </p:spPr>
      </p:pic>
    </p:spTree>
    <p:extLst>
      <p:ext uri="{BB962C8B-B14F-4D97-AF65-F5344CB8AC3E}">
        <p14:creationId xmlns:p14="http://schemas.microsoft.com/office/powerpoint/2010/main" val="3986186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QL Tutorial - GeeksforGeeks">
            <a:extLst>
              <a:ext uri="{FF2B5EF4-FFF2-40B4-BE49-F238E27FC236}">
                <a16:creationId xmlns:a16="http://schemas.microsoft.com/office/drawing/2014/main" id="{24570AAF-0F54-9785-55D8-F32905DC9E09}"/>
              </a:ext>
            </a:extLst>
          </p:cNvPr>
          <p:cNvPicPr>
            <a:picLocks noGrp="1" noRot="1" noChangeAspect="1" noMove="1" noResize="1" noEditPoints="1" noAdjustHandles="1" noChangeArrowheads="1" noChangeShapeType="1" noCrop="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2057" name="Group 2056">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2058" name="Freeform: Shape 2057">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060" name="Freeform: Shape 2059">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061" name="Freeform: Shape 2060">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0772682B-4256-121C-F263-BED7E17F2E95}"/>
              </a:ext>
            </a:extLst>
          </p:cNvPr>
          <p:cNvSpPr txBox="1"/>
          <p:nvPr/>
        </p:nvSpPr>
        <p:spPr>
          <a:xfrm>
            <a:off x="224550" y="194088"/>
            <a:ext cx="7932287" cy="1200329"/>
          </a:xfrm>
          <a:prstGeom prst="rect">
            <a:avLst/>
          </a:prstGeom>
          <a:noFill/>
        </p:spPr>
        <p:txBody>
          <a:bodyPr wrap="square" rtlCol="0">
            <a:spAutoFit/>
          </a:bodyPr>
          <a:lstStyle/>
          <a:p>
            <a:r>
              <a:rPr lang="en-US" sz="3600" b="1">
                <a:latin typeface="+mj-lt"/>
              </a:rPr>
              <a:t>Report</a:t>
            </a:r>
          </a:p>
          <a:p>
            <a:r>
              <a:rPr lang="en-US" b="1">
                <a:latin typeface="+mj-lt"/>
              </a:rPr>
              <a:t>3. Summary report on the total sales based on City</a:t>
            </a:r>
          </a:p>
          <a:p>
            <a:r>
              <a:rPr lang="en-NZ" sz="1800">
                <a:solidFill>
                  <a:srgbClr val="008000"/>
                </a:solidFill>
                <a:latin typeface="Consolas" panose="020B0609020204030204" pitchFamily="49" charset="0"/>
              </a:rPr>
              <a:t> </a:t>
            </a:r>
          </a:p>
        </p:txBody>
      </p:sp>
      <p:pic>
        <p:nvPicPr>
          <p:cNvPr id="5" name="Picture 4">
            <a:extLst>
              <a:ext uri="{FF2B5EF4-FFF2-40B4-BE49-F238E27FC236}">
                <a16:creationId xmlns:a16="http://schemas.microsoft.com/office/drawing/2014/main" id="{2883A35B-B7F9-08E1-F8CB-CDB1EE5085AF}"/>
              </a:ext>
            </a:extLst>
          </p:cNvPr>
          <p:cNvPicPr>
            <a:picLocks noChangeAspect="1"/>
          </p:cNvPicPr>
          <p:nvPr/>
        </p:nvPicPr>
        <p:blipFill>
          <a:blip r:embed="rId5"/>
          <a:stretch>
            <a:fillRect/>
          </a:stretch>
        </p:blipFill>
        <p:spPr>
          <a:xfrm>
            <a:off x="811854" y="2329906"/>
            <a:ext cx="4048690" cy="2486372"/>
          </a:xfrm>
          <a:prstGeom prst="rect">
            <a:avLst/>
          </a:prstGeom>
        </p:spPr>
      </p:pic>
      <p:pic>
        <p:nvPicPr>
          <p:cNvPr id="7" name="Picture 6">
            <a:extLst>
              <a:ext uri="{FF2B5EF4-FFF2-40B4-BE49-F238E27FC236}">
                <a16:creationId xmlns:a16="http://schemas.microsoft.com/office/drawing/2014/main" id="{95C19B9B-821E-9312-10F5-1D9D5A194E99}"/>
              </a:ext>
            </a:extLst>
          </p:cNvPr>
          <p:cNvPicPr>
            <a:picLocks noChangeAspect="1"/>
          </p:cNvPicPr>
          <p:nvPr/>
        </p:nvPicPr>
        <p:blipFill>
          <a:blip r:embed="rId6"/>
          <a:stretch>
            <a:fillRect/>
          </a:stretch>
        </p:blipFill>
        <p:spPr>
          <a:xfrm>
            <a:off x="5013148" y="1962326"/>
            <a:ext cx="6287377" cy="1086002"/>
          </a:xfrm>
          <a:prstGeom prst="rect">
            <a:avLst/>
          </a:prstGeom>
        </p:spPr>
      </p:pic>
    </p:spTree>
    <p:extLst>
      <p:ext uri="{BB962C8B-B14F-4D97-AF65-F5344CB8AC3E}">
        <p14:creationId xmlns:p14="http://schemas.microsoft.com/office/powerpoint/2010/main" val="3765667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QL Tutorial - GeeksforGeeks">
            <a:extLst>
              <a:ext uri="{FF2B5EF4-FFF2-40B4-BE49-F238E27FC236}">
                <a16:creationId xmlns:a16="http://schemas.microsoft.com/office/drawing/2014/main" id="{24570AAF-0F54-9785-55D8-F32905DC9E09}"/>
              </a:ext>
            </a:extLst>
          </p:cNvPr>
          <p:cNvPicPr>
            <a:picLocks noGrp="1" noRot="1" noChangeAspect="1" noMove="1" noResize="1" noEditPoints="1" noAdjustHandles="1" noChangeArrowheads="1" noChangeShapeType="1" noCrop="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2057" name="Group 2056">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2058" name="Freeform: Shape 2057">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060" name="Freeform: Shape 2059">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061" name="Freeform: Shape 2060">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0772682B-4256-121C-F263-BED7E17F2E95}"/>
              </a:ext>
            </a:extLst>
          </p:cNvPr>
          <p:cNvSpPr txBox="1"/>
          <p:nvPr/>
        </p:nvSpPr>
        <p:spPr>
          <a:xfrm>
            <a:off x="224550" y="194088"/>
            <a:ext cx="7932287" cy="1200329"/>
          </a:xfrm>
          <a:prstGeom prst="rect">
            <a:avLst/>
          </a:prstGeom>
          <a:noFill/>
        </p:spPr>
        <p:txBody>
          <a:bodyPr wrap="square" rtlCol="0">
            <a:spAutoFit/>
          </a:bodyPr>
          <a:lstStyle/>
          <a:p>
            <a:r>
              <a:rPr lang="en-US" sz="3600" b="1">
                <a:latin typeface="+mj-lt"/>
              </a:rPr>
              <a:t>Report</a:t>
            </a:r>
          </a:p>
          <a:p>
            <a:r>
              <a:rPr lang="en-US" b="1">
                <a:latin typeface="+mj-lt"/>
              </a:rPr>
              <a:t>4. Monthly report on the customers who have bought the most</a:t>
            </a:r>
          </a:p>
          <a:p>
            <a:r>
              <a:rPr lang="en-NZ" sz="1800">
                <a:solidFill>
                  <a:srgbClr val="008000"/>
                </a:solidFill>
                <a:latin typeface="Consolas" panose="020B0609020204030204" pitchFamily="49" charset="0"/>
              </a:rPr>
              <a:t> </a:t>
            </a:r>
          </a:p>
        </p:txBody>
      </p:sp>
      <p:pic>
        <p:nvPicPr>
          <p:cNvPr id="5" name="Picture 4">
            <a:extLst>
              <a:ext uri="{FF2B5EF4-FFF2-40B4-BE49-F238E27FC236}">
                <a16:creationId xmlns:a16="http://schemas.microsoft.com/office/drawing/2014/main" id="{350196CE-55BA-BAA6-D732-66AE0841998A}"/>
              </a:ext>
            </a:extLst>
          </p:cNvPr>
          <p:cNvPicPr>
            <a:picLocks noChangeAspect="1"/>
          </p:cNvPicPr>
          <p:nvPr/>
        </p:nvPicPr>
        <p:blipFill>
          <a:blip r:embed="rId5"/>
          <a:stretch>
            <a:fillRect/>
          </a:stretch>
        </p:blipFill>
        <p:spPr>
          <a:xfrm>
            <a:off x="407815" y="1573028"/>
            <a:ext cx="3448531" cy="2781688"/>
          </a:xfrm>
          <a:prstGeom prst="rect">
            <a:avLst/>
          </a:prstGeom>
        </p:spPr>
      </p:pic>
      <p:pic>
        <p:nvPicPr>
          <p:cNvPr id="7" name="Picture 6">
            <a:extLst>
              <a:ext uri="{FF2B5EF4-FFF2-40B4-BE49-F238E27FC236}">
                <a16:creationId xmlns:a16="http://schemas.microsoft.com/office/drawing/2014/main" id="{3E5C2E7F-E4DF-ACE5-73CC-48618C18A5DE}"/>
              </a:ext>
            </a:extLst>
          </p:cNvPr>
          <p:cNvPicPr>
            <a:picLocks noChangeAspect="1"/>
          </p:cNvPicPr>
          <p:nvPr/>
        </p:nvPicPr>
        <p:blipFill>
          <a:blip r:embed="rId6"/>
          <a:stretch>
            <a:fillRect/>
          </a:stretch>
        </p:blipFill>
        <p:spPr>
          <a:xfrm>
            <a:off x="2966903" y="3888918"/>
            <a:ext cx="7763958" cy="2229161"/>
          </a:xfrm>
          <a:prstGeom prst="rect">
            <a:avLst/>
          </a:prstGeom>
        </p:spPr>
      </p:pic>
    </p:spTree>
    <p:extLst>
      <p:ext uri="{BB962C8B-B14F-4D97-AF65-F5344CB8AC3E}">
        <p14:creationId xmlns:p14="http://schemas.microsoft.com/office/powerpoint/2010/main" val="23823858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QL Tutorial - GeeksforGeeks">
            <a:extLst>
              <a:ext uri="{FF2B5EF4-FFF2-40B4-BE49-F238E27FC236}">
                <a16:creationId xmlns:a16="http://schemas.microsoft.com/office/drawing/2014/main" id="{24570AAF-0F54-9785-55D8-F32905DC9E09}"/>
              </a:ext>
            </a:extLst>
          </p:cNvPr>
          <p:cNvPicPr>
            <a:picLocks noGrp="1" noRot="1" noChangeAspect="1" noMove="1" noResize="1" noEditPoints="1" noAdjustHandles="1" noChangeArrowheads="1" noChangeShapeType="1" noCrop="1"/>
          </p:cNvPicPr>
          <p:nvPr/>
        </p:nvPicPr>
        <p:blipFill rotWithShape="1">
          <a:blip r:embed="rId3">
            <a:alphaModFix amt="50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t="7540" r="-1" b="11256"/>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2057" name="Group 2056">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2058" name="Freeform: Shape 2057">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059" name="Freeform: Shape 2058">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060" name="Freeform: Shape 2059">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061" name="Freeform: Shape 2060">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0772682B-4256-121C-F263-BED7E17F2E95}"/>
              </a:ext>
            </a:extLst>
          </p:cNvPr>
          <p:cNvSpPr txBox="1"/>
          <p:nvPr/>
        </p:nvSpPr>
        <p:spPr>
          <a:xfrm>
            <a:off x="224550" y="194088"/>
            <a:ext cx="7932287" cy="1477328"/>
          </a:xfrm>
          <a:prstGeom prst="rect">
            <a:avLst/>
          </a:prstGeom>
          <a:noFill/>
        </p:spPr>
        <p:txBody>
          <a:bodyPr wrap="square" rtlCol="0">
            <a:spAutoFit/>
          </a:bodyPr>
          <a:lstStyle/>
          <a:p>
            <a:r>
              <a:rPr lang="en-US" sz="3600" b="1">
                <a:latin typeface="+mj-lt"/>
              </a:rPr>
              <a:t>Report</a:t>
            </a:r>
          </a:p>
          <a:p>
            <a:r>
              <a:rPr lang="en-US" b="1">
                <a:latin typeface="+mj-lt"/>
              </a:rPr>
              <a:t>5. Monthly sale report that list and comparer of Total-profit with </a:t>
            </a:r>
          </a:p>
          <a:p>
            <a:r>
              <a:rPr lang="en-US" b="1">
                <a:latin typeface="+mj-lt"/>
              </a:rPr>
              <a:t>    total-possible-profit for each product Line</a:t>
            </a:r>
          </a:p>
          <a:p>
            <a:r>
              <a:rPr lang="en-NZ" sz="1800">
                <a:solidFill>
                  <a:srgbClr val="008000"/>
                </a:solidFill>
                <a:latin typeface="Consolas" panose="020B0609020204030204" pitchFamily="49" charset="0"/>
              </a:rPr>
              <a:t> </a:t>
            </a:r>
          </a:p>
        </p:txBody>
      </p:sp>
      <p:pic>
        <p:nvPicPr>
          <p:cNvPr id="5" name="Picture 4">
            <a:extLst>
              <a:ext uri="{FF2B5EF4-FFF2-40B4-BE49-F238E27FC236}">
                <a16:creationId xmlns:a16="http://schemas.microsoft.com/office/drawing/2014/main" id="{752C8DCA-13B5-6CDA-D31A-DD913E86BEF0}"/>
              </a:ext>
            </a:extLst>
          </p:cNvPr>
          <p:cNvPicPr>
            <a:picLocks noChangeAspect="1"/>
          </p:cNvPicPr>
          <p:nvPr/>
        </p:nvPicPr>
        <p:blipFill>
          <a:blip r:embed="rId5"/>
          <a:stretch>
            <a:fillRect/>
          </a:stretch>
        </p:blipFill>
        <p:spPr>
          <a:xfrm>
            <a:off x="318006" y="2141726"/>
            <a:ext cx="4229690" cy="2791215"/>
          </a:xfrm>
          <a:prstGeom prst="rect">
            <a:avLst/>
          </a:prstGeom>
        </p:spPr>
      </p:pic>
      <p:pic>
        <p:nvPicPr>
          <p:cNvPr id="7" name="Picture 6">
            <a:extLst>
              <a:ext uri="{FF2B5EF4-FFF2-40B4-BE49-F238E27FC236}">
                <a16:creationId xmlns:a16="http://schemas.microsoft.com/office/drawing/2014/main" id="{29E41BFB-E08B-707E-6377-2B1CEA563683}"/>
              </a:ext>
            </a:extLst>
          </p:cNvPr>
          <p:cNvPicPr>
            <a:picLocks noChangeAspect="1"/>
          </p:cNvPicPr>
          <p:nvPr/>
        </p:nvPicPr>
        <p:blipFill>
          <a:blip r:embed="rId6"/>
          <a:stretch>
            <a:fillRect/>
          </a:stretch>
        </p:blipFill>
        <p:spPr>
          <a:xfrm>
            <a:off x="4653036" y="1378906"/>
            <a:ext cx="7220958" cy="4677428"/>
          </a:xfrm>
          <a:prstGeom prst="rect">
            <a:avLst/>
          </a:prstGeom>
        </p:spPr>
      </p:pic>
    </p:spTree>
    <p:extLst>
      <p:ext uri="{BB962C8B-B14F-4D97-AF65-F5344CB8AC3E}">
        <p14:creationId xmlns:p14="http://schemas.microsoft.com/office/powerpoint/2010/main" val="1731846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13B4A9-1C7C-4729-A016-AB42D397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SQL Tutorial - GeeksforGeeks">
            <a:extLst>
              <a:ext uri="{FF2B5EF4-FFF2-40B4-BE49-F238E27FC236}">
                <a16:creationId xmlns:a16="http://schemas.microsoft.com/office/drawing/2014/main" id="{6D92DEC4-DCB8-7C49-9AD7-91CCB413F265}"/>
              </a:ext>
            </a:extLst>
          </p:cNvPr>
          <p:cNvPicPr>
            <a:picLocks noChangeAspect="1" noChangeArrowheads="1"/>
          </p:cNvPicPr>
          <p:nvPr/>
        </p:nvPicPr>
        <p:blipFill rotWithShape="1">
          <a:blip r:embed="rId3">
            <a:alphaModFix amt="50000"/>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rcRect l="6715" r="11984" b="-3"/>
          <a:stretch/>
        </p:blipFill>
        <p:spPr bwMode="auto">
          <a:xfrm>
            <a:off x="7146414" y="10"/>
            <a:ext cx="5045585" cy="2916926"/>
          </a:xfrm>
          <a:custGeom>
            <a:avLst/>
            <a:gdLst/>
            <a:ahLst/>
            <a:cxnLst/>
            <a:rect l="l" t="t" r="r" b="b"/>
            <a:pathLst>
              <a:path w="11862684" h="6858000">
                <a:moveTo>
                  <a:pt x="1047342" y="0"/>
                </a:moveTo>
                <a:lnTo>
                  <a:pt x="4590463" y="0"/>
                </a:lnTo>
                <a:lnTo>
                  <a:pt x="5499874" y="0"/>
                </a:lnTo>
                <a:lnTo>
                  <a:pt x="5723425" y="0"/>
                </a:lnTo>
                <a:lnTo>
                  <a:pt x="7580390" y="0"/>
                </a:lnTo>
                <a:lnTo>
                  <a:pt x="7747884" y="0"/>
                </a:lnTo>
                <a:lnTo>
                  <a:pt x="7824084" y="0"/>
                </a:lnTo>
                <a:lnTo>
                  <a:pt x="11862684" y="0"/>
                </a:lnTo>
                <a:lnTo>
                  <a:pt x="11862684" y="6858000"/>
                </a:lnTo>
                <a:lnTo>
                  <a:pt x="7824084" y="6858000"/>
                </a:lnTo>
                <a:lnTo>
                  <a:pt x="7747884" y="6858000"/>
                </a:lnTo>
                <a:lnTo>
                  <a:pt x="7580390" y="6858000"/>
                </a:lnTo>
                <a:lnTo>
                  <a:pt x="5723425" y="6858000"/>
                </a:lnTo>
                <a:lnTo>
                  <a:pt x="5499874" y="6858000"/>
                </a:lnTo>
                <a:lnTo>
                  <a:pt x="4590463" y="6858000"/>
                </a:lnTo>
                <a:lnTo>
                  <a:pt x="1654188" y="6858000"/>
                </a:lnTo>
                <a:cubicBezTo>
                  <a:pt x="1530404" y="6786859"/>
                  <a:pt x="1412658" y="6701489"/>
                  <a:pt x="1279816" y="6658805"/>
                </a:cubicBezTo>
                <a:cubicBezTo>
                  <a:pt x="1189242" y="6630349"/>
                  <a:pt x="1101686" y="6580550"/>
                  <a:pt x="1116783" y="6431153"/>
                </a:cubicBezTo>
                <a:cubicBezTo>
                  <a:pt x="1119802" y="6388469"/>
                  <a:pt x="1095648" y="6356456"/>
                  <a:pt x="1059419" y="6367127"/>
                </a:cubicBezTo>
                <a:cubicBezTo>
                  <a:pt x="989979" y="6388469"/>
                  <a:pt x="956768" y="6327999"/>
                  <a:pt x="917520" y="6281757"/>
                </a:cubicBezTo>
                <a:cubicBezTo>
                  <a:pt x="848079" y="6199945"/>
                  <a:pt x="781658" y="6114575"/>
                  <a:pt x="669950" y="6100347"/>
                </a:cubicBezTo>
                <a:cubicBezTo>
                  <a:pt x="691084" y="6036320"/>
                  <a:pt x="727312" y="6043434"/>
                  <a:pt x="760524" y="6057663"/>
                </a:cubicBezTo>
                <a:cubicBezTo>
                  <a:pt x="848079" y="6093234"/>
                  <a:pt x="935634" y="6132361"/>
                  <a:pt x="1023188" y="6167932"/>
                </a:cubicBezTo>
                <a:cubicBezTo>
                  <a:pt x="1080552" y="6189274"/>
                  <a:pt x="1137916" y="6221287"/>
                  <a:pt x="1213395" y="6196388"/>
                </a:cubicBezTo>
                <a:cubicBezTo>
                  <a:pt x="1146974" y="6068335"/>
                  <a:pt x="1035266" y="6043434"/>
                  <a:pt x="944692" y="6004307"/>
                </a:cubicBezTo>
                <a:cubicBezTo>
                  <a:pt x="832982" y="5954508"/>
                  <a:pt x="766562" y="5862025"/>
                  <a:pt x="685045" y="5755314"/>
                </a:cubicBezTo>
                <a:cubicBezTo>
                  <a:pt x="766562" y="5726858"/>
                  <a:pt x="817887" y="5805112"/>
                  <a:pt x="884310" y="5801555"/>
                </a:cubicBezTo>
                <a:cubicBezTo>
                  <a:pt x="887328" y="5790884"/>
                  <a:pt x="893366" y="5769542"/>
                  <a:pt x="893366" y="5769542"/>
                </a:cubicBezTo>
                <a:cubicBezTo>
                  <a:pt x="784676" y="5712629"/>
                  <a:pt x="736372" y="5605917"/>
                  <a:pt x="718256" y="5474306"/>
                </a:cubicBezTo>
                <a:cubicBezTo>
                  <a:pt x="712218" y="5406721"/>
                  <a:pt x="672970" y="5385379"/>
                  <a:pt x="633720" y="5353367"/>
                </a:cubicBezTo>
                <a:cubicBezTo>
                  <a:pt x="500878" y="5243097"/>
                  <a:pt x="358980" y="5143500"/>
                  <a:pt x="247270" y="4994104"/>
                </a:cubicBezTo>
                <a:cubicBezTo>
                  <a:pt x="377094" y="5011889"/>
                  <a:pt x="479744" y="5111487"/>
                  <a:pt x="615606" y="5154171"/>
                </a:cubicBezTo>
                <a:cubicBezTo>
                  <a:pt x="506917" y="4990547"/>
                  <a:pt x="365016" y="4905177"/>
                  <a:pt x="235194" y="4805580"/>
                </a:cubicBezTo>
                <a:cubicBezTo>
                  <a:pt x="174810" y="4759339"/>
                  <a:pt x="120468" y="4702425"/>
                  <a:pt x="51026" y="4677526"/>
                </a:cubicBezTo>
                <a:cubicBezTo>
                  <a:pt x="26873" y="4670412"/>
                  <a:pt x="-15396" y="4652628"/>
                  <a:pt x="5740" y="4602828"/>
                </a:cubicBezTo>
                <a:cubicBezTo>
                  <a:pt x="23854" y="4560144"/>
                  <a:pt x="57065" y="4574373"/>
                  <a:pt x="87257" y="4585042"/>
                </a:cubicBezTo>
                <a:cubicBezTo>
                  <a:pt x="159715" y="4613499"/>
                  <a:pt x="238213" y="4613499"/>
                  <a:pt x="337844" y="4613499"/>
                </a:cubicBezTo>
                <a:cubicBezTo>
                  <a:pt x="253310" y="4478331"/>
                  <a:pt x="99332" y="4521016"/>
                  <a:pt x="26873" y="4378734"/>
                </a:cubicBezTo>
                <a:cubicBezTo>
                  <a:pt x="117448" y="4353835"/>
                  <a:pt x="186888" y="4403633"/>
                  <a:pt x="259346" y="4414305"/>
                </a:cubicBezTo>
                <a:cubicBezTo>
                  <a:pt x="325769" y="4424975"/>
                  <a:pt x="340863" y="4400076"/>
                  <a:pt x="325769" y="4321821"/>
                </a:cubicBezTo>
                <a:cubicBezTo>
                  <a:pt x="301616" y="4200882"/>
                  <a:pt x="337844" y="4140411"/>
                  <a:pt x="434458" y="4172424"/>
                </a:cubicBezTo>
                <a:cubicBezTo>
                  <a:pt x="525031" y="4204438"/>
                  <a:pt x="534089" y="4158196"/>
                  <a:pt x="509936" y="4090612"/>
                </a:cubicBezTo>
                <a:cubicBezTo>
                  <a:pt x="473706" y="3991015"/>
                  <a:pt x="512954" y="3912759"/>
                  <a:pt x="540128" y="3827390"/>
                </a:cubicBezTo>
                <a:cubicBezTo>
                  <a:pt x="582395" y="3699337"/>
                  <a:pt x="564281" y="3635309"/>
                  <a:pt x="476725" y="3539269"/>
                </a:cubicBezTo>
                <a:cubicBezTo>
                  <a:pt x="425400" y="3485914"/>
                  <a:pt x="374074" y="3439672"/>
                  <a:pt x="301616" y="3393429"/>
                </a:cubicBezTo>
                <a:cubicBezTo>
                  <a:pt x="467668" y="3368530"/>
                  <a:pt x="295577" y="3283162"/>
                  <a:pt x="352940" y="3229805"/>
                </a:cubicBezTo>
                <a:cubicBezTo>
                  <a:pt x="470686" y="3208463"/>
                  <a:pt x="564281" y="3379202"/>
                  <a:pt x="724294" y="3329402"/>
                </a:cubicBezTo>
                <a:cubicBezTo>
                  <a:pt x="531070" y="3183563"/>
                  <a:pt x="313691" y="3137322"/>
                  <a:pt x="171792" y="2941684"/>
                </a:cubicBezTo>
                <a:cubicBezTo>
                  <a:pt x="205002" y="2899000"/>
                  <a:pt x="238213" y="2941684"/>
                  <a:pt x="265385" y="2923898"/>
                </a:cubicBezTo>
                <a:cubicBezTo>
                  <a:pt x="265385" y="2913227"/>
                  <a:pt x="582395" y="2980812"/>
                  <a:pt x="600510" y="2703362"/>
                </a:cubicBezTo>
                <a:cubicBezTo>
                  <a:pt x="606548" y="2703362"/>
                  <a:pt x="612587" y="2703362"/>
                  <a:pt x="618624" y="2692689"/>
                </a:cubicBezTo>
                <a:cubicBezTo>
                  <a:pt x="651834" y="2653563"/>
                  <a:pt x="621644" y="2561080"/>
                  <a:pt x="675988" y="2553965"/>
                </a:cubicBezTo>
                <a:cubicBezTo>
                  <a:pt x="736372" y="2546851"/>
                  <a:pt x="793735" y="2514837"/>
                  <a:pt x="857136" y="2532623"/>
                </a:cubicBezTo>
                <a:cubicBezTo>
                  <a:pt x="905443" y="2546851"/>
                  <a:pt x="956768" y="2564636"/>
                  <a:pt x="1008094" y="2564636"/>
                </a:cubicBezTo>
                <a:cubicBezTo>
                  <a:pt x="1062438" y="2564636"/>
                  <a:pt x="1137916" y="2685576"/>
                  <a:pt x="1171128" y="2525509"/>
                </a:cubicBezTo>
                <a:cubicBezTo>
                  <a:pt x="1171128" y="2518395"/>
                  <a:pt x="1264720" y="2536181"/>
                  <a:pt x="1316045" y="2543294"/>
                </a:cubicBezTo>
                <a:cubicBezTo>
                  <a:pt x="1358314" y="2550408"/>
                  <a:pt x="1409640" y="2582422"/>
                  <a:pt x="1439830" y="2518395"/>
                </a:cubicBezTo>
                <a:cubicBezTo>
                  <a:pt x="1454926" y="2479267"/>
                  <a:pt x="1382466" y="2408126"/>
                  <a:pt x="1319065" y="2401012"/>
                </a:cubicBezTo>
                <a:cubicBezTo>
                  <a:pt x="1261702" y="2393898"/>
                  <a:pt x="1204338" y="2386784"/>
                  <a:pt x="1149994" y="2401012"/>
                </a:cubicBezTo>
                <a:cubicBezTo>
                  <a:pt x="1083572" y="2418796"/>
                  <a:pt x="1047342" y="2390340"/>
                  <a:pt x="1029227" y="2326314"/>
                </a:cubicBezTo>
                <a:cubicBezTo>
                  <a:pt x="1008094" y="2258731"/>
                  <a:pt x="968844" y="2223159"/>
                  <a:pt x="914500" y="2191146"/>
                </a:cubicBezTo>
                <a:cubicBezTo>
                  <a:pt x="781658" y="2112891"/>
                  <a:pt x="654854" y="2020407"/>
                  <a:pt x="509936" y="1974165"/>
                </a:cubicBezTo>
                <a:cubicBezTo>
                  <a:pt x="482764" y="1967051"/>
                  <a:pt x="449553" y="1952823"/>
                  <a:pt x="437476" y="1892353"/>
                </a:cubicBezTo>
                <a:cubicBezTo>
                  <a:pt x="829964" y="1984836"/>
                  <a:pt x="1186222" y="2223159"/>
                  <a:pt x="1590788" y="2208931"/>
                </a:cubicBezTo>
                <a:cubicBezTo>
                  <a:pt x="1482098" y="2134233"/>
                  <a:pt x="1352276" y="2130676"/>
                  <a:pt x="1234528" y="2077320"/>
                </a:cubicBezTo>
                <a:cubicBezTo>
                  <a:pt x="1319065" y="2038192"/>
                  <a:pt x="1397562" y="2080877"/>
                  <a:pt x="1476060" y="2102219"/>
                </a:cubicBezTo>
                <a:cubicBezTo>
                  <a:pt x="1542482" y="2120004"/>
                  <a:pt x="1602864" y="2123562"/>
                  <a:pt x="1608902" y="2013292"/>
                </a:cubicBezTo>
                <a:cubicBezTo>
                  <a:pt x="1608902" y="2002622"/>
                  <a:pt x="1608902" y="1995507"/>
                  <a:pt x="1608902" y="1984836"/>
                </a:cubicBezTo>
                <a:cubicBezTo>
                  <a:pt x="1584749" y="1938595"/>
                  <a:pt x="1551538" y="1917252"/>
                  <a:pt x="1509271" y="1903025"/>
                </a:cubicBezTo>
                <a:cubicBezTo>
                  <a:pt x="1485118" y="1895910"/>
                  <a:pt x="1451907" y="1881683"/>
                  <a:pt x="1451907" y="1849668"/>
                </a:cubicBezTo>
                <a:cubicBezTo>
                  <a:pt x="1454926" y="1728729"/>
                  <a:pt x="1373409" y="1693158"/>
                  <a:pt x="1294912" y="1657587"/>
                </a:cubicBezTo>
                <a:cubicBezTo>
                  <a:pt x="1337180" y="1597117"/>
                  <a:pt x="1373409" y="1639802"/>
                  <a:pt x="1406620" y="1636245"/>
                </a:cubicBezTo>
                <a:cubicBezTo>
                  <a:pt x="1427754" y="1632688"/>
                  <a:pt x="1448887" y="1629132"/>
                  <a:pt x="1448887" y="1597117"/>
                </a:cubicBezTo>
                <a:cubicBezTo>
                  <a:pt x="1448887" y="1572219"/>
                  <a:pt x="1439830" y="1540204"/>
                  <a:pt x="1418696" y="1540204"/>
                </a:cubicBezTo>
                <a:cubicBezTo>
                  <a:pt x="1285854" y="1536647"/>
                  <a:pt x="1210375" y="1365909"/>
                  <a:pt x="1071494" y="1365909"/>
                </a:cubicBezTo>
                <a:cubicBezTo>
                  <a:pt x="986960" y="1365909"/>
                  <a:pt x="1113764" y="1269868"/>
                  <a:pt x="1044324" y="1230741"/>
                </a:cubicBezTo>
                <a:cubicBezTo>
                  <a:pt x="1029227" y="1220069"/>
                  <a:pt x="1086591" y="1205842"/>
                  <a:pt x="1110744" y="1209399"/>
                </a:cubicBezTo>
                <a:cubicBezTo>
                  <a:pt x="1134897" y="1212955"/>
                  <a:pt x="1156032" y="1237855"/>
                  <a:pt x="1186222" y="1220069"/>
                </a:cubicBezTo>
                <a:cubicBezTo>
                  <a:pt x="1201318" y="1156043"/>
                  <a:pt x="1162069" y="1131144"/>
                  <a:pt x="1125840" y="1113358"/>
                </a:cubicBezTo>
                <a:cubicBezTo>
                  <a:pt x="1047342" y="1070674"/>
                  <a:pt x="968844" y="1020875"/>
                  <a:pt x="881290" y="1006647"/>
                </a:cubicBezTo>
                <a:cubicBezTo>
                  <a:pt x="851099" y="1003089"/>
                  <a:pt x="832982" y="985305"/>
                  <a:pt x="836002" y="949734"/>
                </a:cubicBezTo>
                <a:cubicBezTo>
                  <a:pt x="842040" y="903491"/>
                  <a:pt x="872232" y="917720"/>
                  <a:pt x="896385" y="921277"/>
                </a:cubicBezTo>
                <a:cubicBezTo>
                  <a:pt x="911482" y="924835"/>
                  <a:pt x="926577" y="935506"/>
                  <a:pt x="941672" y="910606"/>
                </a:cubicBezTo>
                <a:cubicBezTo>
                  <a:pt x="588434" y="658055"/>
                  <a:pt x="401247" y="672284"/>
                  <a:pt x="5740" y="465975"/>
                </a:cubicBezTo>
                <a:cubicBezTo>
                  <a:pt x="93294" y="426847"/>
                  <a:pt x="156696" y="455303"/>
                  <a:pt x="217079" y="462417"/>
                </a:cubicBezTo>
                <a:cubicBezTo>
                  <a:pt x="368036" y="480203"/>
                  <a:pt x="274442" y="512216"/>
                  <a:pt x="425400" y="533558"/>
                </a:cubicBezTo>
                <a:cubicBezTo>
                  <a:pt x="497860" y="544229"/>
                  <a:pt x="564281" y="579800"/>
                  <a:pt x="645798" y="522887"/>
                </a:cubicBezTo>
                <a:cubicBezTo>
                  <a:pt x="700142" y="483759"/>
                  <a:pt x="787696" y="526444"/>
                  <a:pt x="854118" y="558458"/>
                </a:cubicBezTo>
                <a:cubicBezTo>
                  <a:pt x="908462" y="586915"/>
                  <a:pt x="962806" y="594028"/>
                  <a:pt x="1035266" y="558458"/>
                </a:cubicBezTo>
                <a:cubicBezTo>
                  <a:pt x="968844" y="537116"/>
                  <a:pt x="917520" y="519330"/>
                  <a:pt x="866193" y="505101"/>
                </a:cubicBezTo>
                <a:cubicBezTo>
                  <a:pt x="823926" y="494431"/>
                  <a:pt x="799772" y="469532"/>
                  <a:pt x="802792" y="416176"/>
                </a:cubicBezTo>
                <a:cubicBezTo>
                  <a:pt x="802792" y="387720"/>
                  <a:pt x="793735" y="348592"/>
                  <a:pt x="823926" y="334364"/>
                </a:cubicBezTo>
                <a:cubicBezTo>
                  <a:pt x="848079" y="320135"/>
                  <a:pt x="881290" y="334364"/>
                  <a:pt x="893366" y="359262"/>
                </a:cubicBezTo>
                <a:cubicBezTo>
                  <a:pt x="908462" y="405504"/>
                  <a:pt x="923557" y="448189"/>
                  <a:pt x="974883" y="451747"/>
                </a:cubicBezTo>
                <a:cubicBezTo>
                  <a:pt x="1044324" y="458860"/>
                  <a:pt x="1005074" y="430405"/>
                  <a:pt x="992998" y="394834"/>
                </a:cubicBezTo>
                <a:cubicBezTo>
                  <a:pt x="980921" y="355706"/>
                  <a:pt x="1017152" y="345034"/>
                  <a:pt x="1041304" y="352148"/>
                </a:cubicBezTo>
                <a:cubicBezTo>
                  <a:pt x="1131878" y="384162"/>
                  <a:pt x="1225472" y="327250"/>
                  <a:pt x="1319065" y="373491"/>
                </a:cubicBezTo>
                <a:cubicBezTo>
                  <a:pt x="1294912" y="259665"/>
                  <a:pt x="1243586" y="209867"/>
                  <a:pt x="1134897" y="192082"/>
                </a:cubicBezTo>
                <a:cubicBezTo>
                  <a:pt x="1095648" y="188525"/>
                  <a:pt x="1053380" y="195638"/>
                  <a:pt x="1017152" y="163625"/>
                </a:cubicBezTo>
                <a:cubicBezTo>
                  <a:pt x="996016" y="145839"/>
                  <a:pt x="974883" y="124497"/>
                  <a:pt x="989979" y="88927"/>
                </a:cubicBezTo>
                <a:cubicBezTo>
                  <a:pt x="999036" y="64027"/>
                  <a:pt x="1023188" y="64027"/>
                  <a:pt x="1044324" y="71141"/>
                </a:cubicBezTo>
                <a:cubicBezTo>
                  <a:pt x="1131878" y="110269"/>
                  <a:pt x="1225472" y="120941"/>
                  <a:pt x="1316045" y="135168"/>
                </a:cubicBezTo>
                <a:cubicBezTo>
                  <a:pt x="1331142" y="138725"/>
                  <a:pt x="1346237" y="145839"/>
                  <a:pt x="1361334" y="110269"/>
                </a:cubicBezTo>
                <a:cubicBezTo>
                  <a:pt x="1255664" y="78255"/>
                  <a:pt x="1153012" y="35571"/>
                  <a:pt x="1047342" y="0"/>
                </a:cubicBezTo>
                <a:close/>
              </a:path>
            </a:pathLst>
          </a:cu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B418F37-3F48-76FF-D789-1A2BB3417E4E}"/>
              </a:ext>
            </a:extLst>
          </p:cNvPr>
          <p:cNvSpPr txBox="1"/>
          <p:nvPr/>
        </p:nvSpPr>
        <p:spPr>
          <a:xfrm>
            <a:off x="838200" y="2085939"/>
            <a:ext cx="3675888" cy="830997"/>
          </a:xfrm>
          <a:prstGeom prst="rect">
            <a:avLst/>
          </a:prstGeom>
          <a:noFill/>
        </p:spPr>
        <p:txBody>
          <a:bodyPr wrap="square" rtlCol="0">
            <a:spAutoFit/>
          </a:bodyPr>
          <a:lstStyle/>
          <a:p>
            <a:r>
              <a:rPr lang="en-US" sz="4800" b="1"/>
              <a:t>Conclusion </a:t>
            </a:r>
            <a:endParaRPr lang="en-NZ" sz="4800" b="1"/>
          </a:p>
        </p:txBody>
      </p:sp>
      <p:sp>
        <p:nvSpPr>
          <p:cNvPr id="4" name="TextBox 3">
            <a:extLst>
              <a:ext uri="{FF2B5EF4-FFF2-40B4-BE49-F238E27FC236}">
                <a16:creationId xmlns:a16="http://schemas.microsoft.com/office/drawing/2014/main" id="{4C76911E-A0C4-5C33-26B6-0557D84B8B2A}"/>
              </a:ext>
            </a:extLst>
          </p:cNvPr>
          <p:cNvSpPr txBox="1"/>
          <p:nvPr/>
        </p:nvSpPr>
        <p:spPr>
          <a:xfrm>
            <a:off x="979551" y="3221099"/>
            <a:ext cx="10229850" cy="3046988"/>
          </a:xfrm>
          <a:prstGeom prst="rect">
            <a:avLst/>
          </a:prstGeom>
          <a:noFill/>
        </p:spPr>
        <p:txBody>
          <a:bodyPr wrap="square" rtlCol="0">
            <a:spAutoFit/>
          </a:bodyPr>
          <a:lstStyle/>
          <a:p>
            <a:r>
              <a:rPr lang="en-NZ" sz="2400" dirty="0"/>
              <a:t>Our transition to an OLAP data warehouse, using a star schema setup, has been seamless. We've ensured a smooth shift of our data from OLTP to OLAP, and by applying Data Quality Log, we've cleaned and verified our data for reliability.  After transition, we conducted thorough evaluations, comparing rows between OLTP and new OLAP tables, and validating keys and attributes in the fact table. With this data warehouse, the Sales team can easily access all the data they need and can </a:t>
            </a:r>
            <a:r>
              <a:rPr lang="en-NZ" sz="2400" dirty="0" err="1"/>
              <a:t>analyze</a:t>
            </a:r>
            <a:r>
              <a:rPr lang="en-NZ" sz="2400" dirty="0"/>
              <a:t> it to make smart decisions through reports.</a:t>
            </a:r>
          </a:p>
        </p:txBody>
      </p:sp>
    </p:spTree>
    <p:extLst>
      <p:ext uri="{BB962C8B-B14F-4D97-AF65-F5344CB8AC3E}">
        <p14:creationId xmlns:p14="http://schemas.microsoft.com/office/powerpoint/2010/main" val="1636186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9" name="Rectangle 1068">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1"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2" name="Freeform: Shape 1040">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감사합니다 Thank You GIF - 감사합니다 Thank You Jerry - Discover &amp; Share GIFs">
            <a:extLst>
              <a:ext uri="{FF2B5EF4-FFF2-40B4-BE49-F238E27FC236}">
                <a16:creationId xmlns:a16="http://schemas.microsoft.com/office/drawing/2014/main" id="{F57CC55B-0575-1EFE-CE04-2959687FE83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7376" y="1415228"/>
            <a:ext cx="3343202" cy="3130452"/>
          </a:xfrm>
          <a:prstGeom prst="rect">
            <a:avLst/>
          </a:prstGeom>
          <a:noFill/>
          <a:extLst>
            <a:ext uri="{909E8E84-426E-40DD-AFC4-6F175D3DCCD1}">
              <a14:hiddenFill xmlns:a14="http://schemas.microsoft.com/office/drawing/2010/main">
                <a:solidFill>
                  <a:srgbClr val="FFFFFF"/>
                </a:solidFill>
              </a14:hiddenFill>
            </a:ext>
          </a:extLst>
        </p:spPr>
      </p:pic>
      <p:sp>
        <p:nvSpPr>
          <p:cNvPr id="1073" name="Freeform: Shape 1042">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30" name="Picture 6" descr="SQL Tutorial - GeeksforGeeks">
            <a:extLst>
              <a:ext uri="{FF2B5EF4-FFF2-40B4-BE49-F238E27FC236}">
                <a16:creationId xmlns:a16="http://schemas.microsoft.com/office/drawing/2014/main" id="{0980F2AF-BE18-EB8F-8329-62BEB885136F}"/>
              </a:ext>
            </a:extLst>
          </p:cNvPr>
          <p:cNvPicPr>
            <a:picLocks noGrp="1" noRot="1" noChangeAspect="1" noMove="1" noResize="1" noEditPoints="1" noAdjustHandles="1" noChangeArrowheads="1" noChangeShapeType="1" noCrop="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l="8222" r="8222"/>
          <a:stretch/>
        </p:blipFill>
        <p:spPr bwMode="auto">
          <a:xfrm>
            <a:off x="5545244" y="2005265"/>
            <a:ext cx="6020730" cy="338664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F0C95F5-C981-8256-2CC6-7134CD7D6EBA}"/>
              </a:ext>
            </a:extLst>
          </p:cNvPr>
          <p:cNvSpPr txBox="1"/>
          <p:nvPr/>
        </p:nvSpPr>
        <p:spPr>
          <a:xfrm>
            <a:off x="6511747" y="4417481"/>
            <a:ext cx="5054227" cy="830997"/>
          </a:xfrm>
          <a:prstGeom prst="rect">
            <a:avLst/>
          </a:prstGeom>
          <a:noFill/>
        </p:spPr>
        <p:txBody>
          <a:bodyPr wrap="square" rtlCol="0">
            <a:spAutoFit/>
          </a:bodyPr>
          <a:lstStyle/>
          <a:p>
            <a:r>
              <a:rPr lang="en-NZ" sz="4800"/>
              <a:t>Any Question?</a:t>
            </a:r>
          </a:p>
        </p:txBody>
      </p:sp>
    </p:spTree>
    <p:extLst>
      <p:ext uri="{BB962C8B-B14F-4D97-AF65-F5344CB8AC3E}">
        <p14:creationId xmlns:p14="http://schemas.microsoft.com/office/powerpoint/2010/main" val="2820246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b6e360d-0566-41b8-baa4-82df2428bce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E6F0CDDEDFE1C4191D42AFB6919628F" ma:contentTypeVersion="8" ma:contentTypeDescription="Create a new document." ma:contentTypeScope="" ma:versionID="34baca0cfd850d1f1568f79544935c25">
  <xsd:schema xmlns:xsd="http://www.w3.org/2001/XMLSchema" xmlns:xs="http://www.w3.org/2001/XMLSchema" xmlns:p="http://schemas.microsoft.com/office/2006/metadata/properties" xmlns:ns3="db6e360d-0566-41b8-baa4-82df2428bce4" xmlns:ns4="6184e365-bf15-4c89-831f-561161c1ec3e" targetNamespace="http://schemas.microsoft.com/office/2006/metadata/properties" ma:root="true" ma:fieldsID="a62ed06829f85cd9187c89f09d80f22b" ns3:_="" ns4:_="">
    <xsd:import namespace="db6e360d-0566-41b8-baa4-82df2428bce4"/>
    <xsd:import namespace="6184e365-bf15-4c89-831f-561161c1ec3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6e360d-0566-41b8-baa4-82df2428bc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184e365-bf15-4c89-831f-561161c1ec3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5CFB7A-FBDE-428C-A353-91F252EE59F5}">
  <ds:schemaRefs>
    <ds:schemaRef ds:uri="http://schemas.microsoft.com/sharepoint/v3/contenttype/forms"/>
  </ds:schemaRefs>
</ds:datastoreItem>
</file>

<file path=customXml/itemProps2.xml><?xml version="1.0" encoding="utf-8"?>
<ds:datastoreItem xmlns:ds="http://schemas.openxmlformats.org/officeDocument/2006/customXml" ds:itemID="{888A3FB7-80D1-4168-839E-CBCE0164B917}">
  <ds:schemaRefs>
    <ds:schemaRef ds:uri="http://schemas.microsoft.com/office/2006/documentManagement/types"/>
    <ds:schemaRef ds:uri="http://purl.org/dc/dcmitype/"/>
    <ds:schemaRef ds:uri="http://purl.org/dc/elements/1.1/"/>
    <ds:schemaRef ds:uri="http://purl.org/dc/terms/"/>
    <ds:schemaRef ds:uri="http://www.w3.org/XML/1998/namespace"/>
    <ds:schemaRef ds:uri="db6e360d-0566-41b8-baa4-82df2428bce4"/>
    <ds:schemaRef ds:uri="http://schemas.microsoft.com/office/infopath/2007/PartnerControls"/>
    <ds:schemaRef ds:uri="http://schemas.openxmlformats.org/package/2006/metadata/core-properties"/>
    <ds:schemaRef ds:uri="6184e365-bf15-4c89-831f-561161c1ec3e"/>
    <ds:schemaRef ds:uri="http://schemas.microsoft.com/office/2006/metadata/properties"/>
  </ds:schemaRefs>
</ds:datastoreItem>
</file>

<file path=customXml/itemProps3.xml><?xml version="1.0" encoding="utf-8"?>
<ds:datastoreItem xmlns:ds="http://schemas.openxmlformats.org/officeDocument/2006/customXml" ds:itemID="{33D4AC2C-846F-46D6-B861-4C029064DC96}">
  <ds:schemaRefs>
    <ds:schemaRef ds:uri="6184e365-bf15-4c89-831f-561161c1ec3e"/>
    <ds:schemaRef ds:uri="db6e360d-0566-41b8-baa4-82df2428bce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TotalTime>
  <Words>2655</Words>
  <Application>Microsoft Office PowerPoint</Application>
  <PresentationFormat>Widescreen</PresentationFormat>
  <Paragraphs>279</Paragraphs>
  <Slides>24</Slides>
  <Notes>22</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noto</vt:lpstr>
      <vt:lpstr>Söhne</vt:lpstr>
      <vt:lpstr>Aptos</vt:lpstr>
      <vt:lpstr>Aptos Display</vt:lpstr>
      <vt:lpstr>Arial</vt:lpstr>
      <vt:lpstr>Consolas</vt:lpstr>
      <vt:lpstr>Verdana Pro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ISCG6425  Data Warehousing</dc:title>
  <dc:creator>Hanla Baek</dc:creator>
  <cp:lastModifiedBy>Hanla Baek</cp:lastModifiedBy>
  <cp:revision>2</cp:revision>
  <dcterms:created xsi:type="dcterms:W3CDTF">2024-04-05T07:46:22Z</dcterms:created>
  <dcterms:modified xsi:type="dcterms:W3CDTF">2024-05-21T10:19:01Z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0x0101006E6F0CDDEDFE1C4191D42AFB6919628F</vt:lpwstr>
  </property>
</Properties>
</file>